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charts/chart2.xml" ContentType="application/vnd.openxmlformats-officedocument.drawingml.chart+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16258032" cy="9144000"/>
  <p:notesSz cx="9144000" cy="1625803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id="{23c9036b-9897-9ddc-73ab-76445c9df2df}">
          <p14:sldIdLst>
            <p14:sldId id="256"/>
          </p14:sldIdLst>
        </p14:section>
        <p14:section name="Contents" id="{9abc902d-eb08-ec50-a2db-a076c3743fb8}">
          <p14:sldIdLst>
            <p14:sldId id="257"/>
          </p14:sldIdLst>
        </p14:section>
        <p14:section name="Project Introduction" id="{ed440fff-a736-2cce-5176-a9fa133d0aa8}">
          <p14:sldIdLst>
            <p14:sldId id="258"/>
            <p14:sldId id="259"/>
            <p14:sldId id="260"/>
          </p14:sldIdLst>
        </p14:section>
        <p14:section name="Changes &amp; Improvements" id="{86985ab4-7c49-873a-731f-f40919551888}">
          <p14:sldIdLst>
            <p14:sldId id="261"/>
            <p14:sldId id="262"/>
            <p14:sldId id="263"/>
            <p14:sldId id="264"/>
          </p14:sldIdLst>
        </p14:section>
        <p14:section name="Implemented Modules" id="{20bc0f71-62c4-7c68-c7ec-a29714c38354}">
          <p14:sldIdLst>
            <p14:sldId id="265"/>
            <p14:sldId id="266"/>
            <p14:sldId id="267"/>
            <p14:sldId id="268"/>
            <p14:sldId id="269"/>
            <p14:sldId id="270"/>
            <p14:sldId id="271"/>
          </p14:sldIdLst>
        </p14:section>
        <p14:section name="Testing Techniques" id="{e3df23c4-ec1e-03e9-fb73-5a819285271b}">
          <p14:sldIdLst>
            <p14:sldId id="272"/>
            <p14:sldId id="273"/>
            <p14:sldId id="274"/>
            <p14:sldId id="275"/>
          </p14:sldIdLst>
        </p14:section>
        <p14:section name="Automated Testing" id="{0a1a49b0-3f4e-6d7a-f570-2fb022b1e2fc}">
          <p14:sldIdLst>
            <p14:sldId id="276"/>
            <p14:sldId id="277"/>
            <p14:sldId id="278"/>
            <p14:sldId id="279"/>
            <p14:sldId id="280"/>
            <p14:sldId id="281"/>
          </p14:sldIdLst>
        </p14:section>
        <p14:section name="AI/ML Techniques" id="{9d7d10aa-1538-704c-e2e8-bf1c32005c64}">
          <p14:sldIdLst>
            <p14:sldId id="282"/>
            <p14:sldId id="283"/>
            <p14:sldId id="284"/>
          </p14:sldIdLst>
        </p14:section>
        <p14:section name="Next Steps &amp; Remaining Work" id="{7c67dc03-3569-1fa4-2743-c8eb6d1b2bed}">
          <p14:sldIdLst>
            <p14:sldId id="285"/>
            <p14:sldId id="286"/>
          </p14:sldIdLst>
        </p14:section>
        <p14:section name="Questions" id="{9af21170-67fd-564d-2805-1af8e1045b37}">
          <p14:sldIdLst>
            <p14:sldId id="28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263238"/>
                </a:solidFill>
                <a:latin typeface="+mn-lt"/>
              </a:defRPr>
            </a:pPr>
            <a:r>
              <a:rPr sz="1600" b="0" i="0" u="none" strike="noStrike">
                <a:solidFill>
                  <a:srgbClr val="263238"/>
                </a:solidFill>
                <a:latin typeface="+mn-lt"/>
              </a:rPr>
              <a:t>Completion per scope module (%)</a:t>
            </a:r>
          </a:p>
        </c:rich>
      </c:tx>
      <c:layout/>
      <c:overlay val="0"/>
    </c:title>
    <c:autoTitleDeleted val="0"/>
    <c:plotArea>
      <c:layout/>
      <c:barChart>
        <c:barDir val="col"/>
        <c:grouping val="clustered"/>
        <c:varyColors val="0"/>
        <c:ser>
          <c:idx val="0"/>
          <c:order val="0"/>
          <c:tx>
            <c:strRef>
              <c:f>Sheet1!$B$1</c:f>
              <c:strCache>
                <c:ptCount val="1"/>
                <c:pt idx="0">
                  <c:v>60% review (v0.6)</c:v>
                </c:pt>
              </c:strCache>
            </c:strRef>
          </c:tx>
          <c:spPr>
            <a:solidFill>
              <a:srgbClr val="90A4AE"/>
            </a:solidFill>
            <a:effectLst/>
          </c:spPr>
          <c:invertIfNegative val="0"/>
          <c:dLbls>
            <c:numFmt formatCode="#,##0" sourceLinked="0"/>
            <c:txPr>
              <a:bodyPr/>
              <a:lstStyle/>
              <a:p>
                <a:pPr>
                  <a:defRPr b="0" i="0" strike="noStrike" sz="1100" u="none">
                    <a:solidFill>
                      <a:srgbClr val="37474F"/>
                    </a:solidFill>
                    <a:latin typeface="+mn-lt"/>
                  </a:defRPr>
                </a:pPr>
              </a:p>
            </c:txPr>
            <c:showLegendKey val="0"/>
            <c:showVal val="1"/>
            <c:showCatName val="0"/>
            <c:showSerName val="0"/>
            <c:showPercent val="0"/>
            <c:showBubbleSize val="0"/>
            <c:showLeaderLines val="0"/>
          </c:dLbls>
          <c:cat>
            <c:multiLvlStrRef>
              <c:f>Sheet1!$A$2:$A$9</c:f>
              <c:multiLvlStrCache>
                <c:ptCount val="8"/>
                <c:lvl>
                  <c:pt idx="0">
                    <c:v>M1 Devices</c:v>
                  </c:pt>
                  <c:pt idx="1">
                    <c:v>M2 Protocols</c:v>
                  </c:pt>
                  <c:pt idx="2">
                    <c:v>M3 Logging</c:v>
                  </c:pt>
                  <c:pt idx="3">
                    <c:v>M4 Intel</c:v>
                  </c:pt>
                  <c:pt idx="4">
                    <c:v>M5 Dashboard</c:v>
                  </c:pt>
                  <c:pt idx="5">
                    <c:v>M6 Alerts</c:v>
                  </c:pt>
                  <c:pt idx="6">
                    <c:v>M7 Deploy</c:v>
                  </c:pt>
                  <c:pt idx="7">
                    <c:v>M8 AI/ML</c:v>
                  </c:pt>
                </c:lvl>
              </c:multiLvlStrCache>
            </c:multiLvlStrRef>
          </c:cat>
          <c:val>
            <c:numRef>
              <c:f>Sheet1!$B$2:$B$9</c:f>
              <c:numCache>
                <c:formatCode>General</c:formatCode>
                <c:ptCount val="8"/>
                <c:pt idx="0">
                  <c:v>85</c:v>
                </c:pt>
                <c:pt idx="1">
                  <c:v>90</c:v>
                </c:pt>
                <c:pt idx="2">
                  <c:v>75</c:v>
                </c:pt>
                <c:pt idx="3">
                  <c:v>70</c:v>
                </c:pt>
                <c:pt idx="4">
                  <c:v>75</c:v>
                </c:pt>
                <c:pt idx="5">
                  <c:v>85</c:v>
                </c:pt>
                <c:pt idx="6">
                  <c:v>75</c:v>
                </c:pt>
                <c:pt idx="7">
                  <c:v>0</c:v>
                </c:pt>
              </c:numCache>
            </c:numRef>
          </c:val>
        </c:ser>
        <c:ser>
          <c:idx val="1"/>
          <c:order val="1"/>
          <c:tx>
            <c:strRef>
              <c:f>Sheet1!$C$1</c:f>
              <c:strCache>
                <c:ptCount val="1"/>
                <c:pt idx="0">
                  <c:v>Today (v0.7)</c:v>
                </c:pt>
              </c:strCache>
            </c:strRef>
          </c:tx>
          <c:spPr>
            <a:solidFill>
              <a:srgbClr val="E09B00"/>
            </a:solidFill>
            <a:effectLst/>
          </c:spPr>
          <c:invertIfNegative val="0"/>
          <c:dLbls>
            <c:numFmt formatCode="#,##0" sourceLinked="0"/>
            <c:txPr>
              <a:bodyPr/>
              <a:lstStyle/>
              <a:p>
                <a:pPr>
                  <a:defRPr b="0" i="0" strike="noStrike" sz="1100" u="none">
                    <a:solidFill>
                      <a:srgbClr val="37474F"/>
                    </a:solidFill>
                    <a:latin typeface="+mn-lt"/>
                  </a:defRPr>
                </a:pPr>
              </a:p>
            </c:txPr>
            <c:showLegendKey val="0"/>
            <c:showVal val="1"/>
            <c:showCatName val="0"/>
            <c:showSerName val="0"/>
            <c:showPercent val="0"/>
            <c:showBubbleSize val="0"/>
            <c:showLeaderLines val="0"/>
          </c:dLbls>
          <c:cat>
            <c:multiLvlStrRef>
              <c:f>Sheet1!$A$2:$A$9</c:f>
              <c:multiLvlStrCache>
                <c:ptCount val="8"/>
                <c:lvl>
                  <c:pt idx="0">
                    <c:v>M1 Devices</c:v>
                  </c:pt>
                  <c:pt idx="1">
                    <c:v>M2 Protocols</c:v>
                  </c:pt>
                  <c:pt idx="2">
                    <c:v>M3 Logging</c:v>
                  </c:pt>
                  <c:pt idx="3">
                    <c:v>M4 Intel</c:v>
                  </c:pt>
                  <c:pt idx="4">
                    <c:v>M5 Dashboard</c:v>
                  </c:pt>
                  <c:pt idx="5">
                    <c:v>M6 Alerts</c:v>
                  </c:pt>
                  <c:pt idx="6">
                    <c:v>M7 Deploy</c:v>
                  </c:pt>
                  <c:pt idx="7">
                    <c:v>M8 AI/ML</c:v>
                  </c:pt>
                </c:lvl>
              </c:multiLvlStrCache>
            </c:multiLvlStrRef>
          </c:cat>
          <c:val>
            <c:numRef>
              <c:f>Sheet1!$C$2:$C$9</c:f>
              <c:numCache>
                <c:formatCode>General</c:formatCode>
                <c:ptCount val="8"/>
                <c:pt idx="0">
                  <c:v>90</c:v>
                </c:pt>
                <c:pt idx="1">
                  <c:v>92</c:v>
                </c:pt>
                <c:pt idx="2">
                  <c:v>88</c:v>
                </c:pt>
                <c:pt idx="3">
                  <c:v>88</c:v>
                </c:pt>
                <c:pt idx="4">
                  <c:v>92</c:v>
                </c:pt>
                <c:pt idx="5">
                  <c:v>90</c:v>
                </c:pt>
                <c:pt idx="6">
                  <c:v>92</c:v>
                </c:pt>
                <c:pt idx="7">
                  <c:v>15</c:v>
                </c:pt>
              </c:numCache>
            </c:numRef>
          </c:val>
        </c:ser>
        <c:dLbls>
          <c:numFmt formatCode="#,##0" sourceLinked="0"/>
          <c:txPr>
            <a:bodyPr/>
            <a:lstStyle/>
            <a:p>
              <a:pPr>
                <a:defRPr b="0" i="0" strike="noStrike" sz="1100" u="none">
                  <a:solidFill>
                    <a:srgbClr val="37474F"/>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37474F"/>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9525" cap="flat">
              <a:solidFill>
                <a:srgbClr val="E3E8EA"/>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78909C"/>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300">
              <a:solidFill>
                <a:srgbClr val="37474F"/>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0" i="0" u="none" strike="noStrike">
                <a:solidFill>
                  <a:srgbClr val="263238"/>
                </a:solidFill>
                <a:latin typeface="+mn-lt"/>
              </a:defRPr>
            </a:pPr>
            <a:r>
              <a:rPr sz="1500" b="0" i="0" u="none" strike="noStrike">
                <a:solidFill>
                  <a:srgbClr val="263238"/>
                </a:solidFill>
                <a:latin typeface="+mn-lt"/>
              </a:rPr>
              <a:t>Test cases passed per group</a:t>
            </a:r>
          </a:p>
        </c:rich>
      </c:tx>
      <c:layout/>
      <c:overlay val="0"/>
    </c:title>
    <c:autoTitleDeleted val="0"/>
    <c:plotArea>
      <c:layout/>
      <c:barChart>
        <c:barDir val="bar"/>
        <c:grouping val="clustered"/>
        <c:varyColors val="0"/>
        <c:ser>
          <c:idx val="0"/>
          <c:order val="0"/>
          <c:tx>
            <c:strRef>
              <c:f>Sheet1!$B$1</c:f>
              <c:strCache>
                <c:ptCount val="1"/>
                <c:pt idx="0">
                  <c:v>Passed</c:v>
                </c:pt>
              </c:strCache>
            </c:strRef>
          </c:tx>
          <c:spPr>
            <a:solidFill>
              <a:srgbClr val="2E7D32"/>
            </a:solidFill>
            <a:effectLst/>
          </c:spPr>
          <c:invertIfNegative val="0"/>
          <c:dLbls>
            <c:numFmt formatCode="#,##0" sourceLinked="0"/>
            <c:txPr>
              <a:bodyPr/>
              <a:lstStyle/>
              <a:p>
                <a:pPr>
                  <a:defRPr b="0" i="0" strike="noStrike" sz="1200" u="none">
                    <a:solidFill>
                      <a:srgbClr val="37474F"/>
                    </a:solidFill>
                    <a:latin typeface="+mn-lt"/>
                  </a:defRPr>
                </a:pPr>
              </a:p>
            </c:txPr>
            <c:showLegendKey val="0"/>
            <c:showVal val="1"/>
            <c:showCatName val="0"/>
            <c:showSerName val="0"/>
            <c:showPercent val="0"/>
            <c:showBubbleSize val="0"/>
            <c:showLeaderLines val="0"/>
          </c:dLbls>
          <c:cat>
            <c:multiLvlStrRef>
              <c:f>Sheet1!$A$2:$A$8</c:f>
              <c:multiLvlStrCache>
                <c:ptCount val="7"/>
                <c:lvl>
                  <c:pt idx="0">
                    <c:v>Unit (pytest)</c:v>
                  </c:pt>
                  <c:pt idx="1">
                    <c:v>Protocol cases</c:v>
                  </c:pt>
                  <c:pt idx="2">
                    <c:v>Intel engine</c:v>
                  </c:pt>
                  <c:pt idx="3">
                    <c:v>Dashboard</c:v>
                  </c:pt>
                  <c:pt idx="4">
                    <c:v>Business rules</c:v>
                  </c:pt>
                  <c:pt idx="5">
                    <c:v>Integration</c:v>
                  </c:pt>
                  <c:pt idx="6">
                    <c:v>Acceptance (70%)</c:v>
                  </c:pt>
                </c:lvl>
              </c:multiLvlStrCache>
            </c:multiLvlStrRef>
          </c:cat>
          <c:val>
            <c:numRef>
              <c:f>Sheet1!$B$2:$B$8</c:f>
              <c:numCache>
                <c:formatCode>General</c:formatCode>
                <c:ptCount val="7"/>
                <c:pt idx="0">
                  <c:v>78</c:v>
                </c:pt>
                <c:pt idx="1">
                  <c:v>29</c:v>
                </c:pt>
                <c:pt idx="2">
                  <c:v>9</c:v>
                </c:pt>
                <c:pt idx="3">
                  <c:v>7</c:v>
                </c:pt>
                <c:pt idx="4">
                  <c:v>17</c:v>
                </c:pt>
                <c:pt idx="5">
                  <c:v>9</c:v>
                </c:pt>
                <c:pt idx="6">
                  <c:v>14</c:v>
                </c:pt>
              </c:numCache>
            </c:numRef>
          </c:val>
        </c:ser>
        <c:dLbls>
          <c:numFmt formatCode="#,##0" sourceLinked="0"/>
          <c:txPr>
            <a:bodyPr/>
            <a:lstStyle/>
            <a:p>
              <a:pPr>
                <a:defRPr b="0" i="0" strike="noStrike" sz="1200" u="none">
                  <a:solidFill>
                    <a:srgbClr val="37474F"/>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37474F"/>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team, the supervisor and the project. Say that this presentation covers the 60% implementation evaluation and that the build shown live today is version 0.7.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eight sections required by the evaluation guideline.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part to about one minute; the committee already knows the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IoT devices are attacked with default passwords and old protocols, but defenders lack a multi-protocol, high-interaction honeypot for the device types that are attacked most. Solution: HoneyBot-IoT emulates three such devices over five protocols, captures everything the attacker does, classifies it and shows it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three networks: attackers only reach the honeynet; the data services are on an internal network with no internet route; Nginx is the only way in for the analyst. A firewall service drops every outbound connection from the honeypots.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section answers the committee's earlier comments first, then shows the main technical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two committee comments and our response. Then mention the internal review: before adding features we reviewed the 30% build against the scope and fixed every defect we found. If the committee gave you any other comments, add them as rows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row is a before-and-after. Stress the three biggest changes: the unified event store, the shared device state across protocols, and the Threat Intelligence Engine.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Coverage per scope module at the 60% review and in the build we demonstrate today. Weighted by the work-breakdown effort, the project is at about 70%. Module 8 has started with its dataset; model training is the 100%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1 covers the attacker-facing side and deployment. Member 2 covers detection, intelligence, the dashboard and alerts.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your three modules. Point out that one command on any protocol changes the same device state, which is what makes the honeypot high-interaction. Then move to the technical slide and the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diagram to explain how one device command flows: authenticate, parse, update Redis, publish, log a state_change event. Then mention the protocol details and the isolation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these steps live. The screenshots are a fallback only if the network or projector fails. Keep the dashboard open on a second screen so Member 2 can show the same attack arriving.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your four modules. Stress that the engine only reads the events table, so every protocol is classified the same way. Then move to the technical slide and the dashboard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Lane A is what every honeypot does per connection; lane B is one 30-second pass of the Threat Intelligence Engine. Explain dedupe_key, MITRE tagging, correlation and the alert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While Member 1 attacks, show the overview feed updating live. Then Detect now, open the attacker profile and the session replay, upload a file on the camera panel and show it on the Malware page, and finish with the PDF and STIX downloads.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techniques, each chosen for a different kind of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 tests protect the parsers and security logic, functional tests check whole features from the outside, decision tables cover every combination of detection thresholds, and integration tests prove the data flows from attacker to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Highlight a few cases from each technique, then the totals. All test cases currently pass; the next slide shows the defects that testing found and how each was resolved.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open about failures: each of these failed at first, was fixed, and is now covered by a test. Two areas are not testable yet and are planned for the 100% stage.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section is mandatory for software engineering projects. We will run the suite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layers: fast unit tests without a database, database-backed tests that skip automatically when PostgreSQL is not available, API and WebSocket tests through FastAPI's TestClient, and dashboard tests with vitest. The CI workflow runs everything on every push.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one positive and one negative case for the same feature, then a negative API case and a live-push case. These are the real test functions in the tests folder.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'python -m pytest -v tests' live with PostgreSQL and Redis running. If time is short, run 'pytest -q' — 78 passed in about 5 seconds. Without a database the 33 DB-backed tests are skipped, not failed.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functional requirement from the scope is linked to the automated tests that verify it. AT IDs map one-to-one to test functions — the full list is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list ties every AT ID to the real test function in the project, so any ID can be opened in the code during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precise: the models are the 100% work. What runs today is the data preparation that the models need.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attacker session becomes one row of 29 numeric features built from the event store. Its weak label comes from the rule engine's detections, mapped to the six classes in the scope. The rule engine is therefore also the baseline the trained models must beat.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the intelligence comes from the rule engine and YARA, which already detect all 16 classes end to end. The model evaluation will use 5-fold cross-validation and compare against this baseline, using features the rules do not look at, so the model cannot simply copy the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a concrete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the remaining work in order. Right: the main challenges and how we plan to handle each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Invite questions. Each member answers questions about their own modules; either can answer about testing and the overall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HB_TITLE">
    <p:bg>
      <p:bgPr>
        <a:solidFill>
          <a:srgbClr val="263238"/>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HB_SECTION">
    <p:bg>
      <p:bgPr>
        <a:solidFill>
          <a:srgbClr val="263238"/>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85800" y="2743200"/>
            <a:ext cx="5486400" cy="1371600"/>
          </a:xfrm>
          <a:prstGeom prst="rect">
            <a:avLst/>
          </a:prstGeom>
          <a:noFill/>
          <a:ln/>
        </p:spPr>
        <p:txBody>
          <a:bodyPr wrap="square" rtlCol="0"/>
          <a:lstStyle>
            <a:lvl1pPr indent="0" marL="0">
              <a:buNone/>
              <a:defRPr lang="en-US" sz="8000" b="1" dirty="0">
                <a:solidFill>
                  <a:schemeClr val="accent2"/>
                </a:solidFill>
              </a:defRPr>
            </a:lvl1pPr>
          </a:lstStyle>
          <a:p>
            <a:pPr indent="0" marL="0">
              <a:buNone/>
            </a:pPr>
            <a:endParaRPr lang="en-US" sz="8000" dirty="0"/>
          </a:p>
        </p:txBody>
      </p:sp>
      <p:sp>
        <p:nvSpPr>
          <p:cNvPr id="3" name="Text 0"/>
          <p:cNvSpPr/>
          <p:nvPr>
            <p:ph idx="101" type="title" hasCustomPrompt="1"/>
          </p:nvPr>
        </p:nvSpPr>
        <p:spPr>
          <a:xfrm>
            <a:off x="685800" y="4206240"/>
            <a:ext cx="12801600" cy="109728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endParaRPr lang="en-US" sz="4800" dirty="0"/>
          </a:p>
        </p:txBody>
      </p:sp>
      <p:sp>
        <p:nvSpPr>
          <p:cNvPr id="4" name="Text 0"/>
          <p:cNvSpPr/>
          <p:nvPr>
            <p:ph idx="102" type="body" hasCustomPrompt="1"/>
          </p:nvPr>
        </p:nvSpPr>
        <p:spPr>
          <a:xfrm>
            <a:off x="685800" y="5349240"/>
            <a:ext cx="12801600" cy="731520"/>
          </a:xfrm>
          <a:prstGeom prst="rect">
            <a:avLst/>
          </a:prstGeom>
          <a:noFill/>
          <a:ln/>
        </p:spPr>
        <p:txBody>
          <a:bodyPr wrap="square" rtlCol="0"/>
          <a:lstStyle>
            <a:lvl1pPr indent="0" marL="0">
              <a:buNone/>
              <a:defRPr lang="en-US" sz="2000" dirty="0">
                <a:solidFill>
                  <a:schemeClr val="accent6"/>
                </a:solidFill>
              </a:defRPr>
            </a:lvl1pPr>
          </a:lstStyle>
          <a:p>
            <a:pPr indent="0" marL="0">
              <a:buNone/>
            </a:pPr>
            <a:endParaRPr lang="en-US" sz="2000" dirty="0"/>
          </a:p>
        </p:txBody>
      </p:sp>
      <p:sp>
        <p:nvSpPr>
          <p:cNvPr id="25" name="Slide Number Placeholder 0"/>
          <p:cNvSpPr>
            <a:spLocks noGrp="1"/>
          </p:cNvSpPr>
          <p:nvPr>
            <p:ph type="sldNum" sz="quarter" idx="4294967295"/>
          </p:nvPr>
        </p:nvSpPr>
        <p:spPr>
          <a:xfrm>
            <a:off x="14794992" y="8549640"/>
            <a:ext cx="91440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3"/>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HB_CONTENT">
    <p:bg>
      <p:bgPr>
        <a:solidFill>
          <a:srgbClr val="F5F7F8"/>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85800" y="365760"/>
            <a:ext cx="10972800" cy="365760"/>
          </a:xfrm>
          <a:prstGeom prst="rect">
            <a:avLst/>
          </a:prstGeom>
          <a:noFill/>
          <a:ln/>
        </p:spPr>
        <p:txBody>
          <a:bodyPr wrap="square" rtlCol="0"/>
          <a:lstStyle>
            <a:lvl1pPr indent="0" marL="0">
              <a:buNone/>
              <a:defRPr lang="en-US" sz="1200" b="1" spc="200" kern="0" dirty="0">
                <a:solidFill>
                  <a:schemeClr val="accent3"/>
                </a:solidFill>
              </a:defRPr>
            </a:lvl1pPr>
          </a:lstStyle>
          <a:p>
            <a:pPr indent="0" marL="0">
              <a:buNone/>
            </a:pPr>
            <a:endParaRPr lang="en-US" sz="1200" dirty="0"/>
          </a:p>
        </p:txBody>
      </p:sp>
      <p:sp>
        <p:nvSpPr>
          <p:cNvPr id="3" name="Text 0"/>
          <p:cNvSpPr/>
          <p:nvPr>
            <p:ph idx="101" type="title" hasCustomPrompt="1"/>
          </p:nvPr>
        </p:nvSpPr>
        <p:spPr>
          <a:xfrm>
            <a:off x="685800" y="731520"/>
            <a:ext cx="14886432" cy="82296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4" name="Text 0"/>
          <p:cNvSpPr/>
          <p:nvPr/>
        </p:nvSpPr>
        <p:spPr>
          <a:xfrm>
            <a:off x="685800" y="8549640"/>
            <a:ext cx="7315200" cy="320040"/>
          </a:xfrm>
          <a:prstGeom prst="rect">
            <a:avLst/>
          </a:prstGeom>
          <a:noFill/>
          <a:ln/>
        </p:spPr>
        <p:txBody>
          <a:bodyPr wrap="square" lIns="0" tIns="0" rIns="0" bIns="0" rtlCol="0" anchor="ctr"/>
          <a:lstStyle/>
          <a:p>
            <a:pPr indent="0" marL="0">
              <a:buNone/>
            </a:pPr>
            <a:r>
              <a:rPr lang="en-US" sz="1200" dirty="0">
                <a:solidFill>
                  <a:schemeClr val="accent6"/>
                </a:solidFill>
              </a:rPr>
              <a:t>HoneyBot-IoT  ·  60% Implementation Evaluation</a:t>
            </a:r>
            <a:endParaRPr lang="en-US" sz="1200" dirty="0"/>
          </a:p>
        </p:txBody>
      </p:sp>
      <p:sp>
        <p:nvSpPr>
          <p:cNvPr id="25" name="Slide Number Placeholder 0"/>
          <p:cNvSpPr>
            <a:spLocks noGrp="1"/>
          </p:cNvSpPr>
          <p:nvPr>
            <p:ph type="sldNum" sz="quarter" idx="4294967295"/>
          </p:nvPr>
        </p:nvSpPr>
        <p:spPr>
          <a:xfrm>
            <a:off x="14794992" y="8549640"/>
            <a:ext cx="91440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3"/>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4794992" y="8549640"/>
            <a:ext cx="91440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4.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4.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image" Target="../media/image-8-10.png"/><Relationship Id="rId11" Type="http://schemas.openxmlformats.org/officeDocument/2006/relationships/image" Target="../media/image-8-11.png"/><Relationship Id="rId12" Type="http://schemas.openxmlformats.org/officeDocument/2006/relationships/image" Target="../media/image-8-12.png"/><Relationship Id="rId13" Type="http://schemas.openxmlformats.org/officeDocument/2006/relationships/image" Target="../media/image-8-13.png"/><Relationship Id="rId14" Type="http://schemas.openxmlformats.org/officeDocument/2006/relationships/image" Target="../media/image-8-14.png"/><Relationship Id="rId15" Type="http://schemas.openxmlformats.org/officeDocument/2006/relationships/image" Target="../media/image-8-15.png"/><Relationship Id="rId16" Type="http://schemas.openxmlformats.org/officeDocument/2006/relationships/image" Target="../media/image-8-16.png"/><Relationship Id="rId17" Type="http://schemas.openxmlformats.org/officeDocument/2006/relationships/slideLayout" Target="../slideLayouts/slideLayout4.xml"/><Relationship Id="rId1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4.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4.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4.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4.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4.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slideLayout" Target="../slideLayouts/slideLayout4.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4.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slideLayout" Target="../slideLayouts/slideLayout4.xml"/><Relationship Id="rId7"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4.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4.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slideLayout" Target="../slideLayouts/slideLayout4.xml"/><Relationship Id="rId5"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logo tile"/>
          <p:cNvSpPr/>
          <p:nvPr/>
        </p:nvSpPr>
        <p:spPr>
          <a:xfrm>
            <a:off x="685800" y="640080"/>
            <a:ext cx="1143000" cy="1143000"/>
          </a:xfrm>
          <a:prstGeom prst="roundRect">
            <a:avLst>
              <a:gd name="adj" fmla="val 9600"/>
            </a:avLst>
          </a:prstGeom>
          <a:solidFill>
            <a:srgbClr val="FFFFFF"/>
          </a:solidFill>
          <a:ln w="12700">
            <a:solidFill>
              <a:srgbClr val="FFFFFF"/>
            </a:solidFill>
            <a:prstDash val="solid"/>
          </a:ln>
        </p:spPr>
      </p:sp>
      <p:pic>
        <p:nvPicPr>
          <p:cNvPr id="3" name="COMSATS logo" descr="/tmp/claude-0/-home-claude/20c42fea-0b24-5b6e-95a5-e2a8cb74a1e4/scratchpad/ppt/un/ppt/media/image1.jpeg">    </p:cNvPr>
          <p:cNvPicPr>
            <a:picLocks noChangeAspect="1"/>
          </p:cNvPicPr>
          <p:nvPr/>
        </p:nvPicPr>
        <p:blipFill>
          <a:blip r:embed="rId1"/>
          <a:stretch>
            <a:fillRect/>
          </a:stretch>
        </p:blipFill>
        <p:spPr>
          <a:xfrm>
            <a:off x="777240" y="731520"/>
            <a:ext cx="960120" cy="960120"/>
          </a:xfrm>
          <a:prstGeom prst="rect">
            <a:avLst/>
          </a:prstGeom>
        </p:spPr>
      </p:pic>
      <p:sp>
        <p:nvSpPr>
          <p:cNvPr id="4" name="Text 1"/>
          <p:cNvSpPr txBox="1"/>
          <p:nvPr/>
        </p:nvSpPr>
        <p:spPr>
          <a:xfrm>
            <a:off x="2103120" y="777240"/>
            <a:ext cx="6400800" cy="457200"/>
          </a:xfrm>
          <a:prstGeom prst="rect">
            <a:avLst/>
          </a:prstGeom>
          <a:noFill/>
          <a:ln/>
        </p:spPr>
        <p:txBody>
          <a:bodyPr wrap="square" lIns="0" tIns="0" rIns="0" bIns="0" rtlCol="0" anchor="t"/>
          <a:lstStyle/>
          <a:p>
            <a:pPr indent="0" marL="0">
              <a:buNone/>
            </a:pPr>
            <a:r>
              <a:rPr lang="en-US" sz="2200" b="1" dirty="0">
                <a:solidFill>
                  <a:srgbClr val="FFFFFF"/>
                </a:solidFill>
              </a:rPr>
              <a:t>COMSATS University Islamabad</a:t>
            </a:r>
            <a:endParaRPr lang="en-US" sz="2200" dirty="0"/>
          </a:p>
        </p:txBody>
      </p:sp>
      <p:sp>
        <p:nvSpPr>
          <p:cNvPr id="5" name="Text 2"/>
          <p:cNvSpPr txBox="1"/>
          <p:nvPr/>
        </p:nvSpPr>
        <p:spPr>
          <a:xfrm>
            <a:off x="2103120" y="1234440"/>
            <a:ext cx="6400800" cy="411480"/>
          </a:xfrm>
          <a:prstGeom prst="rect">
            <a:avLst/>
          </a:prstGeom>
          <a:noFill/>
          <a:ln/>
        </p:spPr>
        <p:txBody>
          <a:bodyPr wrap="square" lIns="0" tIns="0" rIns="0" bIns="0" rtlCol="0" anchor="t"/>
          <a:lstStyle/>
          <a:p>
            <a:pPr indent="0" marL="0">
              <a:buNone/>
            </a:pPr>
            <a:r>
              <a:rPr lang="en-US" sz="1600" dirty="0">
                <a:solidFill>
                  <a:srgbClr val="90A4AE"/>
                </a:solidFill>
              </a:rPr>
              <a:t>Department of Cyber Security</a:t>
            </a:r>
            <a:endParaRPr lang="en-US" sz="1600" dirty="0"/>
          </a:p>
        </p:txBody>
      </p:sp>
      <p:sp>
        <p:nvSpPr>
          <p:cNvPr id="6" name="Text 3"/>
          <p:cNvSpPr txBox="1"/>
          <p:nvPr/>
        </p:nvSpPr>
        <p:spPr>
          <a:xfrm>
            <a:off x="685800" y="2651760"/>
            <a:ext cx="7772400" cy="457200"/>
          </a:xfrm>
          <a:prstGeom prst="rect">
            <a:avLst/>
          </a:prstGeom>
          <a:noFill/>
          <a:ln/>
        </p:spPr>
        <p:txBody>
          <a:bodyPr wrap="square" lIns="0" tIns="0" rIns="0" bIns="0" rtlCol="0" anchor="t"/>
          <a:lstStyle/>
          <a:p>
            <a:pPr indent="0" marL="0">
              <a:buNone/>
            </a:pPr>
            <a:r>
              <a:rPr lang="en-US" sz="1600" b="1" spc="300" kern="0" dirty="0">
                <a:solidFill>
                  <a:srgbClr val="E09B00"/>
                </a:solidFill>
              </a:rPr>
              <a:t>60% IMPLEMENTATION EVALUATION</a:t>
            </a:r>
            <a:endParaRPr lang="en-US" sz="1600" dirty="0"/>
          </a:p>
        </p:txBody>
      </p:sp>
      <p:sp>
        <p:nvSpPr>
          <p:cNvPr id="7" name="Text 4"/>
          <p:cNvSpPr txBox="1"/>
          <p:nvPr/>
        </p:nvSpPr>
        <p:spPr>
          <a:xfrm>
            <a:off x="685800" y="3108960"/>
            <a:ext cx="7863840" cy="1188720"/>
          </a:xfrm>
          <a:prstGeom prst="rect">
            <a:avLst/>
          </a:prstGeom>
          <a:noFill/>
          <a:ln/>
        </p:spPr>
        <p:txBody>
          <a:bodyPr wrap="square" lIns="0" tIns="0" rIns="0" bIns="0" rtlCol="0" anchor="ctr"/>
          <a:lstStyle/>
          <a:p>
            <a:pPr indent="0" marL="0">
              <a:buNone/>
            </a:pPr>
            <a:r>
              <a:rPr lang="en-US" sz="6600" b="1" dirty="0">
                <a:solidFill>
                  <a:srgbClr val="FFFFFF"/>
                </a:solidFill>
                <a:latin typeface="Calibri" pitchFamily="34" charset="0"/>
                <a:ea typeface="Calibri" pitchFamily="34" charset="-122"/>
                <a:cs typeface="Calibri" pitchFamily="34" charset="-120"/>
              </a:rPr>
              <a:t>HoneyBot-IoT</a:t>
            </a:r>
            <a:endParaRPr lang="en-US" sz="6600" dirty="0"/>
          </a:p>
        </p:txBody>
      </p:sp>
      <p:sp>
        <p:nvSpPr>
          <p:cNvPr id="8" name="Text 5"/>
          <p:cNvSpPr txBox="1"/>
          <p:nvPr/>
        </p:nvSpPr>
        <p:spPr>
          <a:xfrm>
            <a:off x="685800" y="4343400"/>
            <a:ext cx="7680960" cy="914400"/>
          </a:xfrm>
          <a:prstGeom prst="rect">
            <a:avLst/>
          </a:prstGeom>
          <a:noFill/>
          <a:ln/>
        </p:spPr>
        <p:txBody>
          <a:bodyPr wrap="square" lIns="0" tIns="0" rIns="0" bIns="0" rtlCol="0" anchor="t"/>
          <a:lstStyle/>
          <a:p>
            <a:pPr indent="0" marL="0">
              <a:buNone/>
            </a:pPr>
            <a:r>
              <a:rPr lang="en-US" sz="2200" dirty="0">
                <a:solidFill>
                  <a:srgbClr val="CFD8DC"/>
                </a:solidFill>
              </a:rPr>
              <a:t>A High-Interaction Multi-Protocol IoT Honeypot for Cyber Threat Intelligence</a:t>
            </a:r>
            <a:endParaRPr lang="en-US" sz="2200" dirty="0"/>
          </a:p>
        </p:txBody>
      </p:sp>
      <p:sp>
        <p:nvSpPr>
          <p:cNvPr id="9" name="Text 6"/>
          <p:cNvSpPr txBox="1"/>
          <p:nvPr/>
        </p:nvSpPr>
        <p:spPr>
          <a:xfrm>
            <a:off x="685800" y="5806440"/>
            <a:ext cx="7680960" cy="1463040"/>
          </a:xfrm>
          <a:prstGeom prst="rect">
            <a:avLst/>
          </a:prstGeom>
          <a:noFill/>
          <a:ln/>
        </p:spPr>
        <p:txBody>
          <a:bodyPr wrap="square" lIns="0" tIns="0" rIns="0" bIns="0" rtlCol="0" anchor="t"/>
          <a:lstStyle/>
          <a:p>
            <a:pPr indent="0" marL="0">
              <a:spcAft>
                <a:spcPts val="400"/>
              </a:spcAft>
              <a:buNone/>
            </a:pPr>
            <a:r>
              <a:rPr lang="en-US" sz="1800" b="1" dirty="0">
                <a:solidFill>
                  <a:srgbClr val="FFFFFF"/>
                </a:solidFill>
              </a:rPr>
              <a:t>Abdul Wadood</a:t>
            </a:r>
            <a:pPr indent="0" marL="0">
              <a:spcAft>
                <a:spcPts val="400"/>
              </a:spcAft>
              <a:buNone/>
            </a:pPr>
            <a:r>
              <a:rPr lang="en-US" sz="1800" dirty="0">
                <a:solidFill>
                  <a:srgbClr val="90A4AE"/>
                </a:solidFill>
              </a:rPr>
              <a:t>   CIIT/SP23-BCT-001/ISB</a:t>
            </a:r>
            <a:endParaRPr lang="en-US" sz="1800" dirty="0"/>
          </a:p>
          <a:p>
            <a:pPr indent="0" marL="0">
              <a:spcAft>
                <a:spcPts val="400"/>
              </a:spcAft>
              <a:buNone/>
            </a:pPr>
            <a:r>
              <a:rPr lang="en-US" sz="1800" b="1" dirty="0">
                <a:solidFill>
                  <a:srgbClr val="FFFFFF"/>
                </a:solidFill>
              </a:rPr>
              <a:t>Abdul Rahman</a:t>
            </a:r>
            <a:pPr indent="0" marL="0">
              <a:spcAft>
                <a:spcPts val="400"/>
              </a:spcAft>
              <a:buNone/>
            </a:pPr>
            <a:r>
              <a:rPr lang="en-US" sz="1800" dirty="0">
                <a:solidFill>
                  <a:srgbClr val="90A4AE"/>
                </a:solidFill>
              </a:rPr>
              <a:t>   CIIT/SP23-BCT-003/ISB</a:t>
            </a:r>
            <a:endParaRPr lang="en-US" sz="1800" dirty="0"/>
          </a:p>
          <a:p>
            <a:pPr indent="0" marL="0">
              <a:spcAft>
                <a:spcPts val="400"/>
              </a:spcAft>
              <a:buNone/>
            </a:pPr>
            <a:r>
              <a:rPr lang="en-US" sz="1800" dirty="0">
                <a:solidFill>
                  <a:srgbClr val="90A4AE"/>
                </a:solidFill>
              </a:rPr>
              <a:t>Supervisor: </a:t>
            </a:r>
            <a:pPr indent="0" marL="0">
              <a:spcAft>
                <a:spcPts val="400"/>
              </a:spcAft>
              <a:buNone/>
            </a:pPr>
            <a:r>
              <a:rPr lang="en-US" sz="1800" b="1" dirty="0">
                <a:solidFill>
                  <a:srgbClr val="FFFFFF"/>
                </a:solidFill>
              </a:rPr>
              <a:t>Mrs. Sara Ali</a:t>
            </a:r>
            <a:endParaRPr lang="en-US" sz="1800" dirty="0"/>
          </a:p>
        </p:txBody>
      </p:sp>
      <p:sp>
        <p:nvSpPr>
          <p:cNvPr id="10" name="Text 7"/>
          <p:cNvSpPr txBox="1"/>
          <p:nvPr/>
        </p:nvSpPr>
        <p:spPr>
          <a:xfrm>
            <a:off x="685800" y="7863840"/>
            <a:ext cx="7680960" cy="365760"/>
          </a:xfrm>
          <a:prstGeom prst="rect">
            <a:avLst/>
          </a:prstGeom>
          <a:noFill/>
          <a:ln/>
        </p:spPr>
        <p:txBody>
          <a:bodyPr wrap="square" lIns="0" tIns="0" rIns="0" bIns="0" rtlCol="0" anchor="t"/>
          <a:lstStyle/>
          <a:p>
            <a:pPr indent="0" marL="0">
              <a:buNone/>
            </a:pPr>
            <a:r>
              <a:rPr lang="en-US" sz="1400" dirty="0">
                <a:solidFill>
                  <a:srgbClr val="90A4AE"/>
                </a:solidFill>
              </a:rPr>
              <a:t>BS Cyber Security (2023–2026)  ·  October 2026</a:t>
            </a:r>
            <a:endParaRPr lang="en-US" sz="1400" dirty="0"/>
          </a:p>
        </p:txBody>
      </p:sp>
      <p:pic>
        <p:nvPicPr>
          <p:cNvPr id="11" name="dashboard screenshot" descr="/tmp/claude-0/-home-claude/20c42fea-0b24-5b6e-95a5-e2a8cb74a1e4/scratchpad/shots/overview.png">    </p:cNvPr>
          <p:cNvPicPr>
            <a:picLocks noChangeAspect="1"/>
          </p:cNvPicPr>
          <p:nvPr/>
        </p:nvPicPr>
        <p:blipFill>
          <a:blip r:embed="rId2"/>
          <a:stretch>
            <a:fillRect/>
          </a:stretch>
        </p:blipFill>
        <p:spPr>
          <a:xfrm>
            <a:off x="8622792" y="2011680"/>
            <a:ext cx="6949440" cy="4826000"/>
          </a:xfrm>
          <a:prstGeom prst="rect">
            <a:avLst/>
          </a:prstGeom>
        </p:spPr>
      </p:pic>
      <p:sp>
        <p:nvSpPr>
          <p:cNvPr id="12" name="Text 8"/>
          <p:cNvSpPr txBox="1"/>
          <p:nvPr/>
        </p:nvSpPr>
        <p:spPr>
          <a:xfrm>
            <a:off x="8622792" y="6974840"/>
            <a:ext cx="6949440" cy="320040"/>
          </a:xfrm>
          <a:prstGeom prst="rect">
            <a:avLst/>
          </a:prstGeom>
          <a:noFill/>
          <a:ln/>
        </p:spPr>
        <p:txBody>
          <a:bodyPr wrap="square" lIns="0" tIns="0" rIns="0" bIns="0" rtlCol="0" anchor="t"/>
          <a:lstStyle/>
          <a:p>
            <a:pPr indent="0" marL="0">
              <a:buNone/>
            </a:pPr>
            <a:r>
              <a:rPr lang="en-US" sz="1200" i="1" dirty="0">
                <a:solidFill>
                  <a:srgbClr val="90A4AE"/>
                </a:solidFill>
              </a:rPr>
              <a:t>Live SOC dashboard of the running build</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685800" y="365760"/>
            <a:ext cx="10972800" cy="365760"/>
          </a:xfrm>
          <a:prstGeom prst="rect">
            <a:avLst/>
          </a:prstGeom>
          <a:noFill/>
          <a:ln/>
        </p:spPr>
        <p:txBody>
          <a:bodyPr wrap="square" lIns="0" tIns="0" rIns="0" bIns="0" rtlCol="0"/>
          <a:lstStyle/>
          <a:p>
            <a:pPr indent="0" marL="0">
              <a:buNone/>
            </a:pPr>
            <a:r>
              <a:rPr lang="en-US" sz="1200" b="1" spc="200" kern="0" dirty="0">
                <a:solidFill>
                  <a:schemeClr val="accent3"/>
                </a:solidFill>
              </a:rPr>
              <a:t>OVERVIEW</a:t>
            </a:r>
            <a:endParaRPr lang="en-US" sz="1200" dirty="0"/>
          </a:p>
        </p:txBody>
      </p:sp>
      <p:sp>
        <p:nvSpPr>
          <p:cNvPr id="3" name="Text 0"/>
          <p:cNvSpPr/>
          <p:nvPr>
            <p:ph idx="101" type="title" hasCustomPrompt="1"/>
          </p:nvPr>
        </p:nvSpPr>
        <p:spPr>
          <a:xfrm>
            <a:off x="685800" y="731520"/>
            <a:ext cx="14886432" cy="822960"/>
          </a:xfrm>
          <a:prstGeom prst="rect">
            <a:avLst/>
          </a:prstGeom>
          <a:noFill/>
          <a:ln/>
        </p:spPr>
        <p:txBody>
          <a:bodyPr wrap="square" lIns="0" tIns="0" rIns="0" bIns="0" rtlCol="0" anchor="t"/>
          <a:lstStyle/>
          <a:p>
            <a:pPr algn="l" indent="0" marL="0">
              <a:buNone/>
            </a:pPr>
            <a:r>
              <a:rPr lang="en-US" sz="3600" b="1" dirty="0">
                <a:solidFill>
                  <a:schemeClr val="tx1"/>
                </a:solidFill>
              </a:rPr>
              <a:t>Contents</a:t>
            </a:r>
            <a:endParaRPr lang="en-US" sz="3600" dirty="0"/>
          </a:p>
        </p:txBody>
      </p:sp>
      <p:sp>
        <p:nvSpPr>
          <p:cNvPr id="5" name="contents card 01"/>
          <p:cNvSpPr/>
          <p:nvPr/>
        </p:nvSpPr>
        <p:spPr>
          <a:xfrm>
            <a:off x="685800" y="2011680"/>
            <a:ext cx="7178040" cy="1280160"/>
          </a:xfrm>
          <a:prstGeom prst="roundRect">
            <a:avLst>
              <a:gd name="adj" fmla="val 5714"/>
            </a:avLst>
          </a:prstGeom>
          <a:solidFill>
            <a:srgbClr val="FFFFFF"/>
          </a:solidFill>
          <a:ln w="9525">
            <a:solidFill>
              <a:srgbClr val="CFD8DC"/>
            </a:solidFill>
            <a:prstDash val="solid"/>
          </a:ln>
        </p:spPr>
      </p:sp>
      <p:sp>
        <p:nvSpPr>
          <p:cNvPr id="6" name="Text 3"/>
          <p:cNvSpPr txBox="1"/>
          <p:nvPr/>
        </p:nvSpPr>
        <p:spPr>
          <a:xfrm>
            <a:off x="1005840" y="2286000"/>
            <a:ext cx="1097280" cy="731520"/>
          </a:xfrm>
          <a:prstGeom prst="rect">
            <a:avLst/>
          </a:prstGeom>
          <a:noFill/>
          <a:ln/>
        </p:spPr>
        <p:txBody>
          <a:bodyPr wrap="square" lIns="0" tIns="0" rIns="0" bIns="0" rtlCol="0" anchor="t"/>
          <a:lstStyle/>
          <a:p>
            <a:pPr indent="0" marL="0">
              <a:buNone/>
            </a:pPr>
            <a:r>
              <a:rPr lang="en-US" sz="3600" b="1" dirty="0">
                <a:solidFill>
                  <a:srgbClr val="E09B00"/>
                </a:solidFill>
              </a:rPr>
              <a:t>01</a:t>
            </a:r>
            <a:endParaRPr lang="en-US" sz="3600" dirty="0"/>
          </a:p>
        </p:txBody>
      </p:sp>
      <p:sp>
        <p:nvSpPr>
          <p:cNvPr id="7" name="Text 4"/>
          <p:cNvSpPr txBox="1"/>
          <p:nvPr/>
        </p:nvSpPr>
        <p:spPr>
          <a:xfrm>
            <a:off x="2194560" y="2267712"/>
            <a:ext cx="5486400" cy="457200"/>
          </a:xfrm>
          <a:prstGeom prst="rect">
            <a:avLst/>
          </a:prstGeom>
          <a:noFill/>
          <a:ln/>
        </p:spPr>
        <p:txBody>
          <a:bodyPr wrap="square" lIns="0" tIns="0" rIns="0" bIns="0" rtlCol="0" anchor="t"/>
          <a:lstStyle/>
          <a:p>
            <a:pPr indent="0" marL="0">
              <a:buNone/>
            </a:pPr>
            <a:r>
              <a:rPr lang="en-US" sz="2200" b="1" dirty="0">
                <a:solidFill>
                  <a:srgbClr val="263238"/>
                </a:solidFill>
              </a:rPr>
              <a:t>Project Introduction</a:t>
            </a:r>
            <a:endParaRPr lang="en-US" sz="2200" dirty="0"/>
          </a:p>
        </p:txBody>
      </p:sp>
      <p:sp>
        <p:nvSpPr>
          <p:cNvPr id="8" name="Text 5"/>
          <p:cNvSpPr txBox="1"/>
          <p:nvPr/>
        </p:nvSpPr>
        <p:spPr>
          <a:xfrm>
            <a:off x="2194560" y="2743200"/>
            <a:ext cx="5486400" cy="365760"/>
          </a:xfrm>
          <a:prstGeom prst="rect">
            <a:avLst/>
          </a:prstGeom>
          <a:noFill/>
          <a:ln/>
        </p:spPr>
        <p:txBody>
          <a:bodyPr wrap="square" lIns="0" tIns="0" rIns="0" bIns="0" rtlCol="0" anchor="t"/>
          <a:lstStyle/>
          <a:p>
            <a:pPr indent="0" marL="0">
              <a:buNone/>
            </a:pPr>
            <a:r>
              <a:rPr lang="en-US" sz="1500" dirty="0">
                <a:solidFill>
                  <a:srgbClr val="78909C"/>
                </a:solidFill>
              </a:rPr>
              <a:t>Problem, solution, system at a glance</a:t>
            </a:r>
            <a:endParaRPr lang="en-US" sz="1500" dirty="0"/>
          </a:p>
        </p:txBody>
      </p:sp>
      <p:sp>
        <p:nvSpPr>
          <p:cNvPr id="9" name="contents card 02"/>
          <p:cNvSpPr/>
          <p:nvPr/>
        </p:nvSpPr>
        <p:spPr>
          <a:xfrm>
            <a:off x="685800" y="3566160"/>
            <a:ext cx="7178040" cy="1280160"/>
          </a:xfrm>
          <a:prstGeom prst="roundRect">
            <a:avLst>
              <a:gd name="adj" fmla="val 5714"/>
            </a:avLst>
          </a:prstGeom>
          <a:solidFill>
            <a:srgbClr val="FFFFFF"/>
          </a:solidFill>
          <a:ln w="9525">
            <a:solidFill>
              <a:srgbClr val="CFD8DC"/>
            </a:solidFill>
            <a:prstDash val="solid"/>
          </a:ln>
        </p:spPr>
      </p:sp>
      <p:sp>
        <p:nvSpPr>
          <p:cNvPr id="10" name="Text 7"/>
          <p:cNvSpPr txBox="1"/>
          <p:nvPr/>
        </p:nvSpPr>
        <p:spPr>
          <a:xfrm>
            <a:off x="1005840" y="3840480"/>
            <a:ext cx="1097280" cy="731520"/>
          </a:xfrm>
          <a:prstGeom prst="rect">
            <a:avLst/>
          </a:prstGeom>
          <a:noFill/>
          <a:ln/>
        </p:spPr>
        <p:txBody>
          <a:bodyPr wrap="square" lIns="0" tIns="0" rIns="0" bIns="0" rtlCol="0" anchor="t"/>
          <a:lstStyle/>
          <a:p>
            <a:pPr indent="0" marL="0">
              <a:buNone/>
            </a:pPr>
            <a:r>
              <a:rPr lang="en-US" sz="3600" b="1" dirty="0">
                <a:solidFill>
                  <a:srgbClr val="E09B00"/>
                </a:solidFill>
              </a:rPr>
              <a:t>02</a:t>
            </a:r>
            <a:endParaRPr lang="en-US" sz="3600" dirty="0"/>
          </a:p>
        </p:txBody>
      </p:sp>
      <p:sp>
        <p:nvSpPr>
          <p:cNvPr id="11" name="Text 8"/>
          <p:cNvSpPr txBox="1"/>
          <p:nvPr/>
        </p:nvSpPr>
        <p:spPr>
          <a:xfrm>
            <a:off x="2194560" y="3822192"/>
            <a:ext cx="5486400" cy="457200"/>
          </a:xfrm>
          <a:prstGeom prst="rect">
            <a:avLst/>
          </a:prstGeom>
          <a:noFill/>
          <a:ln/>
        </p:spPr>
        <p:txBody>
          <a:bodyPr wrap="square" lIns="0" tIns="0" rIns="0" bIns="0" rtlCol="0" anchor="t"/>
          <a:lstStyle/>
          <a:p>
            <a:pPr indent="0" marL="0">
              <a:buNone/>
            </a:pPr>
            <a:r>
              <a:rPr lang="en-US" sz="2200" b="1" dirty="0">
                <a:solidFill>
                  <a:srgbClr val="263238"/>
                </a:solidFill>
              </a:rPr>
              <a:t>Changes &amp; Improvements</a:t>
            </a:r>
            <a:endParaRPr lang="en-US" sz="2200" dirty="0"/>
          </a:p>
        </p:txBody>
      </p:sp>
      <p:sp>
        <p:nvSpPr>
          <p:cNvPr id="12" name="Text 9"/>
          <p:cNvSpPr txBox="1"/>
          <p:nvPr/>
        </p:nvSpPr>
        <p:spPr>
          <a:xfrm>
            <a:off x="2194560" y="4297680"/>
            <a:ext cx="5486400" cy="365760"/>
          </a:xfrm>
          <a:prstGeom prst="rect">
            <a:avLst/>
          </a:prstGeom>
          <a:noFill/>
          <a:ln/>
        </p:spPr>
        <p:txBody>
          <a:bodyPr wrap="square" lIns="0" tIns="0" rIns="0" bIns="0" rtlCol="0" anchor="t"/>
          <a:lstStyle/>
          <a:p>
            <a:pPr indent="0" marL="0">
              <a:buNone/>
            </a:pPr>
            <a:r>
              <a:rPr lang="en-US" sz="1500" dirty="0">
                <a:solidFill>
                  <a:srgbClr val="78909C"/>
                </a:solidFill>
              </a:rPr>
              <a:t>Committee feedback and what we changed</a:t>
            </a:r>
            <a:endParaRPr lang="en-US" sz="1500" dirty="0"/>
          </a:p>
        </p:txBody>
      </p:sp>
      <p:sp>
        <p:nvSpPr>
          <p:cNvPr id="13" name="contents card 03"/>
          <p:cNvSpPr/>
          <p:nvPr/>
        </p:nvSpPr>
        <p:spPr>
          <a:xfrm>
            <a:off x="685800" y="5120640"/>
            <a:ext cx="7178040" cy="1280160"/>
          </a:xfrm>
          <a:prstGeom prst="roundRect">
            <a:avLst>
              <a:gd name="adj" fmla="val 5714"/>
            </a:avLst>
          </a:prstGeom>
          <a:solidFill>
            <a:srgbClr val="FFFFFF"/>
          </a:solidFill>
          <a:ln w="9525">
            <a:solidFill>
              <a:srgbClr val="CFD8DC"/>
            </a:solidFill>
            <a:prstDash val="solid"/>
          </a:ln>
        </p:spPr>
      </p:sp>
      <p:sp>
        <p:nvSpPr>
          <p:cNvPr id="14" name="Text 11"/>
          <p:cNvSpPr txBox="1"/>
          <p:nvPr/>
        </p:nvSpPr>
        <p:spPr>
          <a:xfrm>
            <a:off x="1005840" y="5394960"/>
            <a:ext cx="1097280" cy="731520"/>
          </a:xfrm>
          <a:prstGeom prst="rect">
            <a:avLst/>
          </a:prstGeom>
          <a:noFill/>
          <a:ln/>
        </p:spPr>
        <p:txBody>
          <a:bodyPr wrap="square" lIns="0" tIns="0" rIns="0" bIns="0" rtlCol="0" anchor="t"/>
          <a:lstStyle/>
          <a:p>
            <a:pPr indent="0" marL="0">
              <a:buNone/>
            </a:pPr>
            <a:r>
              <a:rPr lang="en-US" sz="3600" b="1" dirty="0">
                <a:solidFill>
                  <a:srgbClr val="E09B00"/>
                </a:solidFill>
              </a:rPr>
              <a:t>03</a:t>
            </a:r>
            <a:endParaRPr lang="en-US" sz="3600" dirty="0"/>
          </a:p>
        </p:txBody>
      </p:sp>
      <p:sp>
        <p:nvSpPr>
          <p:cNvPr id="15" name="Text 12"/>
          <p:cNvSpPr txBox="1"/>
          <p:nvPr/>
        </p:nvSpPr>
        <p:spPr>
          <a:xfrm>
            <a:off x="2194560" y="5376672"/>
            <a:ext cx="5486400" cy="457200"/>
          </a:xfrm>
          <a:prstGeom prst="rect">
            <a:avLst/>
          </a:prstGeom>
          <a:noFill/>
          <a:ln/>
        </p:spPr>
        <p:txBody>
          <a:bodyPr wrap="square" lIns="0" tIns="0" rIns="0" bIns="0" rtlCol="0" anchor="t"/>
          <a:lstStyle/>
          <a:p>
            <a:pPr indent="0" marL="0">
              <a:buNone/>
            </a:pPr>
            <a:r>
              <a:rPr lang="en-US" sz="2200" b="1" dirty="0">
                <a:solidFill>
                  <a:srgbClr val="263238"/>
                </a:solidFill>
              </a:rPr>
              <a:t>Implemented Modules</a:t>
            </a:r>
            <a:endParaRPr lang="en-US" sz="2200" dirty="0"/>
          </a:p>
        </p:txBody>
      </p:sp>
      <p:sp>
        <p:nvSpPr>
          <p:cNvPr id="16" name="Text 13"/>
          <p:cNvSpPr txBox="1"/>
          <p:nvPr/>
        </p:nvSpPr>
        <p:spPr>
          <a:xfrm>
            <a:off x="2194560" y="5852160"/>
            <a:ext cx="5486400" cy="365760"/>
          </a:xfrm>
          <a:prstGeom prst="rect">
            <a:avLst/>
          </a:prstGeom>
          <a:noFill/>
          <a:ln/>
        </p:spPr>
        <p:txBody>
          <a:bodyPr wrap="square" lIns="0" tIns="0" rIns="0" bIns="0" rtlCol="0" anchor="t"/>
          <a:lstStyle/>
          <a:p>
            <a:pPr indent="0" marL="0">
              <a:buNone/>
            </a:pPr>
            <a:r>
              <a:rPr lang="en-US" sz="1500" dirty="0">
                <a:solidFill>
                  <a:srgbClr val="78909C"/>
                </a:solidFill>
              </a:rPr>
              <a:t>Individual work and live demos</a:t>
            </a:r>
            <a:endParaRPr lang="en-US" sz="1500" dirty="0"/>
          </a:p>
        </p:txBody>
      </p:sp>
      <p:sp>
        <p:nvSpPr>
          <p:cNvPr id="17" name="contents card 04"/>
          <p:cNvSpPr/>
          <p:nvPr/>
        </p:nvSpPr>
        <p:spPr>
          <a:xfrm>
            <a:off x="685800" y="6675120"/>
            <a:ext cx="7178040" cy="1280160"/>
          </a:xfrm>
          <a:prstGeom prst="roundRect">
            <a:avLst>
              <a:gd name="adj" fmla="val 5714"/>
            </a:avLst>
          </a:prstGeom>
          <a:solidFill>
            <a:srgbClr val="FFFFFF"/>
          </a:solidFill>
          <a:ln w="9525">
            <a:solidFill>
              <a:srgbClr val="CFD8DC"/>
            </a:solidFill>
            <a:prstDash val="solid"/>
          </a:ln>
        </p:spPr>
      </p:sp>
      <p:sp>
        <p:nvSpPr>
          <p:cNvPr id="18" name="Text 15"/>
          <p:cNvSpPr txBox="1"/>
          <p:nvPr/>
        </p:nvSpPr>
        <p:spPr>
          <a:xfrm>
            <a:off x="1005840" y="6949440"/>
            <a:ext cx="1097280" cy="731520"/>
          </a:xfrm>
          <a:prstGeom prst="rect">
            <a:avLst/>
          </a:prstGeom>
          <a:noFill/>
          <a:ln/>
        </p:spPr>
        <p:txBody>
          <a:bodyPr wrap="square" lIns="0" tIns="0" rIns="0" bIns="0" rtlCol="0" anchor="t"/>
          <a:lstStyle/>
          <a:p>
            <a:pPr indent="0" marL="0">
              <a:buNone/>
            </a:pPr>
            <a:r>
              <a:rPr lang="en-US" sz="3600" b="1" dirty="0">
                <a:solidFill>
                  <a:srgbClr val="E09B00"/>
                </a:solidFill>
              </a:rPr>
              <a:t>04</a:t>
            </a:r>
            <a:endParaRPr lang="en-US" sz="3600" dirty="0"/>
          </a:p>
        </p:txBody>
      </p:sp>
      <p:sp>
        <p:nvSpPr>
          <p:cNvPr id="19" name="Text 16"/>
          <p:cNvSpPr txBox="1"/>
          <p:nvPr/>
        </p:nvSpPr>
        <p:spPr>
          <a:xfrm>
            <a:off x="2194560" y="6931152"/>
            <a:ext cx="5486400" cy="457200"/>
          </a:xfrm>
          <a:prstGeom prst="rect">
            <a:avLst/>
          </a:prstGeom>
          <a:noFill/>
          <a:ln/>
        </p:spPr>
        <p:txBody>
          <a:bodyPr wrap="square" lIns="0" tIns="0" rIns="0" bIns="0" rtlCol="0" anchor="t"/>
          <a:lstStyle/>
          <a:p>
            <a:pPr indent="0" marL="0">
              <a:buNone/>
            </a:pPr>
            <a:r>
              <a:rPr lang="en-US" sz="2200" b="1" dirty="0">
                <a:solidFill>
                  <a:srgbClr val="263238"/>
                </a:solidFill>
              </a:rPr>
              <a:t>Testing Techniques</a:t>
            </a:r>
            <a:endParaRPr lang="en-US" sz="2200" dirty="0"/>
          </a:p>
        </p:txBody>
      </p:sp>
      <p:sp>
        <p:nvSpPr>
          <p:cNvPr id="20" name="Text 17"/>
          <p:cNvSpPr txBox="1"/>
          <p:nvPr/>
        </p:nvSpPr>
        <p:spPr>
          <a:xfrm>
            <a:off x="2194560" y="7406640"/>
            <a:ext cx="5486400" cy="365760"/>
          </a:xfrm>
          <a:prstGeom prst="rect">
            <a:avLst/>
          </a:prstGeom>
          <a:noFill/>
          <a:ln/>
        </p:spPr>
        <p:txBody>
          <a:bodyPr wrap="square" lIns="0" tIns="0" rIns="0" bIns="0" rtlCol="0" anchor="t"/>
          <a:lstStyle/>
          <a:p>
            <a:pPr indent="0" marL="0">
              <a:buNone/>
            </a:pPr>
            <a:r>
              <a:rPr lang="en-US" sz="1500" dirty="0">
                <a:solidFill>
                  <a:srgbClr val="78909C"/>
                </a:solidFill>
              </a:rPr>
              <a:t>Unit, functional, business rules, integration</a:t>
            </a:r>
            <a:endParaRPr lang="en-US" sz="1500" dirty="0"/>
          </a:p>
        </p:txBody>
      </p:sp>
      <p:sp>
        <p:nvSpPr>
          <p:cNvPr id="21" name="contents card 05"/>
          <p:cNvSpPr/>
          <p:nvPr/>
        </p:nvSpPr>
        <p:spPr>
          <a:xfrm>
            <a:off x="8229600" y="2011680"/>
            <a:ext cx="7178040" cy="1280160"/>
          </a:xfrm>
          <a:prstGeom prst="roundRect">
            <a:avLst>
              <a:gd name="adj" fmla="val 5714"/>
            </a:avLst>
          </a:prstGeom>
          <a:solidFill>
            <a:srgbClr val="FFFFFF"/>
          </a:solidFill>
          <a:ln w="9525">
            <a:solidFill>
              <a:srgbClr val="CFD8DC"/>
            </a:solidFill>
            <a:prstDash val="solid"/>
          </a:ln>
        </p:spPr>
      </p:sp>
      <p:sp>
        <p:nvSpPr>
          <p:cNvPr id="22" name="Text 19"/>
          <p:cNvSpPr txBox="1"/>
          <p:nvPr/>
        </p:nvSpPr>
        <p:spPr>
          <a:xfrm>
            <a:off x="8549640" y="2286000"/>
            <a:ext cx="1097280" cy="731520"/>
          </a:xfrm>
          <a:prstGeom prst="rect">
            <a:avLst/>
          </a:prstGeom>
          <a:noFill/>
          <a:ln/>
        </p:spPr>
        <p:txBody>
          <a:bodyPr wrap="square" lIns="0" tIns="0" rIns="0" bIns="0" rtlCol="0" anchor="t"/>
          <a:lstStyle/>
          <a:p>
            <a:pPr indent="0" marL="0">
              <a:buNone/>
            </a:pPr>
            <a:r>
              <a:rPr lang="en-US" sz="3600" b="1" dirty="0">
                <a:solidFill>
                  <a:srgbClr val="E09B00"/>
                </a:solidFill>
              </a:rPr>
              <a:t>05</a:t>
            </a:r>
            <a:endParaRPr lang="en-US" sz="3600" dirty="0"/>
          </a:p>
        </p:txBody>
      </p:sp>
      <p:sp>
        <p:nvSpPr>
          <p:cNvPr id="23" name="Text 20"/>
          <p:cNvSpPr txBox="1"/>
          <p:nvPr/>
        </p:nvSpPr>
        <p:spPr>
          <a:xfrm>
            <a:off x="9738360" y="2267712"/>
            <a:ext cx="5486400" cy="457200"/>
          </a:xfrm>
          <a:prstGeom prst="rect">
            <a:avLst/>
          </a:prstGeom>
          <a:noFill/>
          <a:ln/>
        </p:spPr>
        <p:txBody>
          <a:bodyPr wrap="square" lIns="0" tIns="0" rIns="0" bIns="0" rtlCol="0" anchor="t"/>
          <a:lstStyle/>
          <a:p>
            <a:pPr indent="0" marL="0">
              <a:buNone/>
            </a:pPr>
            <a:r>
              <a:rPr lang="en-US" sz="2200" b="1" dirty="0">
                <a:solidFill>
                  <a:srgbClr val="263238"/>
                </a:solidFill>
              </a:rPr>
              <a:t>Automated Testing</a:t>
            </a:r>
            <a:endParaRPr lang="en-US" sz="2200" dirty="0"/>
          </a:p>
        </p:txBody>
      </p:sp>
      <p:sp>
        <p:nvSpPr>
          <p:cNvPr id="24" name="Text 21"/>
          <p:cNvSpPr txBox="1"/>
          <p:nvPr/>
        </p:nvSpPr>
        <p:spPr>
          <a:xfrm>
            <a:off x="9738360" y="2743200"/>
            <a:ext cx="5486400" cy="365760"/>
          </a:xfrm>
          <a:prstGeom prst="rect">
            <a:avLst/>
          </a:prstGeom>
          <a:noFill/>
          <a:ln/>
        </p:spPr>
        <p:txBody>
          <a:bodyPr wrap="square" lIns="0" tIns="0" rIns="0" bIns="0" rtlCol="0" anchor="t"/>
          <a:lstStyle/>
          <a:p>
            <a:pPr indent="0" marL="0">
              <a:buNone/>
            </a:pPr>
            <a:r>
              <a:rPr lang="en-US" sz="1500" dirty="0">
                <a:solidFill>
                  <a:srgbClr val="78909C"/>
                </a:solidFill>
              </a:rPr>
              <a:t>pytest, vitest, CI, RTM</a:t>
            </a:r>
            <a:endParaRPr lang="en-US" sz="1500" dirty="0"/>
          </a:p>
        </p:txBody>
      </p:sp>
      <p:sp>
        <p:nvSpPr>
          <p:cNvPr id="25" name="contents card 06"/>
          <p:cNvSpPr/>
          <p:nvPr/>
        </p:nvSpPr>
        <p:spPr>
          <a:xfrm>
            <a:off x="8229600" y="3566160"/>
            <a:ext cx="7178040" cy="1280160"/>
          </a:xfrm>
          <a:prstGeom prst="roundRect">
            <a:avLst>
              <a:gd name="adj" fmla="val 5714"/>
            </a:avLst>
          </a:prstGeom>
          <a:solidFill>
            <a:srgbClr val="FFFFFF"/>
          </a:solidFill>
          <a:ln w="9525">
            <a:solidFill>
              <a:srgbClr val="CFD8DC"/>
            </a:solidFill>
            <a:prstDash val="solid"/>
          </a:ln>
        </p:spPr>
      </p:sp>
      <p:sp>
        <p:nvSpPr>
          <p:cNvPr id="26" name="Text 23"/>
          <p:cNvSpPr txBox="1"/>
          <p:nvPr/>
        </p:nvSpPr>
        <p:spPr>
          <a:xfrm>
            <a:off x="8549640" y="3840480"/>
            <a:ext cx="1097280" cy="731520"/>
          </a:xfrm>
          <a:prstGeom prst="rect">
            <a:avLst/>
          </a:prstGeom>
          <a:noFill/>
          <a:ln/>
        </p:spPr>
        <p:txBody>
          <a:bodyPr wrap="square" lIns="0" tIns="0" rIns="0" bIns="0" rtlCol="0" anchor="t"/>
          <a:lstStyle/>
          <a:p>
            <a:pPr indent="0" marL="0">
              <a:buNone/>
            </a:pPr>
            <a:r>
              <a:rPr lang="en-US" sz="3600" b="1" dirty="0">
                <a:solidFill>
                  <a:srgbClr val="E09B00"/>
                </a:solidFill>
              </a:rPr>
              <a:t>06</a:t>
            </a:r>
            <a:endParaRPr lang="en-US" sz="3600" dirty="0"/>
          </a:p>
        </p:txBody>
      </p:sp>
      <p:sp>
        <p:nvSpPr>
          <p:cNvPr id="27" name="Text 24"/>
          <p:cNvSpPr txBox="1"/>
          <p:nvPr/>
        </p:nvSpPr>
        <p:spPr>
          <a:xfrm>
            <a:off x="9738360" y="3822192"/>
            <a:ext cx="5486400" cy="457200"/>
          </a:xfrm>
          <a:prstGeom prst="rect">
            <a:avLst/>
          </a:prstGeom>
          <a:noFill/>
          <a:ln/>
        </p:spPr>
        <p:txBody>
          <a:bodyPr wrap="square" lIns="0" tIns="0" rIns="0" bIns="0" rtlCol="0" anchor="t"/>
          <a:lstStyle/>
          <a:p>
            <a:pPr indent="0" marL="0">
              <a:buNone/>
            </a:pPr>
            <a:r>
              <a:rPr lang="en-US" sz="2200" b="1" dirty="0">
                <a:solidFill>
                  <a:srgbClr val="263238"/>
                </a:solidFill>
              </a:rPr>
              <a:t>AI/ML Techniques</a:t>
            </a:r>
            <a:endParaRPr lang="en-US" sz="2200" dirty="0"/>
          </a:p>
        </p:txBody>
      </p:sp>
      <p:sp>
        <p:nvSpPr>
          <p:cNvPr id="28" name="Text 25"/>
          <p:cNvSpPr txBox="1"/>
          <p:nvPr/>
        </p:nvSpPr>
        <p:spPr>
          <a:xfrm>
            <a:off x="9738360" y="4297680"/>
            <a:ext cx="5486400" cy="365760"/>
          </a:xfrm>
          <a:prstGeom prst="rect">
            <a:avLst/>
          </a:prstGeom>
          <a:noFill/>
          <a:ln/>
        </p:spPr>
        <p:txBody>
          <a:bodyPr wrap="square" lIns="0" tIns="0" rIns="0" bIns="0" rtlCol="0" anchor="t"/>
          <a:lstStyle/>
          <a:p>
            <a:pPr indent="0" marL="0">
              <a:buNone/>
            </a:pPr>
            <a:r>
              <a:rPr lang="en-US" sz="1500" dirty="0">
                <a:solidFill>
                  <a:srgbClr val="78909C"/>
                </a:solidFill>
              </a:rPr>
              <a:t>Module 8 data preparation</a:t>
            </a:r>
            <a:endParaRPr lang="en-US" sz="1500" dirty="0"/>
          </a:p>
        </p:txBody>
      </p:sp>
      <p:sp>
        <p:nvSpPr>
          <p:cNvPr id="29" name="contents card 07"/>
          <p:cNvSpPr/>
          <p:nvPr/>
        </p:nvSpPr>
        <p:spPr>
          <a:xfrm>
            <a:off x="8229600" y="5120640"/>
            <a:ext cx="7178040" cy="1280160"/>
          </a:xfrm>
          <a:prstGeom prst="roundRect">
            <a:avLst>
              <a:gd name="adj" fmla="val 5714"/>
            </a:avLst>
          </a:prstGeom>
          <a:solidFill>
            <a:srgbClr val="FFFFFF"/>
          </a:solidFill>
          <a:ln w="9525">
            <a:solidFill>
              <a:srgbClr val="CFD8DC"/>
            </a:solidFill>
            <a:prstDash val="solid"/>
          </a:ln>
        </p:spPr>
      </p:sp>
      <p:sp>
        <p:nvSpPr>
          <p:cNvPr id="30" name="Text 27"/>
          <p:cNvSpPr txBox="1"/>
          <p:nvPr/>
        </p:nvSpPr>
        <p:spPr>
          <a:xfrm>
            <a:off x="8549640" y="5394960"/>
            <a:ext cx="1097280" cy="731520"/>
          </a:xfrm>
          <a:prstGeom prst="rect">
            <a:avLst/>
          </a:prstGeom>
          <a:noFill/>
          <a:ln/>
        </p:spPr>
        <p:txBody>
          <a:bodyPr wrap="square" lIns="0" tIns="0" rIns="0" bIns="0" rtlCol="0" anchor="t"/>
          <a:lstStyle/>
          <a:p>
            <a:pPr indent="0" marL="0">
              <a:buNone/>
            </a:pPr>
            <a:r>
              <a:rPr lang="en-US" sz="3600" b="1" dirty="0">
                <a:solidFill>
                  <a:srgbClr val="E09B00"/>
                </a:solidFill>
              </a:rPr>
              <a:t>07</a:t>
            </a:r>
            <a:endParaRPr lang="en-US" sz="3600" dirty="0"/>
          </a:p>
        </p:txBody>
      </p:sp>
      <p:sp>
        <p:nvSpPr>
          <p:cNvPr id="31" name="Text 28"/>
          <p:cNvSpPr txBox="1"/>
          <p:nvPr/>
        </p:nvSpPr>
        <p:spPr>
          <a:xfrm>
            <a:off x="9738360" y="5376672"/>
            <a:ext cx="5486400" cy="457200"/>
          </a:xfrm>
          <a:prstGeom prst="rect">
            <a:avLst/>
          </a:prstGeom>
          <a:noFill/>
          <a:ln/>
        </p:spPr>
        <p:txBody>
          <a:bodyPr wrap="square" lIns="0" tIns="0" rIns="0" bIns="0" rtlCol="0" anchor="t"/>
          <a:lstStyle/>
          <a:p>
            <a:pPr indent="0" marL="0">
              <a:buNone/>
            </a:pPr>
            <a:r>
              <a:rPr lang="en-US" sz="2200" b="1" dirty="0">
                <a:solidFill>
                  <a:srgbClr val="263238"/>
                </a:solidFill>
              </a:rPr>
              <a:t>Next Steps</a:t>
            </a:r>
            <a:endParaRPr lang="en-US" sz="2200" dirty="0"/>
          </a:p>
        </p:txBody>
      </p:sp>
      <p:sp>
        <p:nvSpPr>
          <p:cNvPr id="32" name="Text 29"/>
          <p:cNvSpPr txBox="1"/>
          <p:nvPr/>
        </p:nvSpPr>
        <p:spPr>
          <a:xfrm>
            <a:off x="9738360" y="5852160"/>
            <a:ext cx="5486400" cy="365760"/>
          </a:xfrm>
          <a:prstGeom prst="rect">
            <a:avLst/>
          </a:prstGeom>
          <a:noFill/>
          <a:ln/>
        </p:spPr>
        <p:txBody>
          <a:bodyPr wrap="square" lIns="0" tIns="0" rIns="0" bIns="0" rtlCol="0" anchor="t"/>
          <a:lstStyle/>
          <a:p>
            <a:pPr indent="0" marL="0">
              <a:buNone/>
            </a:pPr>
            <a:r>
              <a:rPr lang="en-US" sz="1500" dirty="0">
                <a:solidFill>
                  <a:srgbClr val="78909C"/>
                </a:solidFill>
              </a:rPr>
              <a:t>Remaining work and challenges</a:t>
            </a:r>
            <a:endParaRPr lang="en-US" sz="1500" dirty="0"/>
          </a:p>
        </p:txBody>
      </p:sp>
      <p:sp>
        <p:nvSpPr>
          <p:cNvPr id="33" name="contents card 08"/>
          <p:cNvSpPr/>
          <p:nvPr/>
        </p:nvSpPr>
        <p:spPr>
          <a:xfrm>
            <a:off x="8229600" y="6675120"/>
            <a:ext cx="7178040" cy="1280160"/>
          </a:xfrm>
          <a:prstGeom prst="roundRect">
            <a:avLst>
              <a:gd name="adj" fmla="val 5714"/>
            </a:avLst>
          </a:prstGeom>
          <a:solidFill>
            <a:srgbClr val="FFFFFF"/>
          </a:solidFill>
          <a:ln w="9525">
            <a:solidFill>
              <a:srgbClr val="CFD8DC"/>
            </a:solidFill>
            <a:prstDash val="solid"/>
          </a:ln>
        </p:spPr>
      </p:sp>
      <p:sp>
        <p:nvSpPr>
          <p:cNvPr id="34" name="Text 31"/>
          <p:cNvSpPr txBox="1"/>
          <p:nvPr/>
        </p:nvSpPr>
        <p:spPr>
          <a:xfrm>
            <a:off x="8549640" y="6949440"/>
            <a:ext cx="1097280" cy="731520"/>
          </a:xfrm>
          <a:prstGeom prst="rect">
            <a:avLst/>
          </a:prstGeom>
          <a:noFill/>
          <a:ln/>
        </p:spPr>
        <p:txBody>
          <a:bodyPr wrap="square" lIns="0" tIns="0" rIns="0" bIns="0" rtlCol="0" anchor="t"/>
          <a:lstStyle/>
          <a:p>
            <a:pPr indent="0" marL="0">
              <a:buNone/>
            </a:pPr>
            <a:r>
              <a:rPr lang="en-US" sz="3600" b="1" dirty="0">
                <a:solidFill>
                  <a:srgbClr val="E09B00"/>
                </a:solidFill>
              </a:rPr>
              <a:t>08</a:t>
            </a:r>
            <a:endParaRPr lang="en-US" sz="3600" dirty="0"/>
          </a:p>
        </p:txBody>
      </p:sp>
      <p:sp>
        <p:nvSpPr>
          <p:cNvPr id="35" name="Text 32"/>
          <p:cNvSpPr txBox="1"/>
          <p:nvPr/>
        </p:nvSpPr>
        <p:spPr>
          <a:xfrm>
            <a:off x="9738360" y="6931152"/>
            <a:ext cx="5486400" cy="457200"/>
          </a:xfrm>
          <a:prstGeom prst="rect">
            <a:avLst/>
          </a:prstGeom>
          <a:noFill/>
          <a:ln/>
        </p:spPr>
        <p:txBody>
          <a:bodyPr wrap="square" lIns="0" tIns="0" rIns="0" bIns="0" rtlCol="0" anchor="t"/>
          <a:lstStyle/>
          <a:p>
            <a:pPr indent="0" marL="0">
              <a:buNone/>
            </a:pPr>
            <a:r>
              <a:rPr lang="en-US" sz="2200" b="1" dirty="0">
                <a:solidFill>
                  <a:srgbClr val="263238"/>
                </a:solidFill>
              </a:rPr>
              <a:t>Questions</a:t>
            </a:r>
            <a:endParaRPr lang="en-US" sz="2200" dirty="0"/>
          </a:p>
        </p:txBody>
      </p:sp>
      <p:sp>
        <p:nvSpPr>
          <p:cNvPr id="36" name="Text 33"/>
          <p:cNvSpPr txBox="1"/>
          <p:nvPr/>
        </p:nvSpPr>
        <p:spPr>
          <a:xfrm>
            <a:off x="9738360" y="7406640"/>
            <a:ext cx="5486400" cy="365760"/>
          </a:xfrm>
          <a:prstGeom prst="rect">
            <a:avLst/>
          </a:prstGeom>
          <a:noFill/>
          <a:ln/>
        </p:spPr>
        <p:txBody>
          <a:bodyPr wrap="square" lIns="0" tIns="0" rIns="0" bIns="0" rtlCol="0" anchor="t"/>
          <a:lstStyle/>
          <a:p>
            <a:pPr indent="0" marL="0">
              <a:buNone/>
            </a:pPr>
            <a:r>
              <a:rPr lang="en-US" sz="1500" dirty="0">
                <a:solidFill>
                  <a:srgbClr val="78909C"/>
                </a:solidFill>
              </a:rPr>
              <a:t>Discussion</a:t>
            </a:r>
            <a:endParaRPr lang="en-US" sz="1500" dirty="0"/>
          </a:p>
        </p:txBody>
      </p:sp>
      <p:sp>
        <p:nvSpPr>
          <p:cNvPr id="25" name="Slide Number Placeholder 0"/>
          <p:cNvSpPr>
            <a:spLocks noGrp="1"/>
          </p:cNvSpPr>
          <p:nvPr>
            <p:ph type="sldNum" sz="quarter" idx="4294967295"/>
          </p:nvPr>
        </p:nvSpPr>
        <p:spPr>
          <a:xfrm>
            <a:off x="14794992" y="8549640"/>
            <a:ext cx="91440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685800" y="2743200"/>
            <a:ext cx="5486400" cy="1371600"/>
          </a:xfrm>
          <a:prstGeom prst="rect">
            <a:avLst/>
          </a:prstGeom>
          <a:noFill/>
          <a:ln/>
        </p:spPr>
        <p:txBody>
          <a:bodyPr wrap="square" lIns="0" tIns="0" rIns="0" bIns="0" rtlCol="0"/>
          <a:lstStyle/>
          <a:p>
            <a:pPr indent="0" marL="0">
              <a:buNone/>
            </a:pPr>
            <a:r>
              <a:rPr lang="en-US" sz="8000" b="1" dirty="0">
                <a:solidFill>
                  <a:schemeClr val="accent2"/>
                </a:solidFill>
              </a:rPr>
              <a:t>01</a:t>
            </a:r>
            <a:endParaRPr lang="en-US" sz="8000" dirty="0"/>
          </a:p>
        </p:txBody>
      </p:sp>
      <p:sp>
        <p:nvSpPr>
          <p:cNvPr id="3" name="Text 0"/>
          <p:cNvSpPr/>
          <p:nvPr>
            <p:ph idx="101" type="title" hasCustomPrompt="1"/>
          </p:nvPr>
        </p:nvSpPr>
        <p:spPr>
          <a:xfrm>
            <a:off x="685800" y="4206240"/>
            <a:ext cx="12801600" cy="1097280"/>
          </a:xfrm>
          <a:prstGeom prst="rect">
            <a:avLst/>
          </a:prstGeom>
          <a:noFill/>
          <a:ln/>
        </p:spPr>
        <p:txBody>
          <a:bodyPr wrap="square" lIns="0" tIns="0" rIns="0" bIns="0" rtlCol="0"/>
          <a:lstStyle/>
          <a:p>
            <a:pPr algn="l" indent="0" marL="0">
              <a:buNone/>
            </a:pPr>
            <a:r>
              <a:rPr lang="en-US" sz="4800" b="1" dirty="0">
                <a:solidFill>
                  <a:schemeClr val="bg1"/>
                </a:solidFill>
              </a:rPr>
              <a:t>Project Introduction</a:t>
            </a:r>
            <a:endParaRPr lang="en-US" sz="4800" dirty="0"/>
          </a:p>
        </p:txBody>
      </p:sp>
      <p:sp>
        <p:nvSpPr>
          <p:cNvPr id="4" name="Text 0"/>
          <p:cNvSpPr/>
          <p:nvPr>
            <p:ph idx="102" type="body" hasCustomPrompt="1"/>
          </p:nvPr>
        </p:nvSpPr>
        <p:spPr>
          <a:xfrm>
            <a:off x="685800" y="5349240"/>
            <a:ext cx="12801600" cy="731520"/>
          </a:xfrm>
          <a:prstGeom prst="rect">
            <a:avLst/>
          </a:prstGeom>
          <a:noFill/>
          <a:ln/>
        </p:spPr>
        <p:txBody>
          <a:bodyPr wrap="square" lIns="0" tIns="0" rIns="0" bIns="0" rtlCol="0"/>
          <a:lstStyle/>
          <a:p>
            <a:pPr indent="0" marL="0">
              <a:buNone/>
            </a:pPr>
            <a:r>
              <a:rPr lang="en-US" sz="2000" dirty="0">
                <a:solidFill>
                  <a:schemeClr val="accent6"/>
                </a:solidFill>
              </a:rPr>
              <a:t>A short reminder of the problem and our solution</a:t>
            </a:r>
            <a:endParaRPr lang="en-US" sz="2000" dirty="0"/>
          </a:p>
        </p:txBody>
      </p:sp>
      <p:sp>
        <p:nvSpPr>
          <p:cNvPr id="25" name="Slide Number Placeholder 0"/>
          <p:cNvSpPr>
            <a:spLocks noGrp="1"/>
          </p:cNvSpPr>
          <p:nvPr>
            <p:ph type="sldNum" sz="quarter" idx="4294967295"/>
          </p:nvPr>
        </p:nvSpPr>
        <p:spPr>
          <a:xfrm>
            <a:off x="14794992" y="8549640"/>
            <a:ext cx="91440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685800" y="365760"/>
            <a:ext cx="10972800" cy="365760"/>
          </a:xfrm>
          <a:prstGeom prst="rect">
            <a:avLst/>
          </a:prstGeom>
          <a:noFill/>
          <a:ln/>
        </p:spPr>
        <p:txBody>
          <a:bodyPr wrap="square" lIns="0" tIns="0" rIns="0" bIns="0" rtlCol="0"/>
          <a:lstStyle/>
          <a:p>
            <a:pPr indent="0" marL="0">
              <a:buNone/>
            </a:pPr>
            <a:r>
              <a:rPr lang="en-US" sz="1200" b="1" spc="200" kern="0" dirty="0">
                <a:solidFill>
                  <a:schemeClr val="accent3"/>
                </a:solidFill>
              </a:rPr>
              <a:t>01 — PROJECT INTRODUCTION</a:t>
            </a:r>
            <a:endParaRPr lang="en-US" sz="1200" dirty="0"/>
          </a:p>
        </p:txBody>
      </p:sp>
      <p:sp>
        <p:nvSpPr>
          <p:cNvPr id="3" name="Text 0"/>
          <p:cNvSpPr/>
          <p:nvPr>
            <p:ph idx="101" type="title" hasCustomPrompt="1"/>
          </p:nvPr>
        </p:nvSpPr>
        <p:spPr>
          <a:xfrm>
            <a:off x="685800" y="731520"/>
            <a:ext cx="14886432" cy="822960"/>
          </a:xfrm>
          <a:prstGeom prst="rect">
            <a:avLst/>
          </a:prstGeom>
          <a:noFill/>
          <a:ln/>
        </p:spPr>
        <p:txBody>
          <a:bodyPr wrap="square" lIns="0" tIns="0" rIns="0" bIns="0" rtlCol="0" anchor="t"/>
          <a:lstStyle/>
          <a:p>
            <a:pPr algn="l" indent="0" marL="0">
              <a:buNone/>
            </a:pPr>
            <a:r>
              <a:rPr lang="en-US" sz="3600" b="1" dirty="0">
                <a:solidFill>
                  <a:schemeClr val="tx1"/>
                </a:solidFill>
              </a:rPr>
              <a:t>Problem &amp; Proposed Solution</a:t>
            </a:r>
            <a:endParaRPr lang="en-US" sz="3600" dirty="0"/>
          </a:p>
        </p:txBody>
      </p:sp>
      <p:sp>
        <p:nvSpPr>
          <p:cNvPr id="5" name="problem card"/>
          <p:cNvSpPr/>
          <p:nvPr/>
        </p:nvSpPr>
        <p:spPr>
          <a:xfrm>
            <a:off x="685800" y="1874520"/>
            <a:ext cx="7315200" cy="6400800"/>
          </a:xfrm>
          <a:prstGeom prst="roundRect">
            <a:avLst>
              <a:gd name="adj" fmla="val 1143"/>
            </a:avLst>
          </a:prstGeom>
          <a:solidFill>
            <a:srgbClr val="FFFFFF"/>
          </a:solidFill>
          <a:ln w="9525">
            <a:solidFill>
              <a:srgbClr val="CFD8DC"/>
            </a:solidFill>
            <a:prstDash val="solid"/>
          </a:ln>
        </p:spPr>
      </p:sp>
      <p:sp>
        <p:nvSpPr>
          <p:cNvPr id="6" name="problem circle"/>
          <p:cNvSpPr/>
          <p:nvPr/>
        </p:nvSpPr>
        <p:spPr>
          <a:xfrm>
            <a:off x="1005840" y="2148840"/>
            <a:ext cx="685800" cy="685800"/>
          </a:xfrm>
          <a:prstGeom prst="ellipse">
            <a:avLst/>
          </a:prstGeom>
          <a:solidFill>
            <a:srgbClr val="C62828"/>
          </a:solidFill>
          <a:ln w="12700">
            <a:solidFill>
              <a:srgbClr val="C62828"/>
            </a:solidFill>
            <a:prstDash val="solid"/>
          </a:ln>
        </p:spPr>
      </p:sp>
      <p:pic>
        <p:nvPicPr>
          <p:cNvPr id="7" name="problem icon" descr="preencoded.png">    </p:cNvPr>
          <p:cNvPicPr>
            <a:picLocks noChangeAspect="1"/>
          </p:cNvPicPr>
          <p:nvPr/>
        </p:nvPicPr>
        <p:blipFill>
          <a:blip r:embed="rId1"/>
          <a:stretch>
            <a:fillRect/>
          </a:stretch>
        </p:blipFill>
        <p:spPr>
          <a:xfrm>
            <a:off x="1191006" y="2334006"/>
            <a:ext cx="315468" cy="315468"/>
          </a:xfrm>
          <a:prstGeom prst="rect">
            <a:avLst/>
          </a:prstGeom>
        </p:spPr>
      </p:pic>
      <p:sp>
        <p:nvSpPr>
          <p:cNvPr id="8" name="Text 4"/>
          <p:cNvSpPr txBox="1"/>
          <p:nvPr/>
        </p:nvSpPr>
        <p:spPr>
          <a:xfrm>
            <a:off x="1874520" y="2240280"/>
            <a:ext cx="5486400" cy="502920"/>
          </a:xfrm>
          <a:prstGeom prst="rect">
            <a:avLst/>
          </a:prstGeom>
          <a:noFill/>
          <a:ln/>
        </p:spPr>
        <p:txBody>
          <a:bodyPr wrap="square" lIns="0" tIns="0" rIns="0" bIns="0" rtlCol="0" anchor="t"/>
          <a:lstStyle/>
          <a:p>
            <a:pPr indent="0" marL="0">
              <a:buNone/>
            </a:pPr>
            <a:r>
              <a:rPr lang="en-US" sz="2400" b="1" dirty="0">
                <a:solidFill>
                  <a:srgbClr val="263238"/>
                </a:solidFill>
              </a:rPr>
              <a:t>The problem</a:t>
            </a:r>
            <a:endParaRPr lang="en-US" sz="2400" dirty="0"/>
          </a:p>
        </p:txBody>
      </p:sp>
      <p:sp>
        <p:nvSpPr>
          <p:cNvPr id="9" name="Text 5"/>
          <p:cNvSpPr txBox="1"/>
          <p:nvPr/>
        </p:nvSpPr>
        <p:spPr>
          <a:xfrm>
            <a:off x="1051560" y="3063240"/>
            <a:ext cx="6583680" cy="2286000"/>
          </a:xfrm>
          <a:prstGeom prst="rect">
            <a:avLst/>
          </a:prstGeom>
          <a:noFill/>
          <a:ln/>
        </p:spPr>
        <p:txBody>
          <a:bodyPr wrap="square" lIns="0" tIns="0" rIns="0" bIns="0" rtlCol="0" anchor="t"/>
          <a:lstStyle/>
          <a:p>
            <a:pPr marL="228600" indent="-228600">
              <a:spcAft>
                <a:spcPts val="600"/>
              </a:spcAft>
              <a:buSzPct val="100000"/>
              <a:buChar char="•"/>
            </a:pPr>
            <a:r>
              <a:rPr lang="en-US" sz="1800" dirty="0">
                <a:solidFill>
                  <a:srgbClr val="37474F"/>
                </a:solidFill>
              </a:rPr>
              <a:t>IoT devices ship with default credentials, cleartext protocols and old firmware</a:t>
            </a:r>
            <a:endParaRPr lang="en-US" sz="1800" dirty="0"/>
          </a:p>
          <a:p>
            <a:pPr marL="228600" indent="-228600">
              <a:spcAft>
                <a:spcPts val="600"/>
              </a:spcAft>
              <a:buSzPct val="100000"/>
              <a:buChar char="•"/>
            </a:pPr>
            <a:r>
              <a:rPr lang="en-US" sz="1800" dirty="0">
                <a:solidFill>
                  <a:srgbClr val="37474F"/>
                </a:solidFill>
              </a:rPr>
              <a:t>Mirai (2016) took over 600,000+ devices using a list of 62 default passwords</a:t>
            </a:r>
            <a:endParaRPr lang="en-US" sz="1800" dirty="0"/>
          </a:p>
          <a:p>
            <a:pPr marL="228600" indent="-228600">
              <a:spcAft>
                <a:spcPts val="600"/>
              </a:spcAft>
              <a:buSzPct val="100000"/>
              <a:buChar char="•"/>
            </a:pPr>
            <a:r>
              <a:rPr lang="en-US" sz="1800" dirty="0">
                <a:solidFill>
                  <a:srgbClr val="37474F"/>
                </a:solidFill>
              </a:rPr>
              <a:t>Existing honeypots are low-interaction or cover one protocol and one device</a:t>
            </a:r>
            <a:endParaRPr lang="en-US" sz="1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1051560" y="5486400"/>
          <a:ext cx="6583680" cy="914400"/>
        </p:xfrm>
        <a:graphic>
          <a:graphicData uri="http://schemas.openxmlformats.org/drawingml/2006/table">
            <a:tbl>
              <a:tblPr/>
              <a:tblGrid>
                <a:gridCol w="1828800"/>
                <a:gridCol w="2194560"/>
                <a:gridCol w="2560320"/>
              </a:tblGrid>
              <a:tr h="566928">
                <a:tc>
                  <a:txBody>
                    <a:bodyPr/>
                    <a:lstStyle/>
                    <a:p>
                      <a:pPr indent="0" marL="0">
                        <a:buNone/>
                      </a:pPr>
                      <a:r>
                        <a:rPr lang="en-US" sz="1400" b="1" dirty="0">
                          <a:solidFill>
                            <a:srgbClr val="FFFFFF"/>
                          </a:solidFill>
                        </a:rPr>
                        <a:t>Device</a:t>
                      </a:r>
                      <a:endParaRPr lang="en-US" sz="14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37474F"/>
                    </a:solidFill>
                  </a:tcPr>
                </a:tc>
                <a:tc>
                  <a:txBody>
                    <a:bodyPr/>
                    <a:lstStyle/>
                    <a:p>
                      <a:pPr indent="0" marL="0">
                        <a:buNone/>
                      </a:pPr>
                      <a:r>
                        <a:rPr lang="en-US" sz="1400" b="1" dirty="0">
                          <a:solidFill>
                            <a:srgbClr val="FFFFFF"/>
                          </a:solidFill>
                        </a:rPr>
                        <a:t>Protocols</a:t>
                      </a:r>
                      <a:endParaRPr lang="en-US" sz="14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37474F"/>
                    </a:solidFill>
                  </a:tcPr>
                </a:tc>
                <a:tc>
                  <a:txBody>
                    <a:bodyPr/>
                    <a:lstStyle/>
                    <a:p>
                      <a:pPr indent="0" marL="0">
                        <a:buNone/>
                      </a:pPr>
                      <a:r>
                        <a:rPr lang="en-US" sz="1400" b="1" dirty="0">
                          <a:solidFill>
                            <a:srgbClr val="FFFFFF"/>
                          </a:solidFill>
                        </a:rPr>
                        <a:t>Real incident</a:t>
                      </a:r>
                      <a:endParaRPr lang="en-US" sz="14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37474F"/>
                    </a:solidFill>
                  </a:tcPr>
                </a:tc>
              </a:tr>
              <a:tr h="566928">
                <a:tc>
                  <a:txBody>
                    <a:bodyPr/>
                    <a:lstStyle/>
                    <a:p>
                      <a:pPr indent="0" marL="0">
                        <a:buNone/>
                      </a:pPr>
                      <a:r>
                        <a:rPr lang="en-US" sz="1500" dirty="0">
                          <a:solidFill>
                            <a:srgbClr val="37474F"/>
                          </a:solidFill>
                        </a:rPr>
                        <a:t>CCTV camera</a:t>
                      </a:r>
                      <a:endParaRPr lang="en-US" sz="15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FFFFF"/>
                    </a:solidFill>
                  </a:tcPr>
                </a:tc>
                <a:tc>
                  <a:txBody>
                    <a:bodyPr/>
                    <a:lstStyle/>
                    <a:p>
                      <a:pPr indent="0" marL="0">
                        <a:buNone/>
                      </a:pPr>
                      <a:r>
                        <a:rPr lang="en-US" sz="1500" dirty="0">
                          <a:solidFill>
                            <a:srgbClr val="37474F"/>
                          </a:solidFill>
                        </a:rPr>
                        <a:t>RTSP, HTTP/HTTPS</a:t>
                      </a:r>
                      <a:endParaRPr lang="en-US" sz="15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FFFFF"/>
                    </a:solidFill>
                  </a:tcPr>
                </a:tc>
                <a:tc>
                  <a:txBody>
                    <a:bodyPr/>
                    <a:lstStyle/>
                    <a:p>
                      <a:pPr indent="0" marL="0">
                        <a:buNone/>
                      </a:pPr>
                      <a:r>
                        <a:rPr lang="en-US" sz="1500" dirty="0">
                          <a:solidFill>
                            <a:srgbClr val="37474F"/>
                          </a:solidFill>
                        </a:rPr>
                        <a:t>Mirai (2016), Verkada (2021)</a:t>
                      </a:r>
                      <a:endParaRPr lang="en-US" sz="15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FFFFF"/>
                    </a:solidFill>
                  </a:tcPr>
                </a:tc>
              </a:tr>
              <a:tr h="566928">
                <a:tc>
                  <a:txBody>
                    <a:bodyPr/>
                    <a:lstStyle/>
                    <a:p>
                      <a:pPr indent="0" marL="0">
                        <a:buNone/>
                      </a:pPr>
                      <a:r>
                        <a:rPr lang="en-US" sz="1500" dirty="0">
                          <a:solidFill>
                            <a:srgbClr val="37474F"/>
                          </a:solidFill>
                        </a:rPr>
                        <a:t>Smart lock</a:t>
                      </a:r>
                      <a:endParaRPr lang="en-US" sz="15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AFBFB"/>
                    </a:solidFill>
                  </a:tcPr>
                </a:tc>
                <a:tc>
                  <a:txBody>
                    <a:bodyPr/>
                    <a:lstStyle/>
                    <a:p>
                      <a:pPr indent="0" marL="0">
                        <a:buNone/>
                      </a:pPr>
                      <a:r>
                        <a:rPr lang="en-US" sz="1500" dirty="0">
                          <a:solidFill>
                            <a:srgbClr val="37474F"/>
                          </a:solidFill>
                        </a:rPr>
                        <a:t>SSH, HTTP REST, MQTT</a:t>
                      </a:r>
                      <a:endParaRPr lang="en-US" sz="15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AFBFB"/>
                    </a:solidFill>
                  </a:tcPr>
                </a:tc>
                <a:tc>
                  <a:txBody>
                    <a:bodyPr/>
                    <a:lstStyle/>
                    <a:p>
                      <a:pPr indent="0" marL="0">
                        <a:buNone/>
                      </a:pPr>
                      <a:r>
                        <a:rPr lang="en-US" sz="1500" dirty="0">
                          <a:solidFill>
                            <a:srgbClr val="37474F"/>
                          </a:solidFill>
                        </a:rPr>
                        <a:t>Ring device attacks</a:t>
                      </a:r>
                      <a:endParaRPr lang="en-US" sz="15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AFBFB"/>
                    </a:solidFill>
                  </a:tcPr>
                </a:tc>
              </a:tr>
              <a:tr h="566928">
                <a:tc>
                  <a:txBody>
                    <a:bodyPr/>
                    <a:lstStyle/>
                    <a:p>
                      <a:pPr indent="0" marL="0">
                        <a:buNone/>
                      </a:pPr>
                      <a:r>
                        <a:rPr lang="en-US" sz="1500" dirty="0">
                          <a:solidFill>
                            <a:srgbClr val="37474F"/>
                          </a:solidFill>
                        </a:rPr>
                        <a:t>Industrial sensor</a:t>
                      </a:r>
                      <a:endParaRPr lang="en-US" sz="15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FFFFF"/>
                    </a:solidFill>
                  </a:tcPr>
                </a:tc>
                <a:tc>
                  <a:txBody>
                    <a:bodyPr/>
                    <a:lstStyle/>
                    <a:p>
                      <a:pPr indent="0" marL="0">
                        <a:buNone/>
                      </a:pPr>
                      <a:r>
                        <a:rPr lang="en-US" sz="1500" dirty="0">
                          <a:solidFill>
                            <a:srgbClr val="37474F"/>
                          </a:solidFill>
                        </a:rPr>
                        <a:t>Telnet, MQTT, HTTP HMI</a:t>
                      </a:r>
                      <a:endParaRPr lang="en-US" sz="15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FFFFF"/>
                    </a:solidFill>
                  </a:tcPr>
                </a:tc>
                <a:tc>
                  <a:txBody>
                    <a:bodyPr/>
                    <a:lstStyle/>
                    <a:p>
                      <a:pPr indent="0" marL="0">
                        <a:buNone/>
                      </a:pPr>
                      <a:r>
                        <a:rPr lang="en-US" sz="1500" dirty="0">
                          <a:solidFill>
                            <a:srgbClr val="37474F"/>
                          </a:solidFill>
                        </a:rPr>
                        <a:t>Oldsmar water plant (2021)</a:t>
                      </a:r>
                      <a:endParaRPr lang="en-US" sz="15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FFFFF"/>
                    </a:solidFill>
                  </a:tcPr>
                </a:tc>
              </a:tr>
            </a:tbl>
          </a:graphicData>
        </a:graphic>
      </p:graphicFrame>
      <p:sp>
        <p:nvSpPr>
          <p:cNvPr id="11" name="solution card"/>
          <p:cNvSpPr/>
          <p:nvPr/>
        </p:nvSpPr>
        <p:spPr>
          <a:xfrm>
            <a:off x="8458200" y="1874520"/>
            <a:ext cx="7114032" cy="6400800"/>
          </a:xfrm>
          <a:prstGeom prst="roundRect">
            <a:avLst>
              <a:gd name="adj" fmla="val 1143"/>
            </a:avLst>
          </a:prstGeom>
          <a:solidFill>
            <a:srgbClr val="FFFFFF"/>
          </a:solidFill>
          <a:ln w="9525">
            <a:solidFill>
              <a:srgbClr val="CFD8DC"/>
            </a:solidFill>
            <a:prstDash val="solid"/>
          </a:ln>
        </p:spPr>
      </p:sp>
      <p:sp>
        <p:nvSpPr>
          <p:cNvPr id="12" name="solution circle"/>
          <p:cNvSpPr/>
          <p:nvPr/>
        </p:nvSpPr>
        <p:spPr>
          <a:xfrm>
            <a:off x="8778240" y="2148840"/>
            <a:ext cx="685800" cy="685800"/>
          </a:xfrm>
          <a:prstGeom prst="ellipse">
            <a:avLst/>
          </a:prstGeom>
          <a:solidFill>
            <a:srgbClr val="2E7D32"/>
          </a:solidFill>
          <a:ln w="12700">
            <a:solidFill>
              <a:srgbClr val="2E7D32"/>
            </a:solidFill>
            <a:prstDash val="solid"/>
          </a:ln>
        </p:spPr>
      </p:sp>
      <p:pic>
        <p:nvPicPr>
          <p:cNvPr id="13" name="solution icon" descr="preencoded.png">    </p:cNvPr>
          <p:cNvPicPr>
            <a:picLocks noChangeAspect="1"/>
          </p:cNvPicPr>
          <p:nvPr/>
        </p:nvPicPr>
        <p:blipFill>
          <a:blip r:embed="rId2"/>
          <a:stretch>
            <a:fillRect/>
          </a:stretch>
        </p:blipFill>
        <p:spPr>
          <a:xfrm>
            <a:off x="8963406" y="2334006"/>
            <a:ext cx="315468" cy="315468"/>
          </a:xfrm>
          <a:prstGeom prst="rect">
            <a:avLst/>
          </a:prstGeom>
        </p:spPr>
      </p:pic>
      <p:sp>
        <p:nvSpPr>
          <p:cNvPr id="14" name="Text 8"/>
          <p:cNvSpPr txBox="1"/>
          <p:nvPr/>
        </p:nvSpPr>
        <p:spPr>
          <a:xfrm>
            <a:off x="9646920" y="2240280"/>
            <a:ext cx="5486400" cy="502920"/>
          </a:xfrm>
          <a:prstGeom prst="rect">
            <a:avLst/>
          </a:prstGeom>
          <a:noFill/>
          <a:ln/>
        </p:spPr>
        <p:txBody>
          <a:bodyPr wrap="square" lIns="0" tIns="0" rIns="0" bIns="0" rtlCol="0" anchor="t"/>
          <a:lstStyle/>
          <a:p>
            <a:pPr indent="0" marL="0">
              <a:buNone/>
            </a:pPr>
            <a:r>
              <a:rPr lang="en-US" sz="2400" b="1" dirty="0">
                <a:solidFill>
                  <a:srgbClr val="263238"/>
                </a:solidFill>
              </a:rPr>
              <a:t>Our solution</a:t>
            </a:r>
            <a:endParaRPr lang="en-US" sz="2400" dirty="0"/>
          </a:p>
        </p:txBody>
      </p:sp>
      <p:sp>
        <p:nvSpPr>
          <p:cNvPr id="15" name="feature 0 circle"/>
          <p:cNvSpPr/>
          <p:nvPr/>
        </p:nvSpPr>
        <p:spPr>
          <a:xfrm>
            <a:off x="8823960" y="3108960"/>
            <a:ext cx="548640" cy="548640"/>
          </a:xfrm>
          <a:prstGeom prst="ellipse">
            <a:avLst/>
          </a:prstGeom>
          <a:solidFill>
            <a:srgbClr val="455A64"/>
          </a:solidFill>
          <a:ln w="12700">
            <a:solidFill>
              <a:srgbClr val="455A64"/>
            </a:solidFill>
            <a:prstDash val="solid"/>
          </a:ln>
        </p:spPr>
      </p:sp>
      <p:pic>
        <p:nvPicPr>
          <p:cNvPr id="16" name="feature 0 icon" descr="preencoded.png">    </p:cNvPr>
          <p:cNvPicPr>
            <a:picLocks noChangeAspect="1"/>
          </p:cNvPicPr>
          <p:nvPr/>
        </p:nvPicPr>
        <p:blipFill>
          <a:blip r:embed="rId3"/>
          <a:stretch>
            <a:fillRect/>
          </a:stretch>
        </p:blipFill>
        <p:spPr>
          <a:xfrm>
            <a:off x="8972093" y="3257093"/>
            <a:ext cx="252374" cy="252374"/>
          </a:xfrm>
          <a:prstGeom prst="rect">
            <a:avLst/>
          </a:prstGeom>
        </p:spPr>
      </p:pic>
      <p:sp>
        <p:nvSpPr>
          <p:cNvPr id="17" name="Text 10"/>
          <p:cNvSpPr txBox="1"/>
          <p:nvPr/>
        </p:nvSpPr>
        <p:spPr>
          <a:xfrm>
            <a:off x="9601200" y="3090672"/>
            <a:ext cx="5760720" cy="384048"/>
          </a:xfrm>
          <a:prstGeom prst="rect">
            <a:avLst/>
          </a:prstGeom>
          <a:noFill/>
          <a:ln/>
        </p:spPr>
        <p:txBody>
          <a:bodyPr wrap="square" lIns="0" tIns="0" rIns="0" bIns="0" rtlCol="0" anchor="t"/>
          <a:lstStyle/>
          <a:p>
            <a:pPr indent="0" marL="0">
              <a:buNone/>
            </a:pPr>
            <a:r>
              <a:rPr lang="en-US" sz="1800" b="1" dirty="0">
                <a:solidFill>
                  <a:srgbClr val="263238"/>
                </a:solidFill>
              </a:rPr>
              <a:t>3 devices × 5 protocols</a:t>
            </a:r>
            <a:endParaRPr lang="en-US" sz="1800" dirty="0"/>
          </a:p>
        </p:txBody>
      </p:sp>
      <p:sp>
        <p:nvSpPr>
          <p:cNvPr id="18" name="Text 11"/>
          <p:cNvSpPr txBox="1"/>
          <p:nvPr/>
        </p:nvSpPr>
        <p:spPr>
          <a:xfrm>
            <a:off x="9601200" y="3493008"/>
            <a:ext cx="5760720" cy="640080"/>
          </a:xfrm>
          <a:prstGeom prst="rect">
            <a:avLst/>
          </a:prstGeom>
          <a:noFill/>
          <a:ln/>
        </p:spPr>
        <p:txBody>
          <a:bodyPr wrap="square" lIns="0" tIns="0" rIns="0" bIns="0" rtlCol="0" anchor="t"/>
          <a:lstStyle/>
          <a:p>
            <a:pPr indent="0" marL="0">
              <a:buNone/>
            </a:pPr>
            <a:r>
              <a:rPr lang="en-US" sz="1500" dirty="0">
                <a:solidFill>
                  <a:srgbClr val="78909C"/>
                </a:solidFill>
              </a:rPr>
              <a:t>One shared state per device, so every protocol tells the same story</a:t>
            </a:r>
            <a:endParaRPr lang="en-US" sz="1500" dirty="0"/>
          </a:p>
        </p:txBody>
      </p:sp>
      <p:sp>
        <p:nvSpPr>
          <p:cNvPr id="19" name="feature 1 circle"/>
          <p:cNvSpPr/>
          <p:nvPr/>
        </p:nvSpPr>
        <p:spPr>
          <a:xfrm>
            <a:off x="8823960" y="4370832"/>
            <a:ext cx="548640" cy="548640"/>
          </a:xfrm>
          <a:prstGeom prst="ellipse">
            <a:avLst/>
          </a:prstGeom>
          <a:solidFill>
            <a:srgbClr val="455A64"/>
          </a:solidFill>
          <a:ln w="12700">
            <a:solidFill>
              <a:srgbClr val="455A64"/>
            </a:solidFill>
            <a:prstDash val="solid"/>
          </a:ln>
        </p:spPr>
      </p:sp>
      <p:pic>
        <p:nvPicPr>
          <p:cNvPr id="20" name="feature 1 icon" descr="preencoded.png">    </p:cNvPr>
          <p:cNvPicPr>
            <a:picLocks noChangeAspect="1"/>
          </p:cNvPicPr>
          <p:nvPr/>
        </p:nvPicPr>
        <p:blipFill>
          <a:blip r:embed="rId4"/>
          <a:stretch>
            <a:fillRect/>
          </a:stretch>
        </p:blipFill>
        <p:spPr>
          <a:xfrm>
            <a:off x="8972093" y="4518965"/>
            <a:ext cx="252374" cy="252374"/>
          </a:xfrm>
          <a:prstGeom prst="rect">
            <a:avLst/>
          </a:prstGeom>
        </p:spPr>
      </p:pic>
      <p:sp>
        <p:nvSpPr>
          <p:cNvPr id="21" name="Text 13"/>
          <p:cNvSpPr txBox="1"/>
          <p:nvPr/>
        </p:nvSpPr>
        <p:spPr>
          <a:xfrm>
            <a:off x="9601200" y="4352544"/>
            <a:ext cx="5760720" cy="384048"/>
          </a:xfrm>
          <a:prstGeom prst="rect">
            <a:avLst/>
          </a:prstGeom>
          <a:noFill/>
          <a:ln/>
        </p:spPr>
        <p:txBody>
          <a:bodyPr wrap="square" lIns="0" tIns="0" rIns="0" bIns="0" rtlCol="0" anchor="t"/>
          <a:lstStyle/>
          <a:p>
            <a:pPr indent="0" marL="0">
              <a:buNone/>
            </a:pPr>
            <a:r>
              <a:rPr lang="en-US" sz="1800" b="1" dirty="0">
                <a:solidFill>
                  <a:srgbClr val="263238"/>
                </a:solidFill>
              </a:rPr>
              <a:t>Every action captured</a:t>
            </a:r>
            <a:endParaRPr lang="en-US" sz="1800" dirty="0"/>
          </a:p>
        </p:txBody>
      </p:sp>
      <p:sp>
        <p:nvSpPr>
          <p:cNvPr id="22" name="Text 14"/>
          <p:cNvSpPr txBox="1"/>
          <p:nvPr/>
        </p:nvSpPr>
        <p:spPr>
          <a:xfrm>
            <a:off x="9601200" y="4754880"/>
            <a:ext cx="5760720" cy="640080"/>
          </a:xfrm>
          <a:prstGeom prst="rect">
            <a:avLst/>
          </a:prstGeom>
          <a:noFill/>
          <a:ln/>
        </p:spPr>
        <p:txBody>
          <a:bodyPr wrap="square" lIns="0" tIns="0" rIns="0" bIns="0" rtlCol="0" anchor="t"/>
          <a:lstStyle/>
          <a:p>
            <a:pPr indent="0" marL="0">
              <a:buNone/>
            </a:pPr>
            <a:r>
              <a:rPr lang="en-US" sz="1500" dirty="0">
                <a:solidFill>
                  <a:srgbClr val="78909C"/>
                </a:solidFill>
              </a:rPr>
              <a:t>Credentials, commands, URLs, files and packets in one event store</a:t>
            </a:r>
            <a:endParaRPr lang="en-US" sz="1500" dirty="0"/>
          </a:p>
        </p:txBody>
      </p:sp>
      <p:sp>
        <p:nvSpPr>
          <p:cNvPr id="23" name="feature 2 circle"/>
          <p:cNvSpPr/>
          <p:nvPr/>
        </p:nvSpPr>
        <p:spPr>
          <a:xfrm>
            <a:off x="8823960" y="5632704"/>
            <a:ext cx="548640" cy="548640"/>
          </a:xfrm>
          <a:prstGeom prst="ellipse">
            <a:avLst/>
          </a:prstGeom>
          <a:solidFill>
            <a:srgbClr val="455A64"/>
          </a:solidFill>
          <a:ln w="12700">
            <a:solidFill>
              <a:srgbClr val="455A64"/>
            </a:solidFill>
            <a:prstDash val="solid"/>
          </a:ln>
        </p:spPr>
      </p:sp>
      <p:pic>
        <p:nvPicPr>
          <p:cNvPr id="24" name="feature 2 icon" descr="preencoded.png">    </p:cNvPr>
          <p:cNvPicPr>
            <a:picLocks noChangeAspect="1"/>
          </p:cNvPicPr>
          <p:nvPr/>
        </p:nvPicPr>
        <p:blipFill>
          <a:blip r:embed="rId5"/>
          <a:stretch>
            <a:fillRect/>
          </a:stretch>
        </p:blipFill>
        <p:spPr>
          <a:xfrm>
            <a:off x="8972093" y="5780837"/>
            <a:ext cx="252374" cy="252374"/>
          </a:xfrm>
          <a:prstGeom prst="rect">
            <a:avLst/>
          </a:prstGeom>
        </p:spPr>
      </p:pic>
      <p:sp>
        <p:nvSpPr>
          <p:cNvPr id="25" name="Text 16"/>
          <p:cNvSpPr txBox="1"/>
          <p:nvPr/>
        </p:nvSpPr>
        <p:spPr>
          <a:xfrm>
            <a:off x="9601200" y="5614416"/>
            <a:ext cx="5760720" cy="384048"/>
          </a:xfrm>
          <a:prstGeom prst="rect">
            <a:avLst/>
          </a:prstGeom>
          <a:noFill/>
          <a:ln/>
        </p:spPr>
        <p:txBody>
          <a:bodyPr wrap="square" lIns="0" tIns="0" rIns="0" bIns="0" rtlCol="0" anchor="t"/>
          <a:lstStyle/>
          <a:p>
            <a:pPr indent="0" marL="0">
              <a:buNone/>
            </a:pPr>
            <a:r>
              <a:rPr lang="en-US" sz="1800" b="1" dirty="0">
                <a:solidFill>
                  <a:srgbClr val="263238"/>
                </a:solidFill>
              </a:rPr>
              <a:t>Threat intelligence</a:t>
            </a:r>
            <a:endParaRPr lang="en-US" sz="1800" dirty="0"/>
          </a:p>
        </p:txBody>
      </p:sp>
      <p:sp>
        <p:nvSpPr>
          <p:cNvPr id="26" name="Text 17"/>
          <p:cNvSpPr txBox="1"/>
          <p:nvPr/>
        </p:nvSpPr>
        <p:spPr>
          <a:xfrm>
            <a:off x="9601200" y="6016752"/>
            <a:ext cx="5760720" cy="640080"/>
          </a:xfrm>
          <a:prstGeom prst="rect">
            <a:avLst/>
          </a:prstGeom>
          <a:noFill/>
          <a:ln/>
        </p:spPr>
        <p:txBody>
          <a:bodyPr wrap="square" lIns="0" tIns="0" rIns="0" bIns="0" rtlCol="0" anchor="t"/>
          <a:lstStyle/>
          <a:p>
            <a:pPr indent="0" marL="0">
              <a:buNone/>
            </a:pPr>
            <a:r>
              <a:rPr lang="en-US" sz="1500" dirty="0">
                <a:solidFill>
                  <a:srgbClr val="78909C"/>
                </a:solidFill>
              </a:rPr>
              <a:t>16 detection classes, MITRE ATT&amp;CK, IOCs, STIX 2.1, alerts</a:t>
            </a:r>
            <a:endParaRPr lang="en-US" sz="1500" dirty="0"/>
          </a:p>
        </p:txBody>
      </p:sp>
      <p:sp>
        <p:nvSpPr>
          <p:cNvPr id="27" name="feature 3 circle"/>
          <p:cNvSpPr/>
          <p:nvPr/>
        </p:nvSpPr>
        <p:spPr>
          <a:xfrm>
            <a:off x="8823960" y="6894576"/>
            <a:ext cx="548640" cy="548640"/>
          </a:xfrm>
          <a:prstGeom prst="ellipse">
            <a:avLst/>
          </a:prstGeom>
          <a:solidFill>
            <a:srgbClr val="455A64"/>
          </a:solidFill>
          <a:ln w="12700">
            <a:solidFill>
              <a:srgbClr val="455A64"/>
            </a:solidFill>
            <a:prstDash val="solid"/>
          </a:ln>
        </p:spPr>
      </p:sp>
      <p:pic>
        <p:nvPicPr>
          <p:cNvPr id="28" name="feature 3 icon" descr="preencoded.png">    </p:cNvPr>
          <p:cNvPicPr>
            <a:picLocks noChangeAspect="1"/>
          </p:cNvPicPr>
          <p:nvPr/>
        </p:nvPicPr>
        <p:blipFill>
          <a:blip r:embed="rId6"/>
          <a:stretch>
            <a:fillRect/>
          </a:stretch>
        </p:blipFill>
        <p:spPr>
          <a:xfrm>
            <a:off x="8972093" y="7042709"/>
            <a:ext cx="252374" cy="252374"/>
          </a:xfrm>
          <a:prstGeom prst="rect">
            <a:avLst/>
          </a:prstGeom>
        </p:spPr>
      </p:pic>
      <p:sp>
        <p:nvSpPr>
          <p:cNvPr id="29" name="Text 19"/>
          <p:cNvSpPr txBox="1"/>
          <p:nvPr/>
        </p:nvSpPr>
        <p:spPr>
          <a:xfrm>
            <a:off x="9601200" y="6876288"/>
            <a:ext cx="5760720" cy="384048"/>
          </a:xfrm>
          <a:prstGeom prst="rect">
            <a:avLst/>
          </a:prstGeom>
          <a:noFill/>
          <a:ln/>
        </p:spPr>
        <p:txBody>
          <a:bodyPr wrap="square" lIns="0" tIns="0" rIns="0" bIns="0" rtlCol="0" anchor="t"/>
          <a:lstStyle/>
          <a:p>
            <a:pPr indent="0" marL="0">
              <a:buNone/>
            </a:pPr>
            <a:r>
              <a:rPr lang="en-US" sz="1800" b="1" dirty="0">
                <a:solidFill>
                  <a:srgbClr val="263238"/>
                </a:solidFill>
              </a:rPr>
              <a:t>Live SOC dashboard</a:t>
            </a:r>
            <a:endParaRPr lang="en-US" sz="1800" dirty="0"/>
          </a:p>
        </p:txBody>
      </p:sp>
      <p:sp>
        <p:nvSpPr>
          <p:cNvPr id="30" name="Text 20"/>
          <p:cNvSpPr txBox="1"/>
          <p:nvPr/>
        </p:nvSpPr>
        <p:spPr>
          <a:xfrm>
            <a:off x="9601200" y="7278624"/>
            <a:ext cx="5760720" cy="640080"/>
          </a:xfrm>
          <a:prstGeom prst="rect">
            <a:avLst/>
          </a:prstGeom>
          <a:noFill/>
          <a:ln/>
        </p:spPr>
        <p:txBody>
          <a:bodyPr wrap="square" lIns="0" tIns="0" rIns="0" bIns="0" rtlCol="0" anchor="t"/>
          <a:lstStyle/>
          <a:p>
            <a:pPr indent="0" marL="0">
              <a:buNone/>
            </a:pPr>
            <a:r>
              <a:rPr lang="en-US" sz="1500" dirty="0">
                <a:solidFill>
                  <a:srgbClr val="78909C"/>
                </a:solidFill>
              </a:rPr>
              <a:t>React dashboard with WebSocket push, replay and reports</a:t>
            </a:r>
            <a:endParaRPr lang="en-US" sz="1500" dirty="0"/>
          </a:p>
        </p:txBody>
      </p:sp>
      <p:sp>
        <p:nvSpPr>
          <p:cNvPr id="25" name="Slide Number Placeholder 0"/>
          <p:cNvSpPr>
            <a:spLocks noGrp="1"/>
          </p:cNvSpPr>
          <p:nvPr>
            <p:ph type="sldNum" sz="quarter" idx="4294967295"/>
          </p:nvPr>
        </p:nvSpPr>
        <p:spPr>
          <a:xfrm>
            <a:off x="14794992" y="8549640"/>
            <a:ext cx="91440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685800" y="365760"/>
            <a:ext cx="10972800" cy="365760"/>
          </a:xfrm>
          <a:prstGeom prst="rect">
            <a:avLst/>
          </a:prstGeom>
          <a:noFill/>
          <a:ln/>
        </p:spPr>
        <p:txBody>
          <a:bodyPr wrap="square" lIns="0" tIns="0" rIns="0" bIns="0" rtlCol="0"/>
          <a:lstStyle/>
          <a:p>
            <a:pPr indent="0" marL="0">
              <a:buNone/>
            </a:pPr>
            <a:r>
              <a:rPr lang="en-US" sz="1200" b="1" spc="200" kern="0" dirty="0">
                <a:solidFill>
                  <a:schemeClr val="accent3"/>
                </a:solidFill>
              </a:rPr>
              <a:t>01 — PROJECT INTRODUCTION</a:t>
            </a:r>
            <a:endParaRPr lang="en-US" sz="1200" dirty="0"/>
          </a:p>
        </p:txBody>
      </p:sp>
      <p:sp>
        <p:nvSpPr>
          <p:cNvPr id="3" name="Text 0"/>
          <p:cNvSpPr/>
          <p:nvPr>
            <p:ph idx="101" type="title" hasCustomPrompt="1"/>
          </p:nvPr>
        </p:nvSpPr>
        <p:spPr>
          <a:xfrm>
            <a:off x="685800" y="731520"/>
            <a:ext cx="14886432" cy="822960"/>
          </a:xfrm>
          <a:prstGeom prst="rect">
            <a:avLst/>
          </a:prstGeom>
          <a:noFill/>
          <a:ln/>
        </p:spPr>
        <p:txBody>
          <a:bodyPr wrap="square" lIns="0" tIns="0" rIns="0" bIns="0" rtlCol="0" anchor="t"/>
          <a:lstStyle/>
          <a:p>
            <a:pPr algn="l" indent="0" marL="0">
              <a:buNone/>
            </a:pPr>
            <a:r>
              <a:rPr lang="en-US" sz="3600" b="1" dirty="0">
                <a:solidFill>
                  <a:schemeClr val="tx1"/>
                </a:solidFill>
              </a:rPr>
              <a:t>System at a Glance</a:t>
            </a:r>
            <a:endParaRPr lang="en-US" sz="3600" dirty="0"/>
          </a:p>
        </p:txBody>
      </p:sp>
      <p:pic>
        <p:nvPicPr>
          <p:cNvPr id="5" name="architecture diagram" descr="/tmp/claude-0/-home-claude/20c42fea-0b24-5b6e-95a5-e2a8cb74a1e4/scratchpad/arch/arch70.png">    </p:cNvPr>
          <p:cNvPicPr>
            <a:picLocks noChangeAspect="1"/>
          </p:cNvPicPr>
          <p:nvPr/>
        </p:nvPicPr>
        <p:blipFill>
          <a:blip r:embed="rId1"/>
          <a:stretch>
            <a:fillRect/>
          </a:stretch>
        </p:blipFill>
        <p:spPr>
          <a:xfrm>
            <a:off x="685800" y="1783080"/>
            <a:ext cx="9072979" cy="6675120"/>
          </a:xfrm>
          <a:prstGeom prst="rect">
            <a:avLst/>
          </a:prstGeom>
        </p:spPr>
      </p:pic>
      <p:sp>
        <p:nvSpPr>
          <p:cNvPr id="6" name="architecture diagram frame"/>
          <p:cNvSpPr/>
          <p:nvPr/>
        </p:nvSpPr>
        <p:spPr>
          <a:xfrm>
            <a:off x="685800" y="1783080"/>
            <a:ext cx="9072979" cy="6675120"/>
          </a:xfrm>
          <a:prstGeom prst="rect">
            <a:avLst/>
          </a:prstGeom>
          <a:ln w="9525">
            <a:solidFill>
              <a:srgbClr val="CFD8DC"/>
            </a:solidFill>
            <a:prstDash val="solid"/>
          </a:ln>
        </p:spPr>
      </p:sp>
      <p:sp>
        <p:nvSpPr>
          <p:cNvPr id="7" name="stat 3"/>
          <p:cNvSpPr/>
          <p:nvPr/>
        </p:nvSpPr>
        <p:spPr>
          <a:xfrm>
            <a:off x="11201400" y="1783080"/>
            <a:ext cx="4370832" cy="1463040"/>
          </a:xfrm>
          <a:prstGeom prst="roundRect">
            <a:avLst>
              <a:gd name="adj" fmla="val 5000"/>
            </a:avLst>
          </a:prstGeom>
          <a:solidFill>
            <a:srgbClr val="FFFFFF"/>
          </a:solidFill>
          <a:ln w="9525">
            <a:solidFill>
              <a:srgbClr val="CFD8DC"/>
            </a:solidFill>
            <a:prstDash val="solid"/>
          </a:ln>
        </p:spPr>
      </p:sp>
      <p:sp>
        <p:nvSpPr>
          <p:cNvPr id="8" name="Text 4"/>
          <p:cNvSpPr txBox="1"/>
          <p:nvPr/>
        </p:nvSpPr>
        <p:spPr>
          <a:xfrm>
            <a:off x="11475720" y="1947672"/>
            <a:ext cx="1371600" cy="1005840"/>
          </a:xfrm>
          <a:prstGeom prst="rect">
            <a:avLst/>
          </a:prstGeom>
          <a:noFill/>
          <a:ln/>
        </p:spPr>
        <p:txBody>
          <a:bodyPr wrap="square" lIns="0" tIns="0" rIns="0" bIns="0" rtlCol="0" anchor="ctr"/>
          <a:lstStyle/>
          <a:p>
            <a:pPr indent="0" marL="0">
              <a:buNone/>
            </a:pPr>
            <a:r>
              <a:rPr lang="en-US" sz="5400" b="1" dirty="0">
                <a:solidFill>
                  <a:srgbClr val="E09B00"/>
                </a:solidFill>
              </a:rPr>
              <a:t>3</a:t>
            </a:r>
            <a:endParaRPr lang="en-US" sz="5400" dirty="0"/>
          </a:p>
        </p:txBody>
      </p:sp>
      <p:sp>
        <p:nvSpPr>
          <p:cNvPr id="9" name="Text 5"/>
          <p:cNvSpPr txBox="1"/>
          <p:nvPr/>
        </p:nvSpPr>
        <p:spPr>
          <a:xfrm>
            <a:off x="12801600" y="2057400"/>
            <a:ext cx="2606040" cy="914400"/>
          </a:xfrm>
          <a:prstGeom prst="rect">
            <a:avLst/>
          </a:prstGeom>
          <a:noFill/>
          <a:ln/>
        </p:spPr>
        <p:txBody>
          <a:bodyPr wrap="square" lIns="0" tIns="0" rIns="0" bIns="0" rtlCol="0" anchor="ctr"/>
          <a:lstStyle/>
          <a:p>
            <a:pPr indent="0" marL="0">
              <a:buNone/>
            </a:pPr>
            <a:r>
              <a:rPr lang="en-US" sz="1600" dirty="0">
                <a:solidFill>
                  <a:srgbClr val="37474F"/>
                </a:solidFill>
              </a:rPr>
              <a:t>emulated IoT devices</a:t>
            </a:r>
            <a:endParaRPr lang="en-US" sz="1600" dirty="0"/>
          </a:p>
        </p:txBody>
      </p:sp>
      <p:sp>
        <p:nvSpPr>
          <p:cNvPr id="10" name="stat 5"/>
          <p:cNvSpPr/>
          <p:nvPr/>
        </p:nvSpPr>
        <p:spPr>
          <a:xfrm>
            <a:off x="11201400" y="3474720"/>
            <a:ext cx="4370832" cy="1463040"/>
          </a:xfrm>
          <a:prstGeom prst="roundRect">
            <a:avLst>
              <a:gd name="adj" fmla="val 5000"/>
            </a:avLst>
          </a:prstGeom>
          <a:solidFill>
            <a:srgbClr val="FFFFFF"/>
          </a:solidFill>
          <a:ln w="9525">
            <a:solidFill>
              <a:srgbClr val="CFD8DC"/>
            </a:solidFill>
            <a:prstDash val="solid"/>
          </a:ln>
        </p:spPr>
      </p:sp>
      <p:sp>
        <p:nvSpPr>
          <p:cNvPr id="11" name="Text 7"/>
          <p:cNvSpPr txBox="1"/>
          <p:nvPr/>
        </p:nvSpPr>
        <p:spPr>
          <a:xfrm>
            <a:off x="11475720" y="3639312"/>
            <a:ext cx="1371600" cy="1005840"/>
          </a:xfrm>
          <a:prstGeom prst="rect">
            <a:avLst/>
          </a:prstGeom>
          <a:noFill/>
          <a:ln/>
        </p:spPr>
        <p:txBody>
          <a:bodyPr wrap="square" lIns="0" tIns="0" rIns="0" bIns="0" rtlCol="0" anchor="ctr"/>
          <a:lstStyle/>
          <a:p>
            <a:pPr indent="0" marL="0">
              <a:buNone/>
            </a:pPr>
            <a:r>
              <a:rPr lang="en-US" sz="5400" b="1" dirty="0">
                <a:solidFill>
                  <a:srgbClr val="E09B00"/>
                </a:solidFill>
              </a:rPr>
              <a:t>5</a:t>
            </a:r>
            <a:endParaRPr lang="en-US" sz="5400" dirty="0"/>
          </a:p>
        </p:txBody>
      </p:sp>
      <p:sp>
        <p:nvSpPr>
          <p:cNvPr id="12" name="Text 8"/>
          <p:cNvSpPr txBox="1"/>
          <p:nvPr/>
        </p:nvSpPr>
        <p:spPr>
          <a:xfrm>
            <a:off x="12801600" y="3749040"/>
            <a:ext cx="2606040" cy="914400"/>
          </a:xfrm>
          <a:prstGeom prst="rect">
            <a:avLst/>
          </a:prstGeom>
          <a:noFill/>
          <a:ln/>
        </p:spPr>
        <p:txBody>
          <a:bodyPr wrap="square" lIns="0" tIns="0" rIns="0" bIns="0" rtlCol="0" anchor="ctr"/>
          <a:lstStyle/>
          <a:p>
            <a:pPr indent="0" marL="0">
              <a:buNone/>
            </a:pPr>
            <a:r>
              <a:rPr lang="en-US" sz="1600" dirty="0">
                <a:solidFill>
                  <a:srgbClr val="37474F"/>
                </a:solidFill>
              </a:rPr>
              <a:t>protocols: SSH, Telnet, HTTP/S, MQTT, RTSP</a:t>
            </a:r>
            <a:endParaRPr lang="en-US" sz="1600" dirty="0"/>
          </a:p>
        </p:txBody>
      </p:sp>
      <p:sp>
        <p:nvSpPr>
          <p:cNvPr id="13" name="stat 13"/>
          <p:cNvSpPr/>
          <p:nvPr/>
        </p:nvSpPr>
        <p:spPr>
          <a:xfrm>
            <a:off x="11201400" y="5166360"/>
            <a:ext cx="4370832" cy="1463040"/>
          </a:xfrm>
          <a:prstGeom prst="roundRect">
            <a:avLst>
              <a:gd name="adj" fmla="val 5000"/>
            </a:avLst>
          </a:prstGeom>
          <a:solidFill>
            <a:srgbClr val="FFFFFF"/>
          </a:solidFill>
          <a:ln w="9525">
            <a:solidFill>
              <a:srgbClr val="CFD8DC"/>
            </a:solidFill>
            <a:prstDash val="solid"/>
          </a:ln>
        </p:spPr>
      </p:sp>
      <p:sp>
        <p:nvSpPr>
          <p:cNvPr id="14" name="Text 10"/>
          <p:cNvSpPr txBox="1"/>
          <p:nvPr/>
        </p:nvSpPr>
        <p:spPr>
          <a:xfrm>
            <a:off x="11475720" y="5330952"/>
            <a:ext cx="1371600" cy="1005840"/>
          </a:xfrm>
          <a:prstGeom prst="rect">
            <a:avLst/>
          </a:prstGeom>
          <a:noFill/>
          <a:ln/>
        </p:spPr>
        <p:txBody>
          <a:bodyPr wrap="square" lIns="0" tIns="0" rIns="0" bIns="0" rtlCol="0" anchor="ctr"/>
          <a:lstStyle/>
          <a:p>
            <a:pPr indent="0" marL="0">
              <a:buNone/>
            </a:pPr>
            <a:r>
              <a:rPr lang="en-US" sz="5400" b="1" dirty="0">
                <a:solidFill>
                  <a:srgbClr val="E09B00"/>
                </a:solidFill>
              </a:rPr>
              <a:t>13</a:t>
            </a:r>
            <a:endParaRPr lang="en-US" sz="5400" dirty="0"/>
          </a:p>
        </p:txBody>
      </p:sp>
      <p:sp>
        <p:nvSpPr>
          <p:cNvPr id="15" name="Text 11"/>
          <p:cNvSpPr txBox="1"/>
          <p:nvPr/>
        </p:nvSpPr>
        <p:spPr>
          <a:xfrm>
            <a:off x="12801600" y="5440680"/>
            <a:ext cx="2606040" cy="914400"/>
          </a:xfrm>
          <a:prstGeom prst="rect">
            <a:avLst/>
          </a:prstGeom>
          <a:noFill/>
          <a:ln/>
        </p:spPr>
        <p:txBody>
          <a:bodyPr wrap="square" lIns="0" tIns="0" rIns="0" bIns="0" rtlCol="0" anchor="ctr"/>
          <a:lstStyle/>
          <a:p>
            <a:pPr indent="0" marL="0">
              <a:buNone/>
            </a:pPr>
            <a:r>
              <a:rPr lang="en-US" sz="1600" dirty="0">
                <a:solidFill>
                  <a:srgbClr val="37474F"/>
                </a:solidFill>
              </a:rPr>
              <a:t>Docker services on 4 networks</a:t>
            </a:r>
            <a:endParaRPr lang="en-US" sz="1600" dirty="0"/>
          </a:p>
        </p:txBody>
      </p:sp>
      <p:sp>
        <p:nvSpPr>
          <p:cNvPr id="16" name="stat 16"/>
          <p:cNvSpPr/>
          <p:nvPr/>
        </p:nvSpPr>
        <p:spPr>
          <a:xfrm>
            <a:off x="11201400" y="6858000"/>
            <a:ext cx="4370832" cy="1463040"/>
          </a:xfrm>
          <a:prstGeom prst="roundRect">
            <a:avLst>
              <a:gd name="adj" fmla="val 5000"/>
            </a:avLst>
          </a:prstGeom>
          <a:solidFill>
            <a:srgbClr val="FFFFFF"/>
          </a:solidFill>
          <a:ln w="9525">
            <a:solidFill>
              <a:srgbClr val="CFD8DC"/>
            </a:solidFill>
            <a:prstDash val="solid"/>
          </a:ln>
        </p:spPr>
      </p:sp>
      <p:sp>
        <p:nvSpPr>
          <p:cNvPr id="17" name="Text 13"/>
          <p:cNvSpPr txBox="1"/>
          <p:nvPr/>
        </p:nvSpPr>
        <p:spPr>
          <a:xfrm>
            <a:off x="11475720" y="7022592"/>
            <a:ext cx="1371600" cy="1005840"/>
          </a:xfrm>
          <a:prstGeom prst="rect">
            <a:avLst/>
          </a:prstGeom>
          <a:noFill/>
          <a:ln/>
        </p:spPr>
        <p:txBody>
          <a:bodyPr wrap="square" lIns="0" tIns="0" rIns="0" bIns="0" rtlCol="0" anchor="ctr"/>
          <a:lstStyle/>
          <a:p>
            <a:pPr indent="0" marL="0">
              <a:buNone/>
            </a:pPr>
            <a:r>
              <a:rPr lang="en-US" sz="5400" b="1" dirty="0">
                <a:solidFill>
                  <a:srgbClr val="E09B00"/>
                </a:solidFill>
              </a:rPr>
              <a:t>16</a:t>
            </a:r>
            <a:endParaRPr lang="en-US" sz="5400" dirty="0"/>
          </a:p>
        </p:txBody>
      </p:sp>
      <p:sp>
        <p:nvSpPr>
          <p:cNvPr id="18" name="Text 14"/>
          <p:cNvSpPr txBox="1"/>
          <p:nvPr/>
        </p:nvSpPr>
        <p:spPr>
          <a:xfrm>
            <a:off x="12801600" y="7132320"/>
            <a:ext cx="2606040" cy="914400"/>
          </a:xfrm>
          <a:prstGeom prst="rect">
            <a:avLst/>
          </a:prstGeom>
          <a:noFill/>
          <a:ln/>
        </p:spPr>
        <p:txBody>
          <a:bodyPr wrap="square" lIns="0" tIns="0" rIns="0" bIns="0" rtlCol="0" anchor="ctr"/>
          <a:lstStyle/>
          <a:p>
            <a:pPr indent="0" marL="0">
              <a:buNone/>
            </a:pPr>
            <a:r>
              <a:rPr lang="en-US" sz="1600" dirty="0">
                <a:solidFill>
                  <a:srgbClr val="37474F"/>
                </a:solidFill>
              </a:rPr>
              <a:t>attack classes with MITRE ATT&amp;CK</a:t>
            </a:r>
            <a:endParaRPr lang="en-US" sz="1600" dirty="0"/>
          </a:p>
        </p:txBody>
      </p:sp>
      <p:sp>
        <p:nvSpPr>
          <p:cNvPr id="25" name="Slide Number Placeholder 0"/>
          <p:cNvSpPr>
            <a:spLocks noGrp="1"/>
          </p:cNvSpPr>
          <p:nvPr>
            <p:ph type="sldNum" sz="quarter" idx="4294967295"/>
          </p:nvPr>
        </p:nvSpPr>
        <p:spPr>
          <a:xfrm>
            <a:off x="14794992" y="8549640"/>
            <a:ext cx="91440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685800" y="2743200"/>
            <a:ext cx="5486400" cy="1371600"/>
          </a:xfrm>
          <a:prstGeom prst="rect">
            <a:avLst/>
          </a:prstGeom>
          <a:noFill/>
          <a:ln/>
        </p:spPr>
        <p:txBody>
          <a:bodyPr wrap="square" lIns="0" tIns="0" rIns="0" bIns="0" rtlCol="0"/>
          <a:lstStyle/>
          <a:p>
            <a:pPr indent="0" marL="0">
              <a:buNone/>
            </a:pPr>
            <a:r>
              <a:rPr lang="en-US" sz="8000" b="1" dirty="0">
                <a:solidFill>
                  <a:schemeClr val="accent2"/>
                </a:solidFill>
              </a:rPr>
              <a:t>02</a:t>
            </a:r>
            <a:endParaRPr lang="en-US" sz="8000" dirty="0"/>
          </a:p>
        </p:txBody>
      </p:sp>
      <p:sp>
        <p:nvSpPr>
          <p:cNvPr id="3" name="Text 0"/>
          <p:cNvSpPr/>
          <p:nvPr>
            <p:ph idx="101" type="title" hasCustomPrompt="1"/>
          </p:nvPr>
        </p:nvSpPr>
        <p:spPr>
          <a:xfrm>
            <a:off x="685800" y="4206240"/>
            <a:ext cx="12801600" cy="1097280"/>
          </a:xfrm>
          <a:prstGeom prst="rect">
            <a:avLst/>
          </a:prstGeom>
          <a:noFill/>
          <a:ln/>
        </p:spPr>
        <p:txBody>
          <a:bodyPr wrap="square" lIns="0" tIns="0" rIns="0" bIns="0" rtlCol="0"/>
          <a:lstStyle/>
          <a:p>
            <a:pPr algn="l" indent="0" marL="0">
              <a:buNone/>
            </a:pPr>
            <a:r>
              <a:rPr lang="en-US" sz="4800" b="1" dirty="0">
                <a:solidFill>
                  <a:schemeClr val="bg1"/>
                </a:solidFill>
              </a:rPr>
              <a:t>Changes &amp; Improvements</a:t>
            </a:r>
            <a:endParaRPr lang="en-US" sz="4800" dirty="0"/>
          </a:p>
        </p:txBody>
      </p:sp>
      <p:sp>
        <p:nvSpPr>
          <p:cNvPr id="4" name="Text 0"/>
          <p:cNvSpPr/>
          <p:nvPr>
            <p:ph idx="102" type="body" hasCustomPrompt="1"/>
          </p:nvPr>
        </p:nvSpPr>
        <p:spPr>
          <a:xfrm>
            <a:off x="685800" y="5349240"/>
            <a:ext cx="12801600" cy="731520"/>
          </a:xfrm>
          <a:prstGeom prst="rect">
            <a:avLst/>
          </a:prstGeom>
          <a:noFill/>
          <a:ln/>
        </p:spPr>
        <p:txBody>
          <a:bodyPr wrap="square" lIns="0" tIns="0" rIns="0" bIns="0" rtlCol="0"/>
          <a:lstStyle/>
          <a:p>
            <a:pPr indent="0" marL="0">
              <a:buNone/>
            </a:pPr>
            <a:r>
              <a:rPr lang="en-US" sz="2000" dirty="0">
                <a:solidFill>
                  <a:schemeClr val="accent6"/>
                </a:solidFill>
              </a:rPr>
              <a:t>Feedback from the SDS and 30% evaluations, and what we changed</a:t>
            </a:r>
            <a:endParaRPr lang="en-US" sz="2000" dirty="0"/>
          </a:p>
        </p:txBody>
      </p:sp>
      <p:sp>
        <p:nvSpPr>
          <p:cNvPr id="25" name="Slide Number Placeholder 0"/>
          <p:cNvSpPr>
            <a:spLocks noGrp="1"/>
          </p:cNvSpPr>
          <p:nvPr>
            <p:ph type="sldNum" sz="quarter" idx="4294967295"/>
          </p:nvPr>
        </p:nvSpPr>
        <p:spPr>
          <a:xfrm>
            <a:off x="14794992" y="8549640"/>
            <a:ext cx="91440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685800" y="365760"/>
            <a:ext cx="10972800" cy="365760"/>
          </a:xfrm>
          <a:prstGeom prst="rect">
            <a:avLst/>
          </a:prstGeom>
          <a:noFill/>
          <a:ln/>
        </p:spPr>
        <p:txBody>
          <a:bodyPr wrap="square" lIns="0" tIns="0" rIns="0" bIns="0" rtlCol="0"/>
          <a:lstStyle/>
          <a:p>
            <a:pPr indent="0" marL="0">
              <a:buNone/>
            </a:pPr>
            <a:r>
              <a:rPr lang="en-US" sz="1200" b="1" spc="200" kern="0" dirty="0">
                <a:solidFill>
                  <a:schemeClr val="accent3"/>
                </a:solidFill>
              </a:rPr>
              <a:t>02 — CHANGES &amp; IMPROVEMENTS</a:t>
            </a:r>
            <a:endParaRPr lang="en-US" sz="1200" dirty="0"/>
          </a:p>
        </p:txBody>
      </p:sp>
      <p:sp>
        <p:nvSpPr>
          <p:cNvPr id="3" name="Text 0"/>
          <p:cNvSpPr/>
          <p:nvPr>
            <p:ph idx="101" type="title" hasCustomPrompt="1"/>
          </p:nvPr>
        </p:nvSpPr>
        <p:spPr>
          <a:xfrm>
            <a:off x="685800" y="731520"/>
            <a:ext cx="14886432" cy="822960"/>
          </a:xfrm>
          <a:prstGeom prst="rect">
            <a:avLst/>
          </a:prstGeom>
          <a:noFill/>
          <a:ln/>
        </p:spPr>
        <p:txBody>
          <a:bodyPr wrap="square" lIns="0" tIns="0" rIns="0" bIns="0" rtlCol="0" anchor="t"/>
          <a:lstStyle/>
          <a:p>
            <a:pPr algn="l" indent="0" marL="0">
              <a:buNone/>
            </a:pPr>
            <a:r>
              <a:rPr lang="en-US" sz="3600" b="1" dirty="0">
                <a:solidFill>
                  <a:schemeClr val="tx1"/>
                </a:solidFill>
              </a:rPr>
              <a:t>Committee Feedback and Our Response</a:t>
            </a:r>
            <a:endParaRPr lang="en-US" sz="3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85800" y="1828800"/>
          <a:ext cx="14886432" cy="914400"/>
        </p:xfrm>
        <a:graphic>
          <a:graphicData uri="http://schemas.openxmlformats.org/drawingml/2006/table">
            <a:tbl>
              <a:tblPr/>
              <a:tblGrid>
                <a:gridCol w="3108960"/>
                <a:gridCol w="2377440"/>
                <a:gridCol w="6583680"/>
                <a:gridCol w="2816352"/>
              </a:tblGrid>
              <a:tr h="502920">
                <a:tc>
                  <a:txBody>
                    <a:bodyPr/>
                    <a:lstStyle/>
                    <a:p>
                      <a:pPr indent="0" marL="0">
                        <a:buNone/>
                      </a:pPr>
                      <a:r>
                        <a:rPr lang="en-US" sz="1400" b="1" dirty="0">
                          <a:solidFill>
                            <a:srgbClr val="FFFFFF"/>
                          </a:solidFill>
                        </a:rPr>
                        <a:t>Feedback</a:t>
                      </a:r>
                      <a:endParaRPr lang="en-US" sz="14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37474F"/>
                    </a:solidFill>
                  </a:tcPr>
                </a:tc>
                <a:tc>
                  <a:txBody>
                    <a:bodyPr/>
                    <a:lstStyle/>
                    <a:p>
                      <a:pPr indent="0" marL="0">
                        <a:buNone/>
                      </a:pPr>
                      <a:r>
                        <a:rPr lang="en-US" sz="1400" b="1" dirty="0">
                          <a:solidFill>
                            <a:srgbClr val="FFFFFF"/>
                          </a:solidFill>
                        </a:rPr>
                        <a:t>Source</a:t>
                      </a:r>
                      <a:endParaRPr lang="en-US" sz="14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37474F"/>
                    </a:solidFill>
                  </a:tcPr>
                </a:tc>
                <a:tc>
                  <a:txBody>
                    <a:bodyPr/>
                    <a:lstStyle/>
                    <a:p>
                      <a:pPr indent="0" marL="0">
                        <a:buNone/>
                      </a:pPr>
                      <a:r>
                        <a:rPr lang="en-US" sz="1400" b="1" dirty="0">
                          <a:solidFill>
                            <a:srgbClr val="FFFFFF"/>
                          </a:solidFill>
                        </a:rPr>
                        <a:t>What we changed</a:t>
                      </a:r>
                      <a:endParaRPr lang="en-US" sz="14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37474F"/>
                    </a:solidFill>
                  </a:tcPr>
                </a:tc>
                <a:tc>
                  <a:txBody>
                    <a:bodyPr/>
                    <a:lstStyle/>
                    <a:p>
                      <a:pPr indent="0" marL="0">
                        <a:buNone/>
                      </a:pPr>
                      <a:r>
                        <a:rPr lang="en-US" sz="1400" b="1" dirty="0">
                          <a:solidFill>
                            <a:srgbClr val="FFFFFF"/>
                          </a:solidFill>
                        </a:rPr>
                        <a:t>Evidence</a:t>
                      </a:r>
                      <a:endParaRPr lang="en-US" sz="14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37474F"/>
                    </a:solidFill>
                  </a:tcPr>
                </a:tc>
              </a:tr>
              <a:tr h="914400">
                <a:tc>
                  <a:txBody>
                    <a:bodyPr/>
                    <a:lstStyle/>
                    <a:p>
                      <a:pPr indent="0" marL="0">
                        <a:buNone/>
                      </a:pPr>
                      <a:r>
                        <a:rPr lang="en-US" sz="1600" dirty="0">
                          <a:solidFill>
                            <a:srgbClr val="37474F"/>
                          </a:solidFill>
                        </a:rPr>
                        <a:t>Integrate AI/ML with the system</a:t>
                      </a:r>
                      <a:endParaRPr lang="en-US" sz="16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FFFFF"/>
                    </a:solidFill>
                  </a:tcPr>
                </a:tc>
                <a:tc>
                  <a:txBody>
                    <a:bodyPr/>
                    <a:lstStyle/>
                    <a:p>
                      <a:pPr indent="0" marL="0">
                        <a:buNone/>
                      </a:pPr>
                      <a:r>
                        <a:rPr lang="en-US" sz="1600" dirty="0">
                          <a:solidFill>
                            <a:srgbClr val="37474F"/>
                          </a:solidFill>
                        </a:rPr>
                        <a:t>Scope / SDS evaluation</a:t>
                      </a:r>
                      <a:endParaRPr lang="en-US" sz="16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FFFFF"/>
                    </a:solidFill>
                  </a:tcPr>
                </a:tc>
                <a:tc>
                  <a:txBody>
                    <a:bodyPr/>
                    <a:lstStyle/>
                    <a:p>
                      <a:pPr indent="0" marL="0">
                        <a:buNone/>
                      </a:pPr>
                      <a:r>
                        <a:rPr lang="en-US" sz="1600" dirty="0">
                          <a:solidFill>
                            <a:srgbClr val="37474F"/>
                          </a:solidFill>
                        </a:rPr>
                        <a:t>Module 8 started: every session becomes a labelled feature vector (29 features, 6 classes). The rule engine is the baseline the models will be compared to.</a:t>
                      </a:r>
                      <a:endParaRPr lang="en-US" sz="16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FFFFF"/>
                    </a:solidFill>
                  </a:tcPr>
                </a:tc>
                <a:tc>
                  <a:txBody>
                    <a:bodyPr/>
                    <a:lstStyle/>
                    <a:p>
                      <a:pPr indent="0" marL="0">
                        <a:buNone/>
                      </a:pPr>
                      <a:r>
                        <a:rPr lang="en-US" sz="1600" dirty="0">
                          <a:solidFill>
                            <a:srgbClr val="37474F"/>
                          </a:solidFill>
                        </a:rPr>
                        <a:t>Section 06; /api/ml/dataset.csv</a:t>
                      </a:r>
                      <a:endParaRPr lang="en-US" sz="16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FFFFF"/>
                    </a:solidFill>
                  </a:tcPr>
                </a:tc>
              </a:tr>
              <a:tr h="914400">
                <a:tc>
                  <a:txBody>
                    <a:bodyPr/>
                    <a:lstStyle/>
                    <a:p>
                      <a:pPr indent="0" marL="0">
                        <a:buNone/>
                      </a:pPr>
                      <a:r>
                        <a:rPr lang="en-US" sz="1600" dirty="0">
                          <a:solidFill>
                            <a:srgbClr val="37474F"/>
                          </a:solidFill>
                        </a:rPr>
                        <a:t>The scope is too wide — make it concise</a:t>
                      </a:r>
                      <a:endParaRPr lang="en-US" sz="16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AFBFB"/>
                    </a:solidFill>
                  </a:tcPr>
                </a:tc>
                <a:tc>
                  <a:txBody>
                    <a:bodyPr/>
                    <a:lstStyle/>
                    <a:p>
                      <a:pPr indent="0" marL="0">
                        <a:buNone/>
                      </a:pPr>
                      <a:r>
                        <a:rPr lang="en-US" sz="1600" dirty="0">
                          <a:solidFill>
                            <a:srgbClr val="37474F"/>
                          </a:solidFill>
                        </a:rPr>
                        <a:t>Scope evaluation</a:t>
                      </a:r>
                      <a:endParaRPr lang="en-US" sz="16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AFBFB"/>
                    </a:solidFill>
                  </a:tcPr>
                </a:tc>
                <a:tc>
                  <a:txBody>
                    <a:bodyPr/>
                    <a:lstStyle/>
                    <a:p>
                      <a:pPr indent="0" marL="0">
                        <a:buNone/>
                      </a:pPr>
                      <a:r>
                        <a:rPr lang="en-US" sz="1600" dirty="0">
                          <a:solidFill>
                            <a:srgbClr val="37474F"/>
                          </a:solidFill>
                        </a:rPr>
                        <a:t>Fixed to 3 devices × 5 protocols. Heavy tools replaced by lighter equivalents: K3s → Docker Compose, GStreamer → RTSP signalling + SDP, Celery → worker loop.</a:t>
                      </a:r>
                      <a:endParaRPr lang="en-US" sz="16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AFBFB"/>
                    </a:solidFill>
                  </a:tcPr>
                </a:tc>
                <a:tc>
                  <a:txBody>
                    <a:bodyPr/>
                    <a:lstStyle/>
                    <a:p>
                      <a:pPr indent="0" marL="0">
                        <a:buNone/>
                      </a:pPr>
                      <a:r>
                        <a:rPr lang="en-US" sz="1600" dirty="0">
                          <a:solidFill>
                            <a:srgbClr val="37474F"/>
                          </a:solidFill>
                        </a:rPr>
                        <a:t>SDS §1.8 (agreed simplifications)</a:t>
                      </a:r>
                      <a:endParaRPr lang="en-US" sz="16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AFBFB"/>
                    </a:solidFill>
                  </a:tcPr>
                </a:tc>
              </a:tr>
              <a:tr h="777240">
                <a:tc>
                  <a:txBody>
                    <a:bodyPr/>
                    <a:lstStyle/>
                    <a:p>
                      <a:pPr indent="0" marL="0">
                        <a:buNone/>
                      </a:pPr>
                      <a:r>
                        <a:rPr lang="en-US" sz="1600" dirty="0">
                          <a:solidFill>
                            <a:srgbClr val="37474F"/>
                          </a:solidFill>
                        </a:rPr>
                        <a:t>Isolation not enforced</a:t>
                      </a:r>
                      <a:endParaRPr lang="en-US" sz="16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FFFFF"/>
                    </a:solidFill>
                  </a:tcPr>
                </a:tc>
                <a:tc>
                  <a:txBody>
                    <a:bodyPr/>
                    <a:lstStyle/>
                    <a:p>
                      <a:pPr indent="0" marL="0">
                        <a:buNone/>
                      </a:pPr>
                      <a:r>
                        <a:rPr lang="en-US" sz="1600" dirty="0">
                          <a:solidFill>
                            <a:srgbClr val="37474F"/>
                          </a:solidFill>
                        </a:rPr>
                        <a:t>Our review of the 30% build</a:t>
                      </a:r>
                      <a:endParaRPr lang="en-US" sz="16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FFFFF"/>
                    </a:solidFill>
                  </a:tcPr>
                </a:tc>
                <a:tc>
                  <a:txBody>
                    <a:bodyPr/>
                    <a:lstStyle/>
                    <a:p>
                      <a:pPr indent="0" marL="0">
                        <a:buNone/>
                      </a:pPr>
                      <a:r>
                        <a:rPr lang="en-US" sz="1600" dirty="0">
                          <a:solidFill>
                            <a:srgbClr val="37474F"/>
                          </a:solidFill>
                        </a:rPr>
                        <a:t>Firewall service drops every outbound honeypot connection; honeypots start only after its health check passes.</a:t>
                      </a:r>
                      <a:endParaRPr lang="en-US" sz="16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FFFFF"/>
                    </a:solidFill>
                  </a:tcPr>
                </a:tc>
                <a:tc>
                  <a:txBody>
                    <a:bodyPr/>
                    <a:lstStyle/>
                    <a:p>
                      <a:pPr indent="0" marL="0">
                        <a:buNone/>
                      </a:pPr>
                      <a:r>
                        <a:rPr lang="en-US" sz="1600" dirty="0">
                          <a:solidFill>
                            <a:srgbClr val="37474F"/>
                          </a:solidFill>
                        </a:rPr>
                        <a:t>Live: firewall.sh status</a:t>
                      </a:r>
                      <a:endParaRPr lang="en-US" sz="16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FFFFF"/>
                    </a:solidFill>
                  </a:tcPr>
                </a:tc>
              </a:tr>
              <a:tr h="777240">
                <a:tc>
                  <a:txBody>
                    <a:bodyPr/>
                    <a:lstStyle/>
                    <a:p>
                      <a:pPr indent="0" marL="0">
                        <a:buNone/>
                      </a:pPr>
                      <a:r>
                        <a:rPr lang="en-US" sz="1600" dirty="0">
                          <a:solidFill>
                            <a:srgbClr val="37474F"/>
                          </a:solidFill>
                        </a:rPr>
                        <a:t>Logging split over per-protocol SQLite tables</a:t>
                      </a:r>
                      <a:endParaRPr lang="en-US" sz="16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AFBFB"/>
                    </a:solidFill>
                  </a:tcPr>
                </a:tc>
                <a:tc>
                  <a:txBody>
                    <a:bodyPr/>
                    <a:lstStyle/>
                    <a:p>
                      <a:pPr indent="0" marL="0">
                        <a:buNone/>
                      </a:pPr>
                      <a:r>
                        <a:rPr lang="en-US" sz="1600" dirty="0">
                          <a:solidFill>
                            <a:srgbClr val="37474F"/>
                          </a:solidFill>
                        </a:rPr>
                        <a:t>Our review of the 30% build</a:t>
                      </a:r>
                      <a:endParaRPr lang="en-US" sz="16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AFBFB"/>
                    </a:solidFill>
                  </a:tcPr>
                </a:tc>
                <a:tc>
                  <a:txBody>
                    <a:bodyPr/>
                    <a:lstStyle/>
                    <a:p>
                      <a:pPr indent="0" marL="0">
                        <a:buNone/>
                      </a:pPr>
                      <a:r>
                        <a:rPr lang="en-US" sz="1600" dirty="0">
                          <a:solidFill>
                            <a:srgbClr val="37474F"/>
                          </a:solidFill>
                        </a:rPr>
                        <a:t>One PostgreSQL 16 event store for all protocols, plus Redis for shared device state.</a:t>
                      </a:r>
                      <a:endParaRPr lang="en-US" sz="16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AFBFB"/>
                    </a:solidFill>
                  </a:tcPr>
                </a:tc>
                <a:tc>
                  <a:txBody>
                    <a:bodyPr/>
                    <a:lstStyle/>
                    <a:p>
                      <a:pPr indent="0" marL="0">
                        <a:buNone/>
                      </a:pPr>
                      <a:r>
                        <a:rPr lang="en-US" sz="1600" dirty="0">
                          <a:solidFill>
                            <a:srgbClr val="37474F"/>
                          </a:solidFill>
                        </a:rPr>
                        <a:t>ER diagram, SDS §5</a:t>
                      </a:r>
                      <a:endParaRPr lang="en-US" sz="16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AFBFB"/>
                    </a:solidFill>
                  </a:tcPr>
                </a:tc>
              </a:tr>
              <a:tr h="777240">
                <a:tc>
                  <a:txBody>
                    <a:bodyPr/>
                    <a:lstStyle/>
                    <a:p>
                      <a:pPr indent="0" marL="0">
                        <a:buNone/>
                      </a:pPr>
                      <a:r>
                        <a:rPr lang="en-US" sz="1600" dirty="0">
                          <a:solidFill>
                            <a:srgbClr val="37474F"/>
                          </a:solidFill>
                        </a:rPr>
                        <a:t>API published without authentication</a:t>
                      </a:r>
                      <a:endParaRPr lang="en-US" sz="16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FFFFF"/>
                    </a:solidFill>
                  </a:tcPr>
                </a:tc>
                <a:tc>
                  <a:txBody>
                    <a:bodyPr/>
                    <a:lstStyle/>
                    <a:p>
                      <a:pPr indent="0" marL="0">
                        <a:buNone/>
                      </a:pPr>
                      <a:r>
                        <a:rPr lang="en-US" sz="1600" dirty="0">
                          <a:solidFill>
                            <a:srgbClr val="37474F"/>
                          </a:solidFill>
                        </a:rPr>
                        <a:t>Our review of the 30% build</a:t>
                      </a:r>
                      <a:endParaRPr lang="en-US" sz="16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FFFFF"/>
                    </a:solidFill>
                  </a:tcPr>
                </a:tc>
                <a:tc>
                  <a:txBody>
                    <a:bodyPr/>
                    <a:lstStyle/>
                    <a:p>
                      <a:pPr indent="0" marL="0">
                        <a:buNone/>
                      </a:pPr>
                      <a:r>
                        <a:rPr lang="en-US" sz="1600" dirty="0">
                          <a:solidFill>
                            <a:srgbClr val="37474F"/>
                          </a:solidFill>
                        </a:rPr>
                        <a:t>API is internal only; Nginx with bcrypt basic auth is the single entry point.</a:t>
                      </a:r>
                      <a:endParaRPr lang="en-US" sz="16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FFFFF"/>
                    </a:solidFill>
                  </a:tcPr>
                </a:tc>
                <a:tc>
                  <a:txBody>
                    <a:bodyPr/>
                    <a:lstStyle/>
                    <a:p>
                      <a:pPr indent="0" marL="0">
                        <a:buNone/>
                      </a:pPr>
                      <a:r>
                        <a:rPr lang="en-US" sz="1600" dirty="0">
                          <a:solidFill>
                            <a:srgbClr val="37474F"/>
                          </a:solidFill>
                        </a:rPr>
                        <a:t>Login demo (401 / 200)</a:t>
                      </a:r>
                      <a:endParaRPr lang="en-US" sz="16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FFFFF"/>
                    </a:solidFill>
                  </a:tcPr>
                </a:tc>
              </a:tr>
            </a:tbl>
          </a:graphicData>
        </a:graphic>
      </p:graphicFrame>
      <p:sp>
        <p:nvSpPr>
          <p:cNvPr id="6" name="process card"/>
          <p:cNvSpPr/>
          <p:nvPr/>
        </p:nvSpPr>
        <p:spPr>
          <a:xfrm>
            <a:off x="685800" y="6949440"/>
            <a:ext cx="14886432" cy="1325880"/>
          </a:xfrm>
          <a:prstGeom prst="roundRect">
            <a:avLst>
              <a:gd name="adj" fmla="val 5517"/>
            </a:avLst>
          </a:prstGeom>
          <a:solidFill>
            <a:srgbClr val="263238"/>
          </a:solidFill>
          <a:ln w="9525">
            <a:solidFill>
              <a:srgbClr val="CFD8DC"/>
            </a:solidFill>
            <a:prstDash val="solid"/>
          </a:ln>
        </p:spPr>
      </p:sp>
      <p:sp>
        <p:nvSpPr>
          <p:cNvPr id="7" name="process circle"/>
          <p:cNvSpPr/>
          <p:nvPr/>
        </p:nvSpPr>
        <p:spPr>
          <a:xfrm>
            <a:off x="1005840" y="7269480"/>
            <a:ext cx="685800" cy="685800"/>
          </a:xfrm>
          <a:prstGeom prst="ellipse">
            <a:avLst/>
          </a:prstGeom>
          <a:solidFill>
            <a:srgbClr val="E09B00"/>
          </a:solidFill>
          <a:ln w="12700">
            <a:solidFill>
              <a:srgbClr val="E09B00"/>
            </a:solidFill>
            <a:prstDash val="solid"/>
          </a:ln>
        </p:spPr>
      </p:sp>
      <p:pic>
        <p:nvPicPr>
          <p:cNvPr id="8" name="process icon" descr="preencoded.png">    </p:cNvPr>
          <p:cNvPicPr>
            <a:picLocks noChangeAspect="1"/>
          </p:cNvPicPr>
          <p:nvPr/>
        </p:nvPicPr>
        <p:blipFill>
          <a:blip r:embed="rId1"/>
          <a:stretch>
            <a:fillRect/>
          </a:stretch>
        </p:blipFill>
        <p:spPr>
          <a:xfrm>
            <a:off x="1191006" y="7454646"/>
            <a:ext cx="315468" cy="315468"/>
          </a:xfrm>
          <a:prstGeom prst="rect">
            <a:avLst/>
          </a:prstGeom>
        </p:spPr>
      </p:pic>
      <p:sp>
        <p:nvSpPr>
          <p:cNvPr id="9" name="Text 4"/>
          <p:cNvSpPr txBox="1"/>
          <p:nvPr/>
        </p:nvSpPr>
        <p:spPr>
          <a:xfrm>
            <a:off x="1965960" y="7178040"/>
            <a:ext cx="13240512" cy="868680"/>
          </a:xfrm>
          <a:prstGeom prst="rect">
            <a:avLst/>
          </a:prstGeom>
          <a:noFill/>
          <a:ln/>
        </p:spPr>
        <p:txBody>
          <a:bodyPr wrap="square" lIns="0" tIns="0" rIns="0" bIns="0" rtlCol="0" anchor="ctr"/>
          <a:lstStyle/>
          <a:p>
            <a:pPr indent="0" marL="0">
              <a:buNone/>
            </a:pPr>
            <a:r>
              <a:rPr lang="en-US" sz="1800" b="1" dirty="0">
                <a:solidFill>
                  <a:srgbClr val="E09B00"/>
                </a:solidFill>
              </a:rPr>
              <a:t>How we worked: </a:t>
            </a:r>
            <a:pPr indent="0" marL="0">
              <a:buNone/>
            </a:pPr>
            <a:r>
              <a:rPr lang="en-US" sz="1800" dirty="0">
                <a:solidFill>
                  <a:srgbClr val="FFFFFF"/>
                </a:solidFill>
              </a:rPr>
              <a:t>before adding any new feature, we reviewed the 30% build against the scope and fixed every defect we found. Each fix now has an automated regression test.</a:t>
            </a:r>
            <a:endParaRPr lang="en-US" sz="1800" dirty="0"/>
          </a:p>
        </p:txBody>
      </p:sp>
      <p:sp>
        <p:nvSpPr>
          <p:cNvPr id="25" name="Slide Number Placeholder 0"/>
          <p:cNvSpPr>
            <a:spLocks noGrp="1"/>
          </p:cNvSpPr>
          <p:nvPr>
            <p:ph type="sldNum" sz="quarter" idx="4294967295"/>
          </p:nvPr>
        </p:nvSpPr>
        <p:spPr>
          <a:xfrm>
            <a:off x="14794992" y="8549640"/>
            <a:ext cx="91440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685800" y="365760"/>
            <a:ext cx="10972800" cy="365760"/>
          </a:xfrm>
          <a:prstGeom prst="rect">
            <a:avLst/>
          </a:prstGeom>
          <a:noFill/>
          <a:ln/>
        </p:spPr>
        <p:txBody>
          <a:bodyPr wrap="square" lIns="0" tIns="0" rIns="0" bIns="0" rtlCol="0"/>
          <a:lstStyle/>
          <a:p>
            <a:pPr indent="0" marL="0">
              <a:buNone/>
            </a:pPr>
            <a:r>
              <a:rPr lang="en-US" sz="1200" b="1" spc="200" kern="0" dirty="0">
                <a:solidFill>
                  <a:schemeClr val="accent3"/>
                </a:solidFill>
              </a:rPr>
              <a:t>02 — CHANGES &amp; IMPROVEMENTS</a:t>
            </a:r>
            <a:endParaRPr lang="en-US" sz="1200" dirty="0"/>
          </a:p>
        </p:txBody>
      </p:sp>
      <p:sp>
        <p:nvSpPr>
          <p:cNvPr id="3" name="Text 0"/>
          <p:cNvSpPr/>
          <p:nvPr>
            <p:ph idx="101" type="title" hasCustomPrompt="1"/>
          </p:nvPr>
        </p:nvSpPr>
        <p:spPr>
          <a:xfrm>
            <a:off x="685800" y="731520"/>
            <a:ext cx="14886432" cy="822960"/>
          </a:xfrm>
          <a:prstGeom prst="rect">
            <a:avLst/>
          </a:prstGeom>
          <a:noFill/>
          <a:ln/>
        </p:spPr>
        <p:txBody>
          <a:bodyPr wrap="square" lIns="0" tIns="0" rIns="0" bIns="0" rtlCol="0" anchor="t"/>
          <a:lstStyle/>
          <a:p>
            <a:pPr algn="l" indent="0" marL="0">
              <a:buNone/>
            </a:pPr>
            <a:r>
              <a:rPr lang="en-US" sz="3600" b="1" dirty="0">
                <a:solidFill>
                  <a:schemeClr val="tx1"/>
                </a:solidFill>
              </a:rPr>
              <a:t>Major Technical Changes Since 30%</a:t>
            </a:r>
            <a:endParaRPr lang="en-US" sz="3600" dirty="0"/>
          </a:p>
        </p:txBody>
      </p:sp>
      <p:sp>
        <p:nvSpPr>
          <p:cNvPr id="5" name="Text 2"/>
          <p:cNvSpPr txBox="1"/>
          <p:nvPr/>
        </p:nvSpPr>
        <p:spPr>
          <a:xfrm>
            <a:off x="4526280" y="1783080"/>
            <a:ext cx="4114800" cy="365760"/>
          </a:xfrm>
          <a:prstGeom prst="rect">
            <a:avLst/>
          </a:prstGeom>
          <a:noFill/>
          <a:ln/>
        </p:spPr>
        <p:txBody>
          <a:bodyPr wrap="square" lIns="0" tIns="0" rIns="0" bIns="0" rtlCol="0" anchor="t"/>
          <a:lstStyle/>
          <a:p>
            <a:pPr indent="0" marL="0">
              <a:buNone/>
            </a:pPr>
            <a:r>
              <a:rPr lang="en-US" sz="1500" b="1" dirty="0">
                <a:solidFill>
                  <a:srgbClr val="78909C"/>
                </a:solidFill>
              </a:rPr>
              <a:t>At 30% (SDS)</a:t>
            </a:r>
            <a:endParaRPr lang="en-US" sz="1500" dirty="0"/>
          </a:p>
        </p:txBody>
      </p:sp>
      <p:sp>
        <p:nvSpPr>
          <p:cNvPr id="6" name="Text 3"/>
          <p:cNvSpPr txBox="1"/>
          <p:nvPr/>
        </p:nvSpPr>
        <p:spPr>
          <a:xfrm>
            <a:off x="9646920" y="1783080"/>
            <a:ext cx="4114800" cy="365760"/>
          </a:xfrm>
          <a:prstGeom prst="rect">
            <a:avLst/>
          </a:prstGeom>
          <a:noFill/>
          <a:ln/>
        </p:spPr>
        <p:txBody>
          <a:bodyPr wrap="square" lIns="0" tIns="0" rIns="0" bIns="0" rtlCol="0" anchor="t"/>
          <a:lstStyle/>
          <a:p>
            <a:pPr indent="0" marL="0">
              <a:buNone/>
            </a:pPr>
            <a:r>
              <a:rPr lang="en-US" sz="1500" b="1" dirty="0">
                <a:solidFill>
                  <a:srgbClr val="E09B00"/>
                </a:solidFill>
              </a:rPr>
              <a:t>Now</a:t>
            </a:r>
            <a:endParaRPr lang="en-US" sz="1500" dirty="0"/>
          </a:p>
        </p:txBody>
      </p:sp>
      <p:sp>
        <p:nvSpPr>
          <p:cNvPr id="7" name="change row 0"/>
          <p:cNvSpPr/>
          <p:nvPr/>
        </p:nvSpPr>
        <p:spPr>
          <a:xfrm>
            <a:off x="685800" y="2240280"/>
            <a:ext cx="14886432" cy="658368"/>
          </a:xfrm>
          <a:prstGeom prst="roundRect">
            <a:avLst>
              <a:gd name="adj" fmla="val 11111"/>
            </a:avLst>
          </a:prstGeom>
          <a:solidFill>
            <a:srgbClr val="FBFCFC"/>
          </a:solidFill>
          <a:ln w="9525">
            <a:solidFill>
              <a:srgbClr val="CFD8DC"/>
            </a:solidFill>
            <a:prstDash val="solid"/>
          </a:ln>
        </p:spPr>
      </p:sp>
      <p:sp>
        <p:nvSpPr>
          <p:cNvPr id="8" name="change 0 circle"/>
          <p:cNvSpPr/>
          <p:nvPr/>
        </p:nvSpPr>
        <p:spPr>
          <a:xfrm>
            <a:off x="822960" y="2331720"/>
            <a:ext cx="475488" cy="475488"/>
          </a:xfrm>
          <a:prstGeom prst="ellipse">
            <a:avLst/>
          </a:prstGeom>
          <a:solidFill>
            <a:srgbClr val="455A64"/>
          </a:solidFill>
          <a:ln w="12700">
            <a:solidFill>
              <a:srgbClr val="455A64"/>
            </a:solidFill>
            <a:prstDash val="solid"/>
          </a:ln>
        </p:spPr>
      </p:sp>
      <p:pic>
        <p:nvPicPr>
          <p:cNvPr id="9" name="change 0 icon" descr="preencoded.png">    </p:cNvPr>
          <p:cNvPicPr>
            <a:picLocks noChangeAspect="1"/>
          </p:cNvPicPr>
          <p:nvPr/>
        </p:nvPicPr>
        <p:blipFill>
          <a:blip r:embed="rId1"/>
          <a:stretch>
            <a:fillRect/>
          </a:stretch>
        </p:blipFill>
        <p:spPr>
          <a:xfrm>
            <a:off x="951342" y="2460102"/>
            <a:ext cx="218724" cy="218724"/>
          </a:xfrm>
          <a:prstGeom prst="rect">
            <a:avLst/>
          </a:prstGeom>
        </p:spPr>
      </p:pic>
      <p:sp>
        <p:nvSpPr>
          <p:cNvPr id="10" name="Text 6"/>
          <p:cNvSpPr txBox="1"/>
          <p:nvPr/>
        </p:nvSpPr>
        <p:spPr>
          <a:xfrm>
            <a:off x="1508760" y="2386584"/>
            <a:ext cx="2834640" cy="384048"/>
          </a:xfrm>
          <a:prstGeom prst="rect">
            <a:avLst/>
          </a:prstGeom>
          <a:noFill/>
          <a:ln/>
        </p:spPr>
        <p:txBody>
          <a:bodyPr wrap="square" lIns="0" tIns="0" rIns="0" bIns="0" rtlCol="0" anchor="t"/>
          <a:lstStyle/>
          <a:p>
            <a:pPr indent="0" marL="0">
              <a:buNone/>
            </a:pPr>
            <a:r>
              <a:rPr lang="en-US" sz="1700" b="1" dirty="0">
                <a:solidFill>
                  <a:srgbClr val="263238"/>
                </a:solidFill>
              </a:rPr>
              <a:t>Storage</a:t>
            </a:r>
            <a:endParaRPr lang="en-US" sz="1700" dirty="0"/>
          </a:p>
        </p:txBody>
      </p:sp>
      <p:sp>
        <p:nvSpPr>
          <p:cNvPr id="11" name="Text 7"/>
          <p:cNvSpPr txBox="1"/>
          <p:nvPr/>
        </p:nvSpPr>
        <p:spPr>
          <a:xfrm>
            <a:off x="4526280" y="2395728"/>
            <a:ext cx="4389120" cy="384048"/>
          </a:xfrm>
          <a:prstGeom prst="rect">
            <a:avLst/>
          </a:prstGeom>
          <a:noFill/>
          <a:ln/>
        </p:spPr>
        <p:txBody>
          <a:bodyPr wrap="square" lIns="0" tIns="0" rIns="0" bIns="0" rtlCol="0" anchor="t"/>
          <a:lstStyle/>
          <a:p>
            <a:pPr indent="0" marL="0">
              <a:buNone/>
            </a:pPr>
            <a:r>
              <a:rPr lang="en-US" sz="1600" dirty="0">
                <a:solidFill>
                  <a:srgbClr val="78909C"/>
                </a:solidFill>
              </a:rPr>
              <a:t>Per-protocol SQLite tables</a:t>
            </a:r>
            <a:endParaRPr lang="en-US" sz="1600" dirty="0"/>
          </a:p>
        </p:txBody>
      </p:sp>
      <p:pic>
        <p:nvPicPr>
          <p:cNvPr id="12" name="arrow 0" descr="preencoded.png">    </p:cNvPr>
          <p:cNvPicPr>
            <a:picLocks noChangeAspect="1"/>
          </p:cNvPicPr>
          <p:nvPr/>
        </p:nvPicPr>
        <p:blipFill>
          <a:blip r:embed="rId2"/>
          <a:stretch>
            <a:fillRect/>
          </a:stretch>
        </p:blipFill>
        <p:spPr>
          <a:xfrm>
            <a:off x="9006840" y="2441448"/>
            <a:ext cx="274320" cy="274320"/>
          </a:xfrm>
          <a:prstGeom prst="rect">
            <a:avLst/>
          </a:prstGeom>
        </p:spPr>
      </p:pic>
      <p:sp>
        <p:nvSpPr>
          <p:cNvPr id="13" name="Text 8"/>
          <p:cNvSpPr txBox="1"/>
          <p:nvPr/>
        </p:nvSpPr>
        <p:spPr>
          <a:xfrm>
            <a:off x="9646920" y="2395728"/>
            <a:ext cx="5852160" cy="384048"/>
          </a:xfrm>
          <a:prstGeom prst="rect">
            <a:avLst/>
          </a:prstGeom>
          <a:noFill/>
          <a:ln/>
        </p:spPr>
        <p:txBody>
          <a:bodyPr wrap="square" lIns="0" tIns="0" rIns="0" bIns="0" rtlCol="0" anchor="t"/>
          <a:lstStyle/>
          <a:p>
            <a:pPr indent="0" marL="0">
              <a:buNone/>
            </a:pPr>
            <a:r>
              <a:rPr lang="en-US" sz="1600" b="1" dirty="0">
                <a:solidFill>
                  <a:srgbClr val="37474F"/>
                </a:solidFill>
              </a:rPr>
              <a:t>PostgreSQL 16 unified event store + Redis</a:t>
            </a:r>
            <a:endParaRPr lang="en-US" sz="1600" dirty="0"/>
          </a:p>
        </p:txBody>
      </p:sp>
      <p:sp>
        <p:nvSpPr>
          <p:cNvPr id="14" name="change row 1"/>
          <p:cNvSpPr/>
          <p:nvPr/>
        </p:nvSpPr>
        <p:spPr>
          <a:xfrm>
            <a:off x="685800" y="3026664"/>
            <a:ext cx="14886432" cy="658368"/>
          </a:xfrm>
          <a:prstGeom prst="roundRect">
            <a:avLst>
              <a:gd name="adj" fmla="val 11111"/>
            </a:avLst>
          </a:prstGeom>
          <a:solidFill>
            <a:srgbClr val="FFFFFF"/>
          </a:solidFill>
          <a:ln w="9525">
            <a:solidFill>
              <a:srgbClr val="CFD8DC"/>
            </a:solidFill>
            <a:prstDash val="solid"/>
          </a:ln>
        </p:spPr>
      </p:sp>
      <p:sp>
        <p:nvSpPr>
          <p:cNvPr id="15" name="change 1 circle"/>
          <p:cNvSpPr/>
          <p:nvPr/>
        </p:nvSpPr>
        <p:spPr>
          <a:xfrm>
            <a:off x="822960" y="3118104"/>
            <a:ext cx="475488" cy="475488"/>
          </a:xfrm>
          <a:prstGeom prst="ellipse">
            <a:avLst/>
          </a:prstGeom>
          <a:solidFill>
            <a:srgbClr val="455A64"/>
          </a:solidFill>
          <a:ln w="12700">
            <a:solidFill>
              <a:srgbClr val="455A64"/>
            </a:solidFill>
            <a:prstDash val="solid"/>
          </a:ln>
        </p:spPr>
      </p:sp>
      <p:pic>
        <p:nvPicPr>
          <p:cNvPr id="16" name="change 1 icon" descr="preencoded.png">    </p:cNvPr>
          <p:cNvPicPr>
            <a:picLocks noChangeAspect="1"/>
          </p:cNvPicPr>
          <p:nvPr/>
        </p:nvPicPr>
        <p:blipFill>
          <a:blip r:embed="rId3"/>
          <a:stretch>
            <a:fillRect/>
          </a:stretch>
        </p:blipFill>
        <p:spPr>
          <a:xfrm>
            <a:off x="951342" y="3246486"/>
            <a:ext cx="218724" cy="218724"/>
          </a:xfrm>
          <a:prstGeom prst="rect">
            <a:avLst/>
          </a:prstGeom>
        </p:spPr>
      </p:pic>
      <p:sp>
        <p:nvSpPr>
          <p:cNvPr id="17" name="Text 11"/>
          <p:cNvSpPr txBox="1"/>
          <p:nvPr/>
        </p:nvSpPr>
        <p:spPr>
          <a:xfrm>
            <a:off x="1508760" y="3172968"/>
            <a:ext cx="2834640" cy="384048"/>
          </a:xfrm>
          <a:prstGeom prst="rect">
            <a:avLst/>
          </a:prstGeom>
          <a:noFill/>
          <a:ln/>
        </p:spPr>
        <p:txBody>
          <a:bodyPr wrap="square" lIns="0" tIns="0" rIns="0" bIns="0" rtlCol="0" anchor="t"/>
          <a:lstStyle/>
          <a:p>
            <a:pPr indent="0" marL="0">
              <a:buNone/>
            </a:pPr>
            <a:r>
              <a:rPr lang="en-US" sz="1700" b="1" dirty="0">
                <a:solidFill>
                  <a:srgbClr val="263238"/>
                </a:solidFill>
              </a:rPr>
              <a:t>Protocols</a:t>
            </a:r>
            <a:endParaRPr lang="en-US" sz="1700" dirty="0"/>
          </a:p>
        </p:txBody>
      </p:sp>
      <p:sp>
        <p:nvSpPr>
          <p:cNvPr id="18" name="Text 12"/>
          <p:cNvSpPr txBox="1"/>
          <p:nvPr/>
        </p:nvSpPr>
        <p:spPr>
          <a:xfrm>
            <a:off x="4526280" y="3182112"/>
            <a:ext cx="4389120" cy="384048"/>
          </a:xfrm>
          <a:prstGeom prst="rect">
            <a:avLst/>
          </a:prstGeom>
          <a:noFill/>
          <a:ln/>
        </p:spPr>
        <p:txBody>
          <a:bodyPr wrap="square" lIns="0" tIns="0" rIns="0" bIns="0" rtlCol="0" anchor="t"/>
          <a:lstStyle/>
          <a:p>
            <a:pPr indent="0" marL="0">
              <a:buNone/>
            </a:pPr>
            <a:r>
              <a:rPr lang="en-US" sz="1600" dirty="0">
                <a:solidFill>
                  <a:srgbClr val="78909C"/>
                </a:solidFill>
              </a:rPr>
              <a:t>SSH, Telnet, HTTP, MQTT</a:t>
            </a:r>
            <a:endParaRPr lang="en-US" sz="1600" dirty="0"/>
          </a:p>
        </p:txBody>
      </p:sp>
      <p:pic>
        <p:nvPicPr>
          <p:cNvPr id="19" name="arrow 1" descr="preencoded.png">    </p:cNvPr>
          <p:cNvPicPr>
            <a:picLocks noChangeAspect="1"/>
          </p:cNvPicPr>
          <p:nvPr/>
        </p:nvPicPr>
        <p:blipFill>
          <a:blip r:embed="rId4"/>
          <a:stretch>
            <a:fillRect/>
          </a:stretch>
        </p:blipFill>
        <p:spPr>
          <a:xfrm>
            <a:off x="9006840" y="3227832"/>
            <a:ext cx="274320" cy="274320"/>
          </a:xfrm>
          <a:prstGeom prst="rect">
            <a:avLst/>
          </a:prstGeom>
        </p:spPr>
      </p:pic>
      <p:sp>
        <p:nvSpPr>
          <p:cNvPr id="20" name="Text 13"/>
          <p:cNvSpPr txBox="1"/>
          <p:nvPr/>
        </p:nvSpPr>
        <p:spPr>
          <a:xfrm>
            <a:off x="9646920" y="3182112"/>
            <a:ext cx="5852160" cy="384048"/>
          </a:xfrm>
          <a:prstGeom prst="rect">
            <a:avLst/>
          </a:prstGeom>
          <a:noFill/>
          <a:ln/>
        </p:spPr>
        <p:txBody>
          <a:bodyPr wrap="square" lIns="0" tIns="0" rIns="0" bIns="0" rtlCol="0" anchor="t"/>
          <a:lstStyle/>
          <a:p>
            <a:pPr indent="0" marL="0">
              <a:buNone/>
            </a:pPr>
            <a:r>
              <a:rPr lang="en-US" sz="1600" b="1" dirty="0">
                <a:solidFill>
                  <a:srgbClr val="37474F"/>
                </a:solidFill>
              </a:rPr>
              <a:t>+ RTSP camera with Basic and Digest auth</a:t>
            </a:r>
            <a:endParaRPr lang="en-US" sz="1600" dirty="0"/>
          </a:p>
        </p:txBody>
      </p:sp>
      <p:sp>
        <p:nvSpPr>
          <p:cNvPr id="21" name="change row 2"/>
          <p:cNvSpPr/>
          <p:nvPr/>
        </p:nvSpPr>
        <p:spPr>
          <a:xfrm>
            <a:off x="685800" y="3813048"/>
            <a:ext cx="14886432" cy="658368"/>
          </a:xfrm>
          <a:prstGeom prst="roundRect">
            <a:avLst>
              <a:gd name="adj" fmla="val 11111"/>
            </a:avLst>
          </a:prstGeom>
          <a:solidFill>
            <a:srgbClr val="FBFCFC"/>
          </a:solidFill>
          <a:ln w="9525">
            <a:solidFill>
              <a:srgbClr val="CFD8DC"/>
            </a:solidFill>
            <a:prstDash val="solid"/>
          </a:ln>
        </p:spPr>
      </p:sp>
      <p:sp>
        <p:nvSpPr>
          <p:cNvPr id="22" name="change 2 circle"/>
          <p:cNvSpPr/>
          <p:nvPr/>
        </p:nvSpPr>
        <p:spPr>
          <a:xfrm>
            <a:off x="822960" y="3904488"/>
            <a:ext cx="475488" cy="475488"/>
          </a:xfrm>
          <a:prstGeom prst="ellipse">
            <a:avLst/>
          </a:prstGeom>
          <a:solidFill>
            <a:srgbClr val="455A64"/>
          </a:solidFill>
          <a:ln w="12700">
            <a:solidFill>
              <a:srgbClr val="455A64"/>
            </a:solidFill>
            <a:prstDash val="solid"/>
          </a:ln>
        </p:spPr>
      </p:sp>
      <p:pic>
        <p:nvPicPr>
          <p:cNvPr id="23" name="change 2 icon" descr="preencoded.png">    </p:cNvPr>
          <p:cNvPicPr>
            <a:picLocks noChangeAspect="1"/>
          </p:cNvPicPr>
          <p:nvPr/>
        </p:nvPicPr>
        <p:blipFill>
          <a:blip r:embed="rId5"/>
          <a:stretch>
            <a:fillRect/>
          </a:stretch>
        </p:blipFill>
        <p:spPr>
          <a:xfrm>
            <a:off x="951342" y="4032870"/>
            <a:ext cx="218724" cy="218724"/>
          </a:xfrm>
          <a:prstGeom prst="rect">
            <a:avLst/>
          </a:prstGeom>
        </p:spPr>
      </p:pic>
      <p:sp>
        <p:nvSpPr>
          <p:cNvPr id="24" name="Text 16"/>
          <p:cNvSpPr txBox="1"/>
          <p:nvPr/>
        </p:nvSpPr>
        <p:spPr>
          <a:xfrm>
            <a:off x="1508760" y="3959352"/>
            <a:ext cx="2834640" cy="384048"/>
          </a:xfrm>
          <a:prstGeom prst="rect">
            <a:avLst/>
          </a:prstGeom>
          <a:noFill/>
          <a:ln/>
        </p:spPr>
        <p:txBody>
          <a:bodyPr wrap="square" lIns="0" tIns="0" rIns="0" bIns="0" rtlCol="0" anchor="t"/>
          <a:lstStyle/>
          <a:p>
            <a:pPr indent="0" marL="0">
              <a:buNone/>
            </a:pPr>
            <a:r>
              <a:rPr lang="en-US" sz="1700" b="1" dirty="0">
                <a:solidFill>
                  <a:srgbClr val="263238"/>
                </a:solidFill>
              </a:rPr>
              <a:t>Device behaviour</a:t>
            </a:r>
            <a:endParaRPr lang="en-US" sz="1700" dirty="0"/>
          </a:p>
        </p:txBody>
      </p:sp>
      <p:sp>
        <p:nvSpPr>
          <p:cNvPr id="25" name="Text 17"/>
          <p:cNvSpPr txBox="1"/>
          <p:nvPr/>
        </p:nvSpPr>
        <p:spPr>
          <a:xfrm>
            <a:off x="4526280" y="3968496"/>
            <a:ext cx="4389120" cy="384048"/>
          </a:xfrm>
          <a:prstGeom prst="rect">
            <a:avLst/>
          </a:prstGeom>
          <a:noFill/>
          <a:ln/>
        </p:spPr>
        <p:txBody>
          <a:bodyPr wrap="square" lIns="0" tIns="0" rIns="0" bIns="0" rtlCol="0" anchor="t"/>
          <a:lstStyle/>
          <a:p>
            <a:pPr indent="0" marL="0">
              <a:buNone/>
            </a:pPr>
            <a:r>
              <a:rPr lang="en-US" sz="1600" dirty="0">
                <a:solidFill>
                  <a:srgbClr val="78909C"/>
                </a:solidFill>
              </a:rPr>
              <a:t>Static banners</a:t>
            </a:r>
            <a:endParaRPr lang="en-US" sz="1600" dirty="0"/>
          </a:p>
        </p:txBody>
      </p:sp>
      <p:pic>
        <p:nvPicPr>
          <p:cNvPr id="26" name="arrow 2" descr="preencoded.png">    </p:cNvPr>
          <p:cNvPicPr>
            <a:picLocks noChangeAspect="1"/>
          </p:cNvPicPr>
          <p:nvPr/>
        </p:nvPicPr>
        <p:blipFill>
          <a:blip r:embed="rId6"/>
          <a:stretch>
            <a:fillRect/>
          </a:stretch>
        </p:blipFill>
        <p:spPr>
          <a:xfrm>
            <a:off x="9006840" y="4014216"/>
            <a:ext cx="274320" cy="274320"/>
          </a:xfrm>
          <a:prstGeom prst="rect">
            <a:avLst/>
          </a:prstGeom>
        </p:spPr>
      </p:pic>
      <p:sp>
        <p:nvSpPr>
          <p:cNvPr id="27" name="Text 18"/>
          <p:cNvSpPr txBox="1"/>
          <p:nvPr/>
        </p:nvSpPr>
        <p:spPr>
          <a:xfrm>
            <a:off x="9646920" y="3968496"/>
            <a:ext cx="5852160" cy="384048"/>
          </a:xfrm>
          <a:prstGeom prst="rect">
            <a:avLst/>
          </a:prstGeom>
          <a:noFill/>
          <a:ln/>
        </p:spPr>
        <p:txBody>
          <a:bodyPr wrap="square" lIns="0" tIns="0" rIns="0" bIns="0" rtlCol="0" anchor="t"/>
          <a:lstStyle/>
          <a:p>
            <a:pPr indent="0" marL="0">
              <a:buNone/>
            </a:pPr>
            <a:r>
              <a:rPr lang="en-US" sz="1600" b="1" dirty="0">
                <a:solidFill>
                  <a:srgbClr val="37474F"/>
                </a:solidFill>
              </a:rPr>
              <a:t>Shared device state across all protocols</a:t>
            </a:r>
            <a:endParaRPr lang="en-US" sz="1600" dirty="0"/>
          </a:p>
        </p:txBody>
      </p:sp>
      <p:sp>
        <p:nvSpPr>
          <p:cNvPr id="28" name="change row 3"/>
          <p:cNvSpPr/>
          <p:nvPr/>
        </p:nvSpPr>
        <p:spPr>
          <a:xfrm>
            <a:off x="685800" y="4599432"/>
            <a:ext cx="14886432" cy="658368"/>
          </a:xfrm>
          <a:prstGeom prst="roundRect">
            <a:avLst>
              <a:gd name="adj" fmla="val 11111"/>
            </a:avLst>
          </a:prstGeom>
          <a:solidFill>
            <a:srgbClr val="FFFFFF"/>
          </a:solidFill>
          <a:ln w="9525">
            <a:solidFill>
              <a:srgbClr val="CFD8DC"/>
            </a:solidFill>
            <a:prstDash val="solid"/>
          </a:ln>
        </p:spPr>
      </p:sp>
      <p:sp>
        <p:nvSpPr>
          <p:cNvPr id="29" name="change 3 circle"/>
          <p:cNvSpPr/>
          <p:nvPr/>
        </p:nvSpPr>
        <p:spPr>
          <a:xfrm>
            <a:off x="822960" y="4690872"/>
            <a:ext cx="475488" cy="475488"/>
          </a:xfrm>
          <a:prstGeom prst="ellipse">
            <a:avLst/>
          </a:prstGeom>
          <a:solidFill>
            <a:srgbClr val="455A64"/>
          </a:solidFill>
          <a:ln w="12700">
            <a:solidFill>
              <a:srgbClr val="455A64"/>
            </a:solidFill>
            <a:prstDash val="solid"/>
          </a:ln>
        </p:spPr>
      </p:sp>
      <p:pic>
        <p:nvPicPr>
          <p:cNvPr id="30" name="change 3 icon" descr="preencoded.png">    </p:cNvPr>
          <p:cNvPicPr>
            <a:picLocks noChangeAspect="1"/>
          </p:cNvPicPr>
          <p:nvPr/>
        </p:nvPicPr>
        <p:blipFill>
          <a:blip r:embed="rId7"/>
          <a:stretch>
            <a:fillRect/>
          </a:stretch>
        </p:blipFill>
        <p:spPr>
          <a:xfrm>
            <a:off x="951342" y="4819254"/>
            <a:ext cx="218724" cy="218724"/>
          </a:xfrm>
          <a:prstGeom prst="rect">
            <a:avLst/>
          </a:prstGeom>
        </p:spPr>
      </p:pic>
      <p:sp>
        <p:nvSpPr>
          <p:cNvPr id="31" name="Text 21"/>
          <p:cNvSpPr txBox="1"/>
          <p:nvPr/>
        </p:nvSpPr>
        <p:spPr>
          <a:xfrm>
            <a:off x="1508760" y="4745736"/>
            <a:ext cx="2834640" cy="384048"/>
          </a:xfrm>
          <a:prstGeom prst="rect">
            <a:avLst/>
          </a:prstGeom>
          <a:noFill/>
          <a:ln/>
        </p:spPr>
        <p:txBody>
          <a:bodyPr wrap="square" lIns="0" tIns="0" rIns="0" bIns="0" rtlCol="0" anchor="t"/>
          <a:lstStyle/>
          <a:p>
            <a:pPr indent="0" marL="0">
              <a:buNone/>
            </a:pPr>
            <a:r>
              <a:rPr lang="en-US" sz="1700" b="1" dirty="0">
                <a:solidFill>
                  <a:srgbClr val="263238"/>
                </a:solidFill>
              </a:rPr>
              <a:t>Detection</a:t>
            </a:r>
            <a:endParaRPr lang="en-US" sz="1700" dirty="0"/>
          </a:p>
        </p:txBody>
      </p:sp>
      <p:sp>
        <p:nvSpPr>
          <p:cNvPr id="32" name="Text 22"/>
          <p:cNvSpPr txBox="1"/>
          <p:nvPr/>
        </p:nvSpPr>
        <p:spPr>
          <a:xfrm>
            <a:off x="4526280" y="4754880"/>
            <a:ext cx="4389120" cy="384048"/>
          </a:xfrm>
          <a:prstGeom prst="rect">
            <a:avLst/>
          </a:prstGeom>
          <a:noFill/>
          <a:ln/>
        </p:spPr>
        <p:txBody>
          <a:bodyPr wrap="square" lIns="0" tIns="0" rIns="0" bIns="0" rtlCol="0" anchor="t"/>
          <a:lstStyle/>
          <a:p>
            <a:pPr indent="0" marL="0">
              <a:buNone/>
            </a:pPr>
            <a:r>
              <a:rPr lang="en-US" sz="1600" dirty="0">
                <a:solidFill>
                  <a:srgbClr val="78909C"/>
                </a:solidFill>
              </a:rPr>
              <a:t>4 simple counters</a:t>
            </a:r>
            <a:endParaRPr lang="en-US" sz="1600" dirty="0"/>
          </a:p>
        </p:txBody>
      </p:sp>
      <p:pic>
        <p:nvPicPr>
          <p:cNvPr id="33" name="arrow 3" descr="preencoded.png">    </p:cNvPr>
          <p:cNvPicPr>
            <a:picLocks noChangeAspect="1"/>
          </p:cNvPicPr>
          <p:nvPr/>
        </p:nvPicPr>
        <p:blipFill>
          <a:blip r:embed="rId8"/>
          <a:stretch>
            <a:fillRect/>
          </a:stretch>
        </p:blipFill>
        <p:spPr>
          <a:xfrm>
            <a:off x="9006840" y="4800600"/>
            <a:ext cx="274320" cy="274320"/>
          </a:xfrm>
          <a:prstGeom prst="rect">
            <a:avLst/>
          </a:prstGeom>
        </p:spPr>
      </p:pic>
      <p:sp>
        <p:nvSpPr>
          <p:cNvPr id="34" name="Text 23"/>
          <p:cNvSpPr txBox="1"/>
          <p:nvPr/>
        </p:nvSpPr>
        <p:spPr>
          <a:xfrm>
            <a:off x="9646920" y="4754880"/>
            <a:ext cx="5852160" cy="384048"/>
          </a:xfrm>
          <a:prstGeom prst="rect">
            <a:avLst/>
          </a:prstGeom>
          <a:noFill/>
          <a:ln/>
        </p:spPr>
        <p:txBody>
          <a:bodyPr wrap="square" lIns="0" tIns="0" rIns="0" bIns="0" rtlCol="0" anchor="t"/>
          <a:lstStyle/>
          <a:p>
            <a:pPr indent="0" marL="0">
              <a:buNone/>
            </a:pPr>
            <a:r>
              <a:rPr lang="en-US" sz="1600" b="1" dirty="0">
                <a:solidFill>
                  <a:srgbClr val="37474F"/>
                </a:solidFill>
              </a:rPr>
              <a:t>16 classes, MITRE ATT&amp;CK, correlation, IOCs, STIX 2.1</a:t>
            </a:r>
            <a:endParaRPr lang="en-US" sz="1600" dirty="0"/>
          </a:p>
        </p:txBody>
      </p:sp>
      <p:sp>
        <p:nvSpPr>
          <p:cNvPr id="35" name="change row 4"/>
          <p:cNvSpPr/>
          <p:nvPr/>
        </p:nvSpPr>
        <p:spPr>
          <a:xfrm>
            <a:off x="685800" y="5385816"/>
            <a:ext cx="14886432" cy="658368"/>
          </a:xfrm>
          <a:prstGeom prst="roundRect">
            <a:avLst>
              <a:gd name="adj" fmla="val 11111"/>
            </a:avLst>
          </a:prstGeom>
          <a:solidFill>
            <a:srgbClr val="FBFCFC"/>
          </a:solidFill>
          <a:ln w="9525">
            <a:solidFill>
              <a:srgbClr val="CFD8DC"/>
            </a:solidFill>
            <a:prstDash val="solid"/>
          </a:ln>
        </p:spPr>
      </p:sp>
      <p:sp>
        <p:nvSpPr>
          <p:cNvPr id="36" name="change 4 circle"/>
          <p:cNvSpPr/>
          <p:nvPr/>
        </p:nvSpPr>
        <p:spPr>
          <a:xfrm>
            <a:off x="822960" y="5477256"/>
            <a:ext cx="475488" cy="475488"/>
          </a:xfrm>
          <a:prstGeom prst="ellipse">
            <a:avLst/>
          </a:prstGeom>
          <a:solidFill>
            <a:srgbClr val="455A64"/>
          </a:solidFill>
          <a:ln w="12700">
            <a:solidFill>
              <a:srgbClr val="455A64"/>
            </a:solidFill>
            <a:prstDash val="solid"/>
          </a:ln>
        </p:spPr>
      </p:sp>
      <p:pic>
        <p:nvPicPr>
          <p:cNvPr id="37" name="change 4 icon" descr="preencoded.png">    </p:cNvPr>
          <p:cNvPicPr>
            <a:picLocks noChangeAspect="1"/>
          </p:cNvPicPr>
          <p:nvPr/>
        </p:nvPicPr>
        <p:blipFill>
          <a:blip r:embed="rId9"/>
          <a:stretch>
            <a:fillRect/>
          </a:stretch>
        </p:blipFill>
        <p:spPr>
          <a:xfrm>
            <a:off x="951342" y="5605638"/>
            <a:ext cx="218724" cy="218724"/>
          </a:xfrm>
          <a:prstGeom prst="rect">
            <a:avLst/>
          </a:prstGeom>
        </p:spPr>
      </p:pic>
      <p:sp>
        <p:nvSpPr>
          <p:cNvPr id="38" name="Text 26"/>
          <p:cNvSpPr txBox="1"/>
          <p:nvPr/>
        </p:nvSpPr>
        <p:spPr>
          <a:xfrm>
            <a:off x="1508760" y="5532120"/>
            <a:ext cx="2834640" cy="384048"/>
          </a:xfrm>
          <a:prstGeom prst="rect">
            <a:avLst/>
          </a:prstGeom>
          <a:noFill/>
          <a:ln/>
        </p:spPr>
        <p:txBody>
          <a:bodyPr wrap="square" lIns="0" tIns="0" rIns="0" bIns="0" rtlCol="0" anchor="t"/>
          <a:lstStyle/>
          <a:p>
            <a:pPr indent="0" marL="0">
              <a:buNone/>
            </a:pPr>
            <a:r>
              <a:rPr lang="en-US" sz="1700" b="1" dirty="0">
                <a:solidFill>
                  <a:srgbClr val="263238"/>
                </a:solidFill>
              </a:rPr>
              <a:t>Dashboard</a:t>
            </a:r>
            <a:endParaRPr lang="en-US" sz="1700" dirty="0"/>
          </a:p>
        </p:txBody>
      </p:sp>
      <p:sp>
        <p:nvSpPr>
          <p:cNvPr id="39" name="Text 27"/>
          <p:cNvSpPr txBox="1"/>
          <p:nvPr/>
        </p:nvSpPr>
        <p:spPr>
          <a:xfrm>
            <a:off x="4526280" y="5541264"/>
            <a:ext cx="4389120" cy="384048"/>
          </a:xfrm>
          <a:prstGeom prst="rect">
            <a:avLst/>
          </a:prstGeom>
          <a:noFill/>
          <a:ln/>
        </p:spPr>
        <p:txBody>
          <a:bodyPr wrap="square" lIns="0" tIns="0" rIns="0" bIns="0" rtlCol="0" anchor="t"/>
          <a:lstStyle/>
          <a:p>
            <a:pPr indent="0" marL="0">
              <a:buNone/>
            </a:pPr>
            <a:r>
              <a:rPr lang="en-US" sz="1600" dirty="0">
                <a:solidFill>
                  <a:srgbClr val="78909C"/>
                </a:solidFill>
              </a:rPr>
              <a:t>Partial React prototype</a:t>
            </a:r>
            <a:endParaRPr lang="en-US" sz="1600" dirty="0"/>
          </a:p>
        </p:txBody>
      </p:sp>
      <p:pic>
        <p:nvPicPr>
          <p:cNvPr id="40" name="arrow 4" descr="preencoded.png">    </p:cNvPr>
          <p:cNvPicPr>
            <a:picLocks noChangeAspect="1"/>
          </p:cNvPicPr>
          <p:nvPr/>
        </p:nvPicPr>
        <p:blipFill>
          <a:blip r:embed="rId10"/>
          <a:stretch>
            <a:fillRect/>
          </a:stretch>
        </p:blipFill>
        <p:spPr>
          <a:xfrm>
            <a:off x="9006840" y="5586984"/>
            <a:ext cx="274320" cy="274320"/>
          </a:xfrm>
          <a:prstGeom prst="rect">
            <a:avLst/>
          </a:prstGeom>
        </p:spPr>
      </p:pic>
      <p:sp>
        <p:nvSpPr>
          <p:cNvPr id="41" name="Text 28"/>
          <p:cNvSpPr txBox="1"/>
          <p:nvPr/>
        </p:nvSpPr>
        <p:spPr>
          <a:xfrm>
            <a:off x="9646920" y="5541264"/>
            <a:ext cx="5852160" cy="384048"/>
          </a:xfrm>
          <a:prstGeom prst="rect">
            <a:avLst/>
          </a:prstGeom>
          <a:noFill/>
          <a:ln/>
        </p:spPr>
        <p:txBody>
          <a:bodyPr wrap="square" lIns="0" tIns="0" rIns="0" bIns="0" rtlCol="0" anchor="t"/>
          <a:lstStyle/>
          <a:p>
            <a:pPr indent="0" marL="0">
              <a:buNone/>
            </a:pPr>
            <a:r>
              <a:rPr lang="en-US" sz="1600" b="1" dirty="0">
                <a:solidFill>
                  <a:srgbClr val="37474F"/>
                </a:solidFill>
              </a:rPr>
              <a:t>React 19 + TypeScript, 11 pages, WebSocket push</a:t>
            </a:r>
            <a:endParaRPr lang="en-US" sz="1600" dirty="0"/>
          </a:p>
        </p:txBody>
      </p:sp>
      <p:sp>
        <p:nvSpPr>
          <p:cNvPr id="42" name="change row 5"/>
          <p:cNvSpPr/>
          <p:nvPr/>
        </p:nvSpPr>
        <p:spPr>
          <a:xfrm>
            <a:off x="685800" y="6172200"/>
            <a:ext cx="14886432" cy="658368"/>
          </a:xfrm>
          <a:prstGeom prst="roundRect">
            <a:avLst>
              <a:gd name="adj" fmla="val 11111"/>
            </a:avLst>
          </a:prstGeom>
          <a:solidFill>
            <a:srgbClr val="FFFFFF"/>
          </a:solidFill>
          <a:ln w="9525">
            <a:solidFill>
              <a:srgbClr val="CFD8DC"/>
            </a:solidFill>
            <a:prstDash val="solid"/>
          </a:ln>
        </p:spPr>
      </p:sp>
      <p:sp>
        <p:nvSpPr>
          <p:cNvPr id="43" name="change 5 circle"/>
          <p:cNvSpPr/>
          <p:nvPr/>
        </p:nvSpPr>
        <p:spPr>
          <a:xfrm>
            <a:off x="822960" y="6263640"/>
            <a:ext cx="475488" cy="475488"/>
          </a:xfrm>
          <a:prstGeom prst="ellipse">
            <a:avLst/>
          </a:prstGeom>
          <a:solidFill>
            <a:srgbClr val="455A64"/>
          </a:solidFill>
          <a:ln w="12700">
            <a:solidFill>
              <a:srgbClr val="455A64"/>
            </a:solidFill>
            <a:prstDash val="solid"/>
          </a:ln>
        </p:spPr>
      </p:sp>
      <p:pic>
        <p:nvPicPr>
          <p:cNvPr id="44" name="change 5 icon" descr="preencoded.png">    </p:cNvPr>
          <p:cNvPicPr>
            <a:picLocks noChangeAspect="1"/>
          </p:cNvPicPr>
          <p:nvPr/>
        </p:nvPicPr>
        <p:blipFill>
          <a:blip r:embed="rId11"/>
          <a:stretch>
            <a:fillRect/>
          </a:stretch>
        </p:blipFill>
        <p:spPr>
          <a:xfrm>
            <a:off x="951342" y="6392022"/>
            <a:ext cx="218724" cy="218724"/>
          </a:xfrm>
          <a:prstGeom prst="rect">
            <a:avLst/>
          </a:prstGeom>
        </p:spPr>
      </p:pic>
      <p:sp>
        <p:nvSpPr>
          <p:cNvPr id="45" name="Text 31"/>
          <p:cNvSpPr txBox="1"/>
          <p:nvPr/>
        </p:nvSpPr>
        <p:spPr>
          <a:xfrm>
            <a:off x="1508760" y="6318504"/>
            <a:ext cx="2834640" cy="384048"/>
          </a:xfrm>
          <a:prstGeom prst="rect">
            <a:avLst/>
          </a:prstGeom>
          <a:noFill/>
          <a:ln/>
        </p:spPr>
        <p:txBody>
          <a:bodyPr wrap="square" lIns="0" tIns="0" rIns="0" bIns="0" rtlCol="0" anchor="t"/>
          <a:lstStyle/>
          <a:p>
            <a:pPr indent="0" marL="0">
              <a:buNone/>
            </a:pPr>
            <a:r>
              <a:rPr lang="en-US" sz="1700" b="1" dirty="0">
                <a:solidFill>
                  <a:srgbClr val="263238"/>
                </a:solidFill>
              </a:rPr>
              <a:t>Isolation</a:t>
            </a:r>
            <a:endParaRPr lang="en-US" sz="1700" dirty="0"/>
          </a:p>
        </p:txBody>
      </p:sp>
      <p:sp>
        <p:nvSpPr>
          <p:cNvPr id="46" name="Text 32"/>
          <p:cNvSpPr txBox="1"/>
          <p:nvPr/>
        </p:nvSpPr>
        <p:spPr>
          <a:xfrm>
            <a:off x="4526280" y="6327648"/>
            <a:ext cx="4389120" cy="384048"/>
          </a:xfrm>
          <a:prstGeom prst="rect">
            <a:avLst/>
          </a:prstGeom>
          <a:noFill/>
          <a:ln/>
        </p:spPr>
        <p:txBody>
          <a:bodyPr wrap="square" lIns="0" tIns="0" rIns="0" bIns="0" rtlCol="0" anchor="t"/>
          <a:lstStyle/>
          <a:p>
            <a:pPr indent="0" marL="0">
              <a:buNone/>
            </a:pPr>
            <a:r>
              <a:rPr lang="en-US" sz="1600" dirty="0">
                <a:solidFill>
                  <a:srgbClr val="78909C"/>
                </a:solidFill>
              </a:rPr>
              <a:t>Manual script, often off</a:t>
            </a:r>
            <a:endParaRPr lang="en-US" sz="1600" dirty="0"/>
          </a:p>
        </p:txBody>
      </p:sp>
      <p:pic>
        <p:nvPicPr>
          <p:cNvPr id="47" name="arrow 5" descr="preencoded.png">    </p:cNvPr>
          <p:cNvPicPr>
            <a:picLocks noChangeAspect="1"/>
          </p:cNvPicPr>
          <p:nvPr/>
        </p:nvPicPr>
        <p:blipFill>
          <a:blip r:embed="rId12"/>
          <a:stretch>
            <a:fillRect/>
          </a:stretch>
        </p:blipFill>
        <p:spPr>
          <a:xfrm>
            <a:off x="9006840" y="6373368"/>
            <a:ext cx="274320" cy="274320"/>
          </a:xfrm>
          <a:prstGeom prst="rect">
            <a:avLst/>
          </a:prstGeom>
        </p:spPr>
      </p:pic>
      <p:sp>
        <p:nvSpPr>
          <p:cNvPr id="48" name="Text 33"/>
          <p:cNvSpPr txBox="1"/>
          <p:nvPr/>
        </p:nvSpPr>
        <p:spPr>
          <a:xfrm>
            <a:off x="9646920" y="6327648"/>
            <a:ext cx="5852160" cy="384048"/>
          </a:xfrm>
          <a:prstGeom prst="rect">
            <a:avLst/>
          </a:prstGeom>
          <a:noFill/>
          <a:ln/>
        </p:spPr>
        <p:txBody>
          <a:bodyPr wrap="square" lIns="0" tIns="0" rIns="0" bIns="0" rtlCol="0" anchor="t"/>
          <a:lstStyle/>
          <a:p>
            <a:pPr indent="0" marL="0">
              <a:buNone/>
            </a:pPr>
            <a:r>
              <a:rPr lang="en-US" sz="1600" b="1" dirty="0">
                <a:solidFill>
                  <a:srgbClr val="37474F"/>
                </a:solidFill>
              </a:rPr>
              <a:t>Automatic firewall service, re-checked every 30 s</a:t>
            </a:r>
            <a:endParaRPr lang="en-US" sz="1600" dirty="0"/>
          </a:p>
        </p:txBody>
      </p:sp>
      <p:sp>
        <p:nvSpPr>
          <p:cNvPr id="49" name="change row 6"/>
          <p:cNvSpPr/>
          <p:nvPr/>
        </p:nvSpPr>
        <p:spPr>
          <a:xfrm>
            <a:off x="685800" y="6958584"/>
            <a:ext cx="14886432" cy="658368"/>
          </a:xfrm>
          <a:prstGeom prst="roundRect">
            <a:avLst>
              <a:gd name="adj" fmla="val 11111"/>
            </a:avLst>
          </a:prstGeom>
          <a:solidFill>
            <a:srgbClr val="FBFCFC"/>
          </a:solidFill>
          <a:ln w="9525">
            <a:solidFill>
              <a:srgbClr val="CFD8DC"/>
            </a:solidFill>
            <a:prstDash val="solid"/>
          </a:ln>
        </p:spPr>
      </p:sp>
      <p:sp>
        <p:nvSpPr>
          <p:cNvPr id="50" name="change 6 circle"/>
          <p:cNvSpPr/>
          <p:nvPr/>
        </p:nvSpPr>
        <p:spPr>
          <a:xfrm>
            <a:off x="822960" y="7050024"/>
            <a:ext cx="475488" cy="475488"/>
          </a:xfrm>
          <a:prstGeom prst="ellipse">
            <a:avLst/>
          </a:prstGeom>
          <a:solidFill>
            <a:srgbClr val="455A64"/>
          </a:solidFill>
          <a:ln w="12700">
            <a:solidFill>
              <a:srgbClr val="455A64"/>
            </a:solidFill>
            <a:prstDash val="solid"/>
          </a:ln>
        </p:spPr>
      </p:sp>
      <p:pic>
        <p:nvPicPr>
          <p:cNvPr id="51" name="change 6 icon" descr="preencoded.png">    </p:cNvPr>
          <p:cNvPicPr>
            <a:picLocks noChangeAspect="1"/>
          </p:cNvPicPr>
          <p:nvPr/>
        </p:nvPicPr>
        <p:blipFill>
          <a:blip r:embed="rId13"/>
          <a:stretch>
            <a:fillRect/>
          </a:stretch>
        </p:blipFill>
        <p:spPr>
          <a:xfrm>
            <a:off x="951342" y="7178406"/>
            <a:ext cx="218724" cy="218724"/>
          </a:xfrm>
          <a:prstGeom prst="rect">
            <a:avLst/>
          </a:prstGeom>
        </p:spPr>
      </p:pic>
      <p:sp>
        <p:nvSpPr>
          <p:cNvPr id="52" name="Text 36"/>
          <p:cNvSpPr txBox="1"/>
          <p:nvPr/>
        </p:nvSpPr>
        <p:spPr>
          <a:xfrm>
            <a:off x="1508760" y="7104888"/>
            <a:ext cx="2834640" cy="384048"/>
          </a:xfrm>
          <a:prstGeom prst="rect">
            <a:avLst/>
          </a:prstGeom>
          <a:noFill/>
          <a:ln/>
        </p:spPr>
        <p:txBody>
          <a:bodyPr wrap="square" lIns="0" tIns="0" rIns="0" bIns="0" rtlCol="0" anchor="t"/>
          <a:lstStyle/>
          <a:p>
            <a:pPr indent="0" marL="0">
              <a:buNone/>
            </a:pPr>
            <a:r>
              <a:rPr lang="en-US" sz="1700" b="1" dirty="0">
                <a:solidFill>
                  <a:srgbClr val="263238"/>
                </a:solidFill>
              </a:rPr>
              <a:t>Alerts</a:t>
            </a:r>
            <a:endParaRPr lang="en-US" sz="1700" dirty="0"/>
          </a:p>
        </p:txBody>
      </p:sp>
      <p:sp>
        <p:nvSpPr>
          <p:cNvPr id="53" name="Text 37"/>
          <p:cNvSpPr txBox="1"/>
          <p:nvPr/>
        </p:nvSpPr>
        <p:spPr>
          <a:xfrm>
            <a:off x="4526280" y="7114032"/>
            <a:ext cx="4389120" cy="384048"/>
          </a:xfrm>
          <a:prstGeom prst="rect">
            <a:avLst/>
          </a:prstGeom>
          <a:noFill/>
          <a:ln/>
        </p:spPr>
        <p:txBody>
          <a:bodyPr wrap="square" lIns="0" tIns="0" rIns="0" bIns="0" rtlCol="0" anchor="t"/>
          <a:lstStyle/>
          <a:p>
            <a:pPr indent="0" marL="0">
              <a:buNone/>
            </a:pPr>
            <a:r>
              <a:rPr lang="en-US" sz="1600" dirty="0">
                <a:solidFill>
                  <a:srgbClr val="78909C"/>
                </a:solidFill>
              </a:rPr>
              <a:t>None</a:t>
            </a:r>
            <a:endParaRPr lang="en-US" sz="1600" dirty="0"/>
          </a:p>
        </p:txBody>
      </p:sp>
      <p:pic>
        <p:nvPicPr>
          <p:cNvPr id="54" name="arrow 6" descr="preencoded.png">    </p:cNvPr>
          <p:cNvPicPr>
            <a:picLocks noChangeAspect="1"/>
          </p:cNvPicPr>
          <p:nvPr/>
        </p:nvPicPr>
        <p:blipFill>
          <a:blip r:embed="rId14"/>
          <a:stretch>
            <a:fillRect/>
          </a:stretch>
        </p:blipFill>
        <p:spPr>
          <a:xfrm>
            <a:off x="9006840" y="7159752"/>
            <a:ext cx="274320" cy="274320"/>
          </a:xfrm>
          <a:prstGeom prst="rect">
            <a:avLst/>
          </a:prstGeom>
        </p:spPr>
      </p:pic>
      <p:sp>
        <p:nvSpPr>
          <p:cNvPr id="55" name="Text 38"/>
          <p:cNvSpPr txBox="1"/>
          <p:nvPr/>
        </p:nvSpPr>
        <p:spPr>
          <a:xfrm>
            <a:off x="9646920" y="7114032"/>
            <a:ext cx="5852160" cy="384048"/>
          </a:xfrm>
          <a:prstGeom prst="rect">
            <a:avLst/>
          </a:prstGeom>
          <a:noFill/>
          <a:ln/>
        </p:spPr>
        <p:txBody>
          <a:bodyPr wrap="square" lIns="0" tIns="0" rIns="0" bIns="0" rtlCol="0" anchor="t"/>
          <a:lstStyle/>
          <a:p>
            <a:pPr indent="0" marL="0">
              <a:buNone/>
            </a:pPr>
            <a:r>
              <a:rPr lang="en-US" sz="1600" b="1" dirty="0">
                <a:solidFill>
                  <a:srgbClr val="37474F"/>
                </a:solidFill>
              </a:rPr>
              <a:t>Telegram + e-mail with thresholds and de-duplication</a:t>
            </a:r>
            <a:endParaRPr lang="en-US" sz="1600" dirty="0"/>
          </a:p>
        </p:txBody>
      </p:sp>
      <p:sp>
        <p:nvSpPr>
          <p:cNvPr id="56" name="change row 7"/>
          <p:cNvSpPr/>
          <p:nvPr/>
        </p:nvSpPr>
        <p:spPr>
          <a:xfrm>
            <a:off x="685800" y="7744968"/>
            <a:ext cx="14886432" cy="658368"/>
          </a:xfrm>
          <a:prstGeom prst="roundRect">
            <a:avLst>
              <a:gd name="adj" fmla="val 11111"/>
            </a:avLst>
          </a:prstGeom>
          <a:solidFill>
            <a:srgbClr val="FFFFFF"/>
          </a:solidFill>
          <a:ln w="9525">
            <a:solidFill>
              <a:srgbClr val="CFD8DC"/>
            </a:solidFill>
            <a:prstDash val="solid"/>
          </a:ln>
        </p:spPr>
      </p:sp>
      <p:sp>
        <p:nvSpPr>
          <p:cNvPr id="57" name="change 7 circle"/>
          <p:cNvSpPr/>
          <p:nvPr/>
        </p:nvSpPr>
        <p:spPr>
          <a:xfrm>
            <a:off x="822960" y="7836408"/>
            <a:ext cx="475488" cy="475488"/>
          </a:xfrm>
          <a:prstGeom prst="ellipse">
            <a:avLst/>
          </a:prstGeom>
          <a:solidFill>
            <a:srgbClr val="455A64"/>
          </a:solidFill>
          <a:ln w="12700">
            <a:solidFill>
              <a:srgbClr val="455A64"/>
            </a:solidFill>
            <a:prstDash val="solid"/>
          </a:ln>
        </p:spPr>
      </p:sp>
      <p:pic>
        <p:nvPicPr>
          <p:cNvPr id="58" name="change 7 icon" descr="preencoded.png">    </p:cNvPr>
          <p:cNvPicPr>
            <a:picLocks noChangeAspect="1"/>
          </p:cNvPicPr>
          <p:nvPr/>
        </p:nvPicPr>
        <p:blipFill>
          <a:blip r:embed="rId15"/>
          <a:stretch>
            <a:fillRect/>
          </a:stretch>
        </p:blipFill>
        <p:spPr>
          <a:xfrm>
            <a:off x="951342" y="7964790"/>
            <a:ext cx="218724" cy="218724"/>
          </a:xfrm>
          <a:prstGeom prst="rect">
            <a:avLst/>
          </a:prstGeom>
        </p:spPr>
      </p:pic>
      <p:sp>
        <p:nvSpPr>
          <p:cNvPr id="59" name="Text 41"/>
          <p:cNvSpPr txBox="1"/>
          <p:nvPr/>
        </p:nvSpPr>
        <p:spPr>
          <a:xfrm>
            <a:off x="1508760" y="7891272"/>
            <a:ext cx="2834640" cy="384048"/>
          </a:xfrm>
          <a:prstGeom prst="rect">
            <a:avLst/>
          </a:prstGeom>
          <a:noFill/>
          <a:ln/>
        </p:spPr>
        <p:txBody>
          <a:bodyPr wrap="square" lIns="0" tIns="0" rIns="0" bIns="0" rtlCol="0" anchor="t"/>
          <a:lstStyle/>
          <a:p>
            <a:pPr indent="0" marL="0">
              <a:buNone/>
            </a:pPr>
            <a:r>
              <a:rPr lang="en-US" sz="1700" b="1" dirty="0">
                <a:solidFill>
                  <a:srgbClr val="263238"/>
                </a:solidFill>
              </a:rPr>
              <a:t>Testing</a:t>
            </a:r>
            <a:endParaRPr lang="en-US" sz="1700" dirty="0"/>
          </a:p>
        </p:txBody>
      </p:sp>
      <p:sp>
        <p:nvSpPr>
          <p:cNvPr id="60" name="Text 42"/>
          <p:cNvSpPr txBox="1"/>
          <p:nvPr/>
        </p:nvSpPr>
        <p:spPr>
          <a:xfrm>
            <a:off x="4526280" y="7900416"/>
            <a:ext cx="4389120" cy="384048"/>
          </a:xfrm>
          <a:prstGeom prst="rect">
            <a:avLst/>
          </a:prstGeom>
          <a:noFill/>
          <a:ln/>
        </p:spPr>
        <p:txBody>
          <a:bodyPr wrap="square" lIns="0" tIns="0" rIns="0" bIns="0" rtlCol="0" anchor="t"/>
          <a:lstStyle/>
          <a:p>
            <a:pPr indent="0" marL="0">
              <a:buNone/>
            </a:pPr>
            <a:r>
              <a:rPr lang="en-US" sz="1600" dirty="0">
                <a:solidFill>
                  <a:srgbClr val="78909C"/>
                </a:solidFill>
              </a:rPr>
              <a:t>Manual test cases</a:t>
            </a:r>
            <a:endParaRPr lang="en-US" sz="1600" dirty="0"/>
          </a:p>
        </p:txBody>
      </p:sp>
      <p:pic>
        <p:nvPicPr>
          <p:cNvPr id="61" name="arrow 7" descr="preencoded.png">    </p:cNvPr>
          <p:cNvPicPr>
            <a:picLocks noChangeAspect="1"/>
          </p:cNvPicPr>
          <p:nvPr/>
        </p:nvPicPr>
        <p:blipFill>
          <a:blip r:embed="rId16"/>
          <a:stretch>
            <a:fillRect/>
          </a:stretch>
        </p:blipFill>
        <p:spPr>
          <a:xfrm>
            <a:off x="9006840" y="7946136"/>
            <a:ext cx="274320" cy="274320"/>
          </a:xfrm>
          <a:prstGeom prst="rect">
            <a:avLst/>
          </a:prstGeom>
        </p:spPr>
      </p:pic>
      <p:sp>
        <p:nvSpPr>
          <p:cNvPr id="62" name="Text 43"/>
          <p:cNvSpPr txBox="1"/>
          <p:nvPr/>
        </p:nvSpPr>
        <p:spPr>
          <a:xfrm>
            <a:off x="9646920" y="7900416"/>
            <a:ext cx="5852160" cy="384048"/>
          </a:xfrm>
          <a:prstGeom prst="rect">
            <a:avLst/>
          </a:prstGeom>
          <a:noFill/>
          <a:ln/>
        </p:spPr>
        <p:txBody>
          <a:bodyPr wrap="square" lIns="0" tIns="0" rIns="0" bIns="0" rtlCol="0" anchor="t"/>
          <a:lstStyle/>
          <a:p>
            <a:pPr indent="0" marL="0">
              <a:buNone/>
            </a:pPr>
            <a:r>
              <a:rPr lang="en-US" sz="1600" b="1" dirty="0">
                <a:solidFill>
                  <a:srgbClr val="37474F"/>
                </a:solidFill>
              </a:rPr>
              <a:t>78 automated backend + 17 UI tests, CI on every push</a:t>
            </a:r>
            <a:endParaRPr lang="en-US" sz="1600" dirty="0"/>
          </a:p>
        </p:txBody>
      </p:sp>
      <p:sp>
        <p:nvSpPr>
          <p:cNvPr id="25" name="Slide Number Placeholder 0"/>
          <p:cNvSpPr>
            <a:spLocks noGrp="1"/>
          </p:cNvSpPr>
          <p:nvPr>
            <p:ph type="sldNum" sz="quarter" idx="4294967295"/>
          </p:nvPr>
        </p:nvSpPr>
        <p:spPr>
          <a:xfrm>
            <a:off x="14794992" y="8549640"/>
            <a:ext cx="91440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3"/>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685800" y="365760"/>
            <a:ext cx="10972800" cy="365760"/>
          </a:xfrm>
          <a:prstGeom prst="rect">
            <a:avLst/>
          </a:prstGeom>
          <a:noFill/>
          <a:ln/>
        </p:spPr>
        <p:txBody>
          <a:bodyPr wrap="square" lIns="0" tIns="0" rIns="0" bIns="0" rtlCol="0"/>
          <a:lstStyle/>
          <a:p>
            <a:pPr indent="0" marL="0">
              <a:buNone/>
            </a:pPr>
            <a:r>
              <a:rPr lang="en-US" sz="1200" b="1" spc="200" kern="0" dirty="0">
                <a:solidFill>
                  <a:schemeClr val="accent3"/>
                </a:solidFill>
              </a:rPr>
              <a:t>02 — CHANGES &amp; IMPROVEMENTS</a:t>
            </a:r>
            <a:endParaRPr lang="en-US" sz="1200" dirty="0"/>
          </a:p>
        </p:txBody>
      </p:sp>
      <p:sp>
        <p:nvSpPr>
          <p:cNvPr id="3" name="Text 0"/>
          <p:cNvSpPr/>
          <p:nvPr>
            <p:ph idx="101" type="title" hasCustomPrompt="1"/>
          </p:nvPr>
        </p:nvSpPr>
        <p:spPr>
          <a:xfrm>
            <a:off x="685800" y="731520"/>
            <a:ext cx="14886432" cy="822960"/>
          </a:xfrm>
          <a:prstGeom prst="rect">
            <a:avLst/>
          </a:prstGeom>
          <a:noFill/>
          <a:ln/>
        </p:spPr>
        <p:txBody>
          <a:bodyPr wrap="square" lIns="0" tIns="0" rIns="0" bIns="0" rtlCol="0" anchor="t"/>
          <a:lstStyle/>
          <a:p>
            <a:pPr algn="l" indent="0" marL="0">
              <a:buNone/>
            </a:pPr>
            <a:r>
              <a:rPr lang="en-US" sz="3600" b="1" dirty="0">
                <a:solidFill>
                  <a:schemeClr val="tx1"/>
                </a:solidFill>
              </a:rPr>
              <a:t>Progress by Module</a:t>
            </a:r>
            <a:endParaRPr lang="en-US" sz="3600" dirty="0"/>
          </a:p>
        </p:txBody>
      </p:sp>
      <p:graphicFrame>
        <p:nvGraphicFramePr>
          <p:cNvPr id="5" name="Chart 0" descr=""/>
          <p:cNvGraphicFramePr/>
          <p:nvPr/>
        </p:nvGraphicFramePr>
        <p:xfrm>
          <a:off x="685800" y="1828800"/>
          <a:ext cx="10332720" cy="6492240"/>
        </p:xfrm>
        <a:graphic xmlns:a="http://schemas.openxmlformats.org/drawingml/2006/main">
          <a:graphicData uri="http://schemas.openxmlformats.org/drawingml/2006/chart">
            <c:chart xmlns:c="http://schemas.openxmlformats.org/drawingml/2006/chart" r:id="rId1"/>
          </a:graphicData>
        </a:graphic>
      </p:graphicFrame>
      <p:sp>
        <p:nvSpPr>
          <p:cNvPr id="6" name="overall card"/>
          <p:cNvSpPr/>
          <p:nvPr/>
        </p:nvSpPr>
        <p:spPr>
          <a:xfrm>
            <a:off x="11384280" y="1828800"/>
            <a:ext cx="4187952" cy="3017520"/>
          </a:xfrm>
          <a:prstGeom prst="roundRect">
            <a:avLst>
              <a:gd name="adj" fmla="val 2424"/>
            </a:avLst>
          </a:prstGeom>
          <a:solidFill>
            <a:srgbClr val="263238"/>
          </a:solidFill>
          <a:ln w="9525">
            <a:solidFill>
              <a:srgbClr val="CFD8DC"/>
            </a:solidFill>
            <a:prstDash val="solid"/>
          </a:ln>
        </p:spPr>
      </p:sp>
      <p:sp>
        <p:nvSpPr>
          <p:cNvPr id="7" name="Text 3"/>
          <p:cNvSpPr txBox="1"/>
          <p:nvPr/>
        </p:nvSpPr>
        <p:spPr>
          <a:xfrm>
            <a:off x="11658600" y="2057400"/>
            <a:ext cx="3657600" cy="1280160"/>
          </a:xfrm>
          <a:prstGeom prst="rect">
            <a:avLst/>
          </a:prstGeom>
          <a:noFill/>
          <a:ln/>
        </p:spPr>
        <p:txBody>
          <a:bodyPr wrap="square" lIns="0" tIns="0" rIns="0" bIns="0" rtlCol="0" anchor="t"/>
          <a:lstStyle/>
          <a:p>
            <a:pPr indent="0" marL="0">
              <a:buNone/>
            </a:pPr>
            <a:r>
              <a:rPr lang="en-US" sz="7200" b="1" dirty="0">
                <a:solidFill>
                  <a:srgbClr val="E09B00"/>
                </a:solidFill>
              </a:rPr>
              <a:t>≈70%</a:t>
            </a:r>
            <a:endParaRPr lang="en-US" sz="7200" dirty="0"/>
          </a:p>
        </p:txBody>
      </p:sp>
      <p:sp>
        <p:nvSpPr>
          <p:cNvPr id="8" name="Text 4"/>
          <p:cNvSpPr txBox="1"/>
          <p:nvPr/>
        </p:nvSpPr>
        <p:spPr>
          <a:xfrm>
            <a:off x="11658600" y="3429000"/>
            <a:ext cx="3657600" cy="1097280"/>
          </a:xfrm>
          <a:prstGeom prst="rect">
            <a:avLst/>
          </a:prstGeom>
          <a:noFill/>
          <a:ln/>
        </p:spPr>
        <p:txBody>
          <a:bodyPr wrap="square" lIns="0" tIns="0" rIns="0" bIns="0" rtlCol="0" anchor="t"/>
          <a:lstStyle/>
          <a:p>
            <a:pPr indent="0" marL="0">
              <a:buNone/>
            </a:pPr>
            <a:r>
              <a:rPr lang="en-US" sz="1700" dirty="0">
                <a:solidFill>
                  <a:srgbClr val="CFD8DC"/>
                </a:solidFill>
              </a:rPr>
              <a:t>overall, weighted by WBS effort (32.9 of 47 weeks)</a:t>
            </a:r>
            <a:endParaRPr lang="en-US" sz="1700" dirty="0"/>
          </a:p>
        </p:txBody>
      </p:sp>
      <p:sp>
        <p:nvSpPr>
          <p:cNvPr id="9" name="note card"/>
          <p:cNvSpPr/>
          <p:nvPr/>
        </p:nvSpPr>
        <p:spPr>
          <a:xfrm>
            <a:off x="11384280" y="5120640"/>
            <a:ext cx="4187952" cy="3200400"/>
          </a:xfrm>
          <a:prstGeom prst="roundRect">
            <a:avLst>
              <a:gd name="adj" fmla="val 2286"/>
            </a:avLst>
          </a:prstGeom>
          <a:solidFill>
            <a:srgbClr val="FFFFFF"/>
          </a:solidFill>
          <a:ln w="9525">
            <a:solidFill>
              <a:srgbClr val="CFD8DC"/>
            </a:solidFill>
            <a:prstDash val="solid"/>
          </a:ln>
        </p:spPr>
      </p:sp>
      <p:sp>
        <p:nvSpPr>
          <p:cNvPr id="10" name="Text 6"/>
          <p:cNvSpPr txBox="1"/>
          <p:nvPr/>
        </p:nvSpPr>
        <p:spPr>
          <a:xfrm>
            <a:off x="11658600" y="5349240"/>
            <a:ext cx="3657600" cy="2743200"/>
          </a:xfrm>
          <a:prstGeom prst="rect">
            <a:avLst/>
          </a:prstGeom>
          <a:noFill/>
          <a:ln/>
        </p:spPr>
        <p:txBody>
          <a:bodyPr wrap="square" lIns="0" tIns="0" rIns="0" bIns="0" rtlCol="0" anchor="t"/>
          <a:lstStyle/>
          <a:p>
            <a:pPr indent="0" marL="0">
              <a:spcAft>
                <a:spcPts val="600"/>
              </a:spcAft>
              <a:buNone/>
            </a:pPr>
            <a:r>
              <a:rPr lang="en-US" sz="1800" b="1" dirty="0">
                <a:solidFill>
                  <a:srgbClr val="263238"/>
                </a:solidFill>
              </a:rPr>
              <a:t>Ahead of the 60% target</a:t>
            </a:r>
            <a:endParaRPr lang="en-US" sz="1600" dirty="0"/>
          </a:p>
          <a:p>
            <a:pPr indent="0" marL="0">
              <a:spcAft>
                <a:spcPts val="600"/>
              </a:spcAft>
              <a:buNone/>
            </a:pPr>
            <a:r>
              <a:rPr lang="en-US" sz="1500" dirty="0">
                <a:solidFill>
                  <a:srgbClr val="37474F"/>
                </a:solidFill>
              </a:rPr>
              <a:t>All non-AI scope features of M1–M7 are in place. Open items: PCAP per session, reputation feeds, and the Module 8 models.</a:t>
            </a:r>
            <a:endParaRPr lang="en-US" sz="1600" dirty="0"/>
          </a:p>
        </p:txBody>
      </p:sp>
      <p:sp>
        <p:nvSpPr>
          <p:cNvPr id="25" name="Slide Number Placeholder 0"/>
          <p:cNvSpPr>
            <a:spLocks noGrp="1"/>
          </p:cNvSpPr>
          <p:nvPr>
            <p:ph type="sldNum" sz="quarter" idx="4294967295"/>
          </p:nvPr>
        </p:nvSpPr>
        <p:spPr>
          <a:xfrm>
            <a:off x="14794992" y="8549640"/>
            <a:ext cx="91440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3"/>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685800" y="2743200"/>
            <a:ext cx="5486400" cy="1371600"/>
          </a:xfrm>
          <a:prstGeom prst="rect">
            <a:avLst/>
          </a:prstGeom>
          <a:noFill/>
          <a:ln/>
        </p:spPr>
        <p:txBody>
          <a:bodyPr wrap="square" lIns="0" tIns="0" rIns="0" bIns="0" rtlCol="0"/>
          <a:lstStyle/>
          <a:p>
            <a:pPr indent="0" marL="0">
              <a:buNone/>
            </a:pPr>
            <a:r>
              <a:rPr lang="en-US" sz="8000" b="1" dirty="0">
                <a:solidFill>
                  <a:schemeClr val="accent2"/>
                </a:solidFill>
              </a:rPr>
              <a:t>03</a:t>
            </a:r>
            <a:endParaRPr lang="en-US" sz="8000" dirty="0"/>
          </a:p>
        </p:txBody>
      </p:sp>
      <p:sp>
        <p:nvSpPr>
          <p:cNvPr id="3" name="Text 0"/>
          <p:cNvSpPr/>
          <p:nvPr>
            <p:ph idx="101" type="title" hasCustomPrompt="1"/>
          </p:nvPr>
        </p:nvSpPr>
        <p:spPr>
          <a:xfrm>
            <a:off x="685800" y="4206240"/>
            <a:ext cx="12801600" cy="1097280"/>
          </a:xfrm>
          <a:prstGeom prst="rect">
            <a:avLst/>
          </a:prstGeom>
          <a:noFill/>
          <a:ln/>
        </p:spPr>
        <p:txBody>
          <a:bodyPr wrap="square" lIns="0" tIns="0" rIns="0" bIns="0" rtlCol="0"/>
          <a:lstStyle/>
          <a:p>
            <a:pPr algn="l" indent="0" marL="0">
              <a:buNone/>
            </a:pPr>
            <a:r>
              <a:rPr lang="en-US" sz="4800" b="1" dirty="0">
                <a:solidFill>
                  <a:schemeClr val="bg1"/>
                </a:solidFill>
              </a:rPr>
              <a:t>Implemented Modules</a:t>
            </a:r>
            <a:endParaRPr lang="en-US" sz="4800" dirty="0"/>
          </a:p>
        </p:txBody>
      </p:sp>
      <p:sp>
        <p:nvSpPr>
          <p:cNvPr id="4" name="Text 0"/>
          <p:cNvSpPr/>
          <p:nvPr>
            <p:ph idx="102" type="body" hasCustomPrompt="1"/>
          </p:nvPr>
        </p:nvSpPr>
        <p:spPr>
          <a:xfrm>
            <a:off x="685800" y="5349240"/>
            <a:ext cx="12801600" cy="731520"/>
          </a:xfrm>
          <a:prstGeom prst="rect">
            <a:avLst/>
          </a:prstGeom>
          <a:noFill/>
          <a:ln/>
        </p:spPr>
        <p:txBody>
          <a:bodyPr wrap="square" lIns="0" tIns="0" rIns="0" bIns="0" rtlCol="0"/>
          <a:lstStyle/>
          <a:p>
            <a:pPr indent="0" marL="0">
              <a:buNone/>
            </a:pPr>
            <a:r>
              <a:rPr lang="en-US" sz="2000" dirty="0">
                <a:solidFill>
                  <a:schemeClr val="accent6"/>
                </a:solidFill>
              </a:rPr>
              <a:t>Each member presents their own work with a live demo</a:t>
            </a:r>
            <a:endParaRPr lang="en-US" sz="2000" dirty="0"/>
          </a:p>
        </p:txBody>
      </p:sp>
      <p:sp>
        <p:nvSpPr>
          <p:cNvPr id="25" name="Slide Number Placeholder 0"/>
          <p:cNvSpPr>
            <a:spLocks noGrp="1"/>
          </p:cNvSpPr>
          <p:nvPr>
            <p:ph type="sldNum" sz="quarter" idx="4294967295"/>
          </p:nvPr>
        </p:nvSpPr>
        <p:spPr>
          <a:xfrm>
            <a:off x="14794992" y="8549640"/>
            <a:ext cx="91440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3"/>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685800" y="365760"/>
            <a:ext cx="10972800" cy="365760"/>
          </a:xfrm>
          <a:prstGeom prst="rect">
            <a:avLst/>
          </a:prstGeom>
          <a:noFill/>
          <a:ln/>
        </p:spPr>
        <p:txBody>
          <a:bodyPr wrap="square" lIns="0" tIns="0" rIns="0" bIns="0" rtlCol="0"/>
          <a:lstStyle/>
          <a:p>
            <a:pPr indent="0" marL="0">
              <a:buNone/>
            </a:pPr>
            <a:r>
              <a:rPr lang="en-US" sz="1200" b="1" spc="200" kern="0" dirty="0">
                <a:solidFill>
                  <a:schemeClr val="accent3"/>
                </a:solidFill>
              </a:rPr>
              <a:t>03 — IMPLEMENTED MODULES</a:t>
            </a:r>
            <a:endParaRPr lang="en-US" sz="1200" dirty="0"/>
          </a:p>
        </p:txBody>
      </p:sp>
      <p:sp>
        <p:nvSpPr>
          <p:cNvPr id="3" name="Text 0"/>
          <p:cNvSpPr/>
          <p:nvPr>
            <p:ph idx="101" type="title" hasCustomPrompt="1"/>
          </p:nvPr>
        </p:nvSpPr>
        <p:spPr>
          <a:xfrm>
            <a:off x="685800" y="731520"/>
            <a:ext cx="14886432" cy="822960"/>
          </a:xfrm>
          <a:prstGeom prst="rect">
            <a:avLst/>
          </a:prstGeom>
          <a:noFill/>
          <a:ln/>
        </p:spPr>
        <p:txBody>
          <a:bodyPr wrap="square" lIns="0" tIns="0" rIns="0" bIns="0" rtlCol="0" anchor="t"/>
          <a:lstStyle/>
          <a:p>
            <a:pPr algn="l" indent="0" marL="0">
              <a:buNone/>
            </a:pPr>
            <a:r>
              <a:rPr lang="en-US" sz="3600" b="1" dirty="0">
                <a:solidFill>
                  <a:schemeClr val="tx1"/>
                </a:solidFill>
              </a:rPr>
              <a:t>Abdul Wadood — Implemented Modules</a:t>
            </a:r>
            <a:endParaRPr lang="en-US" sz="3600" dirty="0"/>
          </a:p>
        </p:txBody>
      </p:sp>
      <p:sp>
        <p:nvSpPr>
          <p:cNvPr id="5" name="Abdul Wadood profile"/>
          <p:cNvSpPr/>
          <p:nvPr/>
        </p:nvSpPr>
        <p:spPr>
          <a:xfrm>
            <a:off x="685800" y="1828800"/>
            <a:ext cx="4206240" cy="6492240"/>
          </a:xfrm>
          <a:prstGeom prst="roundRect">
            <a:avLst>
              <a:gd name="adj" fmla="val 1739"/>
            </a:avLst>
          </a:prstGeom>
          <a:solidFill>
            <a:srgbClr val="263238"/>
          </a:solidFill>
          <a:ln w="9525">
            <a:solidFill>
              <a:srgbClr val="CFD8DC"/>
            </a:solidFill>
            <a:prstDash val="solid"/>
          </a:ln>
        </p:spPr>
      </p:sp>
      <p:sp>
        <p:nvSpPr>
          <p:cNvPr id="6" name="Text 3"/>
          <p:cNvSpPr txBox="1"/>
          <p:nvPr/>
        </p:nvSpPr>
        <p:spPr>
          <a:xfrm>
            <a:off x="1005840" y="2148840"/>
            <a:ext cx="3566160" cy="365760"/>
          </a:xfrm>
          <a:prstGeom prst="rect">
            <a:avLst/>
          </a:prstGeom>
          <a:noFill/>
          <a:ln/>
        </p:spPr>
        <p:txBody>
          <a:bodyPr wrap="square" lIns="0" tIns="0" rIns="0" bIns="0" rtlCol="0" anchor="t"/>
          <a:lstStyle/>
          <a:p>
            <a:pPr indent="0" marL="0">
              <a:buNone/>
            </a:pPr>
            <a:r>
              <a:rPr lang="en-US" sz="1300" b="1" spc="300" kern="0" dirty="0">
                <a:solidFill>
                  <a:srgbClr val="E09B00"/>
                </a:solidFill>
              </a:rPr>
              <a:t>MEMBER</a:t>
            </a:r>
            <a:endParaRPr lang="en-US" sz="1300" dirty="0"/>
          </a:p>
        </p:txBody>
      </p:sp>
      <p:sp>
        <p:nvSpPr>
          <p:cNvPr id="7" name="Text 4"/>
          <p:cNvSpPr txBox="1"/>
          <p:nvPr/>
        </p:nvSpPr>
        <p:spPr>
          <a:xfrm>
            <a:off x="1005840" y="2560320"/>
            <a:ext cx="3566160" cy="548640"/>
          </a:xfrm>
          <a:prstGeom prst="rect">
            <a:avLst/>
          </a:prstGeom>
          <a:noFill/>
          <a:ln/>
        </p:spPr>
        <p:txBody>
          <a:bodyPr wrap="square" lIns="0" tIns="0" rIns="0" bIns="0" rtlCol="0" anchor="t"/>
          <a:lstStyle/>
          <a:p>
            <a:pPr indent="0" marL="0">
              <a:buNone/>
            </a:pPr>
            <a:r>
              <a:rPr lang="en-US" sz="2800" b="1" dirty="0">
                <a:solidFill>
                  <a:srgbClr val="FFFFFF"/>
                </a:solidFill>
              </a:rPr>
              <a:t>Abdul Wadood</a:t>
            </a:r>
            <a:endParaRPr lang="en-US" sz="2800" dirty="0"/>
          </a:p>
        </p:txBody>
      </p:sp>
      <p:sp>
        <p:nvSpPr>
          <p:cNvPr id="8" name="Text 5"/>
          <p:cNvSpPr txBox="1"/>
          <p:nvPr/>
        </p:nvSpPr>
        <p:spPr>
          <a:xfrm>
            <a:off x="1005840" y="3108960"/>
            <a:ext cx="3566160" cy="365760"/>
          </a:xfrm>
          <a:prstGeom prst="rect">
            <a:avLst/>
          </a:prstGeom>
          <a:noFill/>
          <a:ln/>
        </p:spPr>
        <p:txBody>
          <a:bodyPr wrap="square" lIns="0" tIns="0" rIns="0" bIns="0" rtlCol="0" anchor="t"/>
          <a:lstStyle/>
          <a:p>
            <a:pPr indent="0" marL="0">
              <a:buNone/>
            </a:pPr>
            <a:r>
              <a:rPr lang="en-US" sz="1400" dirty="0">
                <a:solidFill>
                  <a:srgbClr val="90A4AE"/>
                </a:solidFill>
              </a:rPr>
              <a:t>CIIT/SP23-BCT-001/ISB</a:t>
            </a:r>
            <a:endParaRPr lang="en-US" sz="1400" dirty="0"/>
          </a:p>
        </p:txBody>
      </p:sp>
      <p:sp>
        <p:nvSpPr>
          <p:cNvPr id="9" name="Text 6"/>
          <p:cNvSpPr txBox="1"/>
          <p:nvPr/>
        </p:nvSpPr>
        <p:spPr>
          <a:xfrm>
            <a:off x="1005840" y="3749040"/>
            <a:ext cx="3566160" cy="1097280"/>
          </a:xfrm>
          <a:prstGeom prst="rect">
            <a:avLst/>
          </a:prstGeom>
          <a:noFill/>
          <a:ln/>
        </p:spPr>
        <p:txBody>
          <a:bodyPr wrap="square" lIns="0" tIns="0" rIns="0" bIns="0" rtlCol="0" anchor="t"/>
          <a:lstStyle/>
          <a:p>
            <a:pPr indent="0" marL="0">
              <a:buNone/>
            </a:pPr>
            <a:r>
              <a:rPr lang="en-US" sz="1700" dirty="0">
                <a:solidFill>
                  <a:srgbClr val="CFD8DC"/>
                </a:solidFill>
              </a:rPr>
              <a:t>Attacker-facing honeypots, device emulation and secure deployment</a:t>
            </a:r>
            <a:endParaRPr lang="en-US" sz="1700" dirty="0"/>
          </a:p>
        </p:txBody>
      </p:sp>
      <p:sp>
        <p:nvSpPr>
          <p:cNvPr id="10" name="Text 7"/>
          <p:cNvSpPr txBox="1"/>
          <p:nvPr/>
        </p:nvSpPr>
        <p:spPr>
          <a:xfrm>
            <a:off x="1005840" y="5212080"/>
            <a:ext cx="3566160" cy="2926080"/>
          </a:xfrm>
          <a:prstGeom prst="rect">
            <a:avLst/>
          </a:prstGeom>
          <a:noFill/>
          <a:ln/>
        </p:spPr>
        <p:txBody>
          <a:bodyPr wrap="square" lIns="0" tIns="0" rIns="0" bIns="0" rtlCol="0" anchor="t"/>
          <a:lstStyle/>
          <a:p>
            <a:pPr indent="0" marL="0">
              <a:spcAft>
                <a:spcPts val="600"/>
              </a:spcAft>
              <a:buNone/>
            </a:pPr>
            <a:r>
              <a:rPr lang="en-US" sz="1500" b="1" dirty="0">
                <a:solidFill>
                  <a:srgbClr val="E09B00"/>
                </a:solidFill>
              </a:rPr>
              <a:t>Contribution to the system</a:t>
            </a:r>
            <a:endParaRPr lang="en-US" sz="1600" dirty="0"/>
          </a:p>
          <a:p>
            <a:pPr indent="0" marL="0">
              <a:spcAft>
                <a:spcPts val="600"/>
              </a:spcAft>
              <a:buNone/>
            </a:pPr>
            <a:r>
              <a:rPr lang="en-US" sz="1500" dirty="0">
                <a:solidFill>
                  <a:srgbClr val="FFFFFF"/>
                </a:solidFill>
              </a:rPr>
              <a:t>Everything an attacker touches is built here, and every interaction is handed to the shared logger — so all later modules work on real, consistent data.</a:t>
            </a:r>
            <a:endParaRPr lang="en-US" sz="1600" dirty="0"/>
          </a:p>
        </p:txBody>
      </p:sp>
      <p:sp>
        <p:nvSpPr>
          <p:cNvPr id="11" name="M1 card"/>
          <p:cNvSpPr/>
          <p:nvPr/>
        </p:nvSpPr>
        <p:spPr>
          <a:xfrm>
            <a:off x="5166360" y="1828800"/>
            <a:ext cx="10405872" cy="1981200"/>
          </a:xfrm>
          <a:prstGeom prst="roundRect">
            <a:avLst>
              <a:gd name="adj" fmla="val 3692"/>
            </a:avLst>
          </a:prstGeom>
          <a:solidFill>
            <a:srgbClr val="FFFFFF"/>
          </a:solidFill>
          <a:ln w="9525">
            <a:solidFill>
              <a:srgbClr val="CFD8DC"/>
            </a:solidFill>
            <a:prstDash val="solid"/>
          </a:ln>
        </p:spPr>
      </p:sp>
      <p:sp>
        <p:nvSpPr>
          <p:cNvPr id="12" name="M1 circle"/>
          <p:cNvSpPr/>
          <p:nvPr/>
        </p:nvSpPr>
        <p:spPr>
          <a:xfrm>
            <a:off x="5440680" y="2103120"/>
            <a:ext cx="640080" cy="640080"/>
          </a:xfrm>
          <a:prstGeom prst="ellipse">
            <a:avLst/>
          </a:prstGeom>
          <a:solidFill>
            <a:srgbClr val="455A64"/>
          </a:solidFill>
          <a:ln w="12700">
            <a:solidFill>
              <a:srgbClr val="455A64"/>
            </a:solidFill>
            <a:prstDash val="solid"/>
          </a:ln>
        </p:spPr>
      </p:sp>
      <p:pic>
        <p:nvPicPr>
          <p:cNvPr id="13" name="M1 icon" descr="preencoded.png">    </p:cNvPr>
          <p:cNvPicPr>
            <a:picLocks noChangeAspect="1"/>
          </p:cNvPicPr>
          <p:nvPr/>
        </p:nvPicPr>
        <p:blipFill>
          <a:blip r:embed="rId1"/>
          <a:stretch>
            <a:fillRect/>
          </a:stretch>
        </p:blipFill>
        <p:spPr>
          <a:xfrm>
            <a:off x="5613502" y="2275942"/>
            <a:ext cx="294437" cy="294437"/>
          </a:xfrm>
          <a:prstGeom prst="rect">
            <a:avLst/>
          </a:prstGeom>
        </p:spPr>
      </p:pic>
      <p:sp>
        <p:nvSpPr>
          <p:cNvPr id="14" name="Text 10"/>
          <p:cNvSpPr txBox="1"/>
          <p:nvPr/>
        </p:nvSpPr>
        <p:spPr>
          <a:xfrm>
            <a:off x="6263640" y="2103120"/>
            <a:ext cx="9034272" cy="457200"/>
          </a:xfrm>
          <a:prstGeom prst="rect">
            <a:avLst/>
          </a:prstGeom>
          <a:noFill/>
          <a:ln/>
        </p:spPr>
        <p:txBody>
          <a:bodyPr wrap="square" lIns="0" tIns="0" rIns="0" bIns="0" rtlCol="0" anchor="t"/>
          <a:lstStyle/>
          <a:p>
            <a:pPr indent="0" marL="0">
              <a:buNone/>
            </a:pPr>
            <a:r>
              <a:rPr lang="en-US" sz="1900" b="1" dirty="0">
                <a:solidFill>
                  <a:srgbClr val="E09B00"/>
                </a:solidFill>
              </a:rPr>
              <a:t>M1  </a:t>
            </a:r>
            <a:pPr indent="0" marL="0">
              <a:buNone/>
            </a:pPr>
            <a:r>
              <a:rPr lang="en-US" sz="1900" b="1" dirty="0">
                <a:solidFill>
                  <a:srgbClr val="263238"/>
                </a:solidFill>
              </a:rPr>
              <a:t>IoT Device Emulation Engine</a:t>
            </a:r>
            <a:endParaRPr lang="en-US" sz="1900" dirty="0"/>
          </a:p>
        </p:txBody>
      </p:sp>
      <p:sp>
        <p:nvSpPr>
          <p:cNvPr id="15" name="Text 11"/>
          <p:cNvSpPr txBox="1"/>
          <p:nvPr/>
        </p:nvSpPr>
        <p:spPr>
          <a:xfrm>
            <a:off x="6263640" y="2606040"/>
            <a:ext cx="9034272" cy="1066800"/>
          </a:xfrm>
          <a:prstGeom prst="rect">
            <a:avLst/>
          </a:prstGeom>
          <a:noFill/>
          <a:ln/>
        </p:spPr>
        <p:txBody>
          <a:bodyPr wrap="square" lIns="0" tIns="0" rIns="0" bIns="0" rtlCol="0" anchor="t"/>
          <a:lstStyle/>
          <a:p>
            <a:pPr indent="0" marL="0">
              <a:buNone/>
            </a:pPr>
            <a:r>
              <a:rPr lang="en-US" sz="1500" dirty="0">
                <a:solidFill>
                  <a:srgbClr val="37474F"/>
                </a:solidFill>
              </a:rPr>
              <a:t>CCTV camera, smart lock and industrial sensor with vendor banners, BusyBox-style fake file system and per-device default-credential profiles. Device State Manager in Redis: one state per device, live sensor simulation, alarms, auto re-lock.</a:t>
            </a:r>
            <a:endParaRPr lang="en-US" sz="1500" dirty="0"/>
          </a:p>
        </p:txBody>
      </p:sp>
      <p:sp>
        <p:nvSpPr>
          <p:cNvPr id="16" name="M2 card"/>
          <p:cNvSpPr/>
          <p:nvPr/>
        </p:nvSpPr>
        <p:spPr>
          <a:xfrm>
            <a:off x="5166360" y="4084320"/>
            <a:ext cx="10405872" cy="1981200"/>
          </a:xfrm>
          <a:prstGeom prst="roundRect">
            <a:avLst>
              <a:gd name="adj" fmla="val 3692"/>
            </a:avLst>
          </a:prstGeom>
          <a:solidFill>
            <a:srgbClr val="FFFFFF"/>
          </a:solidFill>
          <a:ln w="9525">
            <a:solidFill>
              <a:srgbClr val="CFD8DC"/>
            </a:solidFill>
            <a:prstDash val="solid"/>
          </a:ln>
        </p:spPr>
      </p:sp>
      <p:sp>
        <p:nvSpPr>
          <p:cNvPr id="17" name="M2 circle"/>
          <p:cNvSpPr/>
          <p:nvPr/>
        </p:nvSpPr>
        <p:spPr>
          <a:xfrm>
            <a:off x="5440680" y="4358640"/>
            <a:ext cx="640080" cy="640080"/>
          </a:xfrm>
          <a:prstGeom prst="ellipse">
            <a:avLst/>
          </a:prstGeom>
          <a:solidFill>
            <a:srgbClr val="455A64"/>
          </a:solidFill>
          <a:ln w="12700">
            <a:solidFill>
              <a:srgbClr val="455A64"/>
            </a:solidFill>
            <a:prstDash val="solid"/>
          </a:ln>
        </p:spPr>
      </p:sp>
      <p:pic>
        <p:nvPicPr>
          <p:cNvPr id="18" name="M2 icon" descr="preencoded.png">    </p:cNvPr>
          <p:cNvPicPr>
            <a:picLocks noChangeAspect="1"/>
          </p:cNvPicPr>
          <p:nvPr/>
        </p:nvPicPr>
        <p:blipFill>
          <a:blip r:embed="rId2"/>
          <a:stretch>
            <a:fillRect/>
          </a:stretch>
        </p:blipFill>
        <p:spPr>
          <a:xfrm>
            <a:off x="5613502" y="4531462"/>
            <a:ext cx="294437" cy="294437"/>
          </a:xfrm>
          <a:prstGeom prst="rect">
            <a:avLst/>
          </a:prstGeom>
        </p:spPr>
      </p:pic>
      <p:sp>
        <p:nvSpPr>
          <p:cNvPr id="19" name="Text 14"/>
          <p:cNvSpPr txBox="1"/>
          <p:nvPr/>
        </p:nvSpPr>
        <p:spPr>
          <a:xfrm>
            <a:off x="6263640" y="4358640"/>
            <a:ext cx="9034272" cy="457200"/>
          </a:xfrm>
          <a:prstGeom prst="rect">
            <a:avLst/>
          </a:prstGeom>
          <a:noFill/>
          <a:ln/>
        </p:spPr>
        <p:txBody>
          <a:bodyPr wrap="square" lIns="0" tIns="0" rIns="0" bIns="0" rtlCol="0" anchor="t"/>
          <a:lstStyle/>
          <a:p>
            <a:pPr indent="0" marL="0">
              <a:buNone/>
            </a:pPr>
            <a:r>
              <a:rPr lang="en-US" sz="1900" b="1" dirty="0">
                <a:solidFill>
                  <a:srgbClr val="E09B00"/>
                </a:solidFill>
              </a:rPr>
              <a:t>M2  </a:t>
            </a:r>
            <a:pPr indent="0" marL="0">
              <a:buNone/>
            </a:pPr>
            <a:r>
              <a:rPr lang="en-US" sz="1900" b="1" dirty="0">
                <a:solidFill>
                  <a:srgbClr val="263238"/>
                </a:solidFill>
              </a:rPr>
              <a:t>Multi-Protocol Communication Handler</a:t>
            </a:r>
            <a:endParaRPr lang="en-US" sz="1900" dirty="0"/>
          </a:p>
        </p:txBody>
      </p:sp>
      <p:sp>
        <p:nvSpPr>
          <p:cNvPr id="20" name="Text 15"/>
          <p:cNvSpPr txBox="1"/>
          <p:nvPr/>
        </p:nvSpPr>
        <p:spPr>
          <a:xfrm>
            <a:off x="6263640" y="4861560"/>
            <a:ext cx="9034272" cy="1066800"/>
          </a:xfrm>
          <a:prstGeom prst="rect">
            <a:avLst/>
          </a:prstGeom>
          <a:noFill/>
          <a:ln/>
        </p:spPr>
        <p:txBody>
          <a:bodyPr wrap="square" lIns="0" tIns="0" rIns="0" bIns="0" rtlCol="0" anchor="t"/>
          <a:lstStyle/>
          <a:p>
            <a:pPr indent="0" marL="0">
              <a:buNone/>
            </a:pPr>
            <a:r>
              <a:rPr lang="en-US" sz="1500" dirty="0">
                <a:solidFill>
                  <a:srgbClr val="37474F"/>
                </a:solidFill>
              </a:rPr>
              <a:t>SSH (Paramiko: shell, exec, stdin and scp), Telnet (asyncio, IAC negotiation), HTTP/HTTPS (camera panel, lock REST API, sensor HMI), MQTT 3.1.1 broker parser and RTSP with Basic + Digest authentication.</a:t>
            </a:r>
            <a:endParaRPr lang="en-US" sz="1500" dirty="0"/>
          </a:p>
        </p:txBody>
      </p:sp>
      <p:sp>
        <p:nvSpPr>
          <p:cNvPr id="21" name="M7 card"/>
          <p:cNvSpPr/>
          <p:nvPr/>
        </p:nvSpPr>
        <p:spPr>
          <a:xfrm>
            <a:off x="5166360" y="6339840"/>
            <a:ext cx="10405872" cy="1981200"/>
          </a:xfrm>
          <a:prstGeom prst="roundRect">
            <a:avLst>
              <a:gd name="adj" fmla="val 3692"/>
            </a:avLst>
          </a:prstGeom>
          <a:solidFill>
            <a:srgbClr val="FFFFFF"/>
          </a:solidFill>
          <a:ln w="9525">
            <a:solidFill>
              <a:srgbClr val="CFD8DC"/>
            </a:solidFill>
            <a:prstDash val="solid"/>
          </a:ln>
        </p:spPr>
      </p:sp>
      <p:sp>
        <p:nvSpPr>
          <p:cNvPr id="22" name="M7 circle"/>
          <p:cNvSpPr/>
          <p:nvPr/>
        </p:nvSpPr>
        <p:spPr>
          <a:xfrm>
            <a:off x="5440680" y="6614160"/>
            <a:ext cx="640080" cy="640080"/>
          </a:xfrm>
          <a:prstGeom prst="ellipse">
            <a:avLst/>
          </a:prstGeom>
          <a:solidFill>
            <a:srgbClr val="455A64"/>
          </a:solidFill>
          <a:ln w="12700">
            <a:solidFill>
              <a:srgbClr val="455A64"/>
            </a:solidFill>
            <a:prstDash val="solid"/>
          </a:ln>
        </p:spPr>
      </p:sp>
      <p:pic>
        <p:nvPicPr>
          <p:cNvPr id="23" name="M7 icon" descr="preencoded.png">    </p:cNvPr>
          <p:cNvPicPr>
            <a:picLocks noChangeAspect="1"/>
          </p:cNvPicPr>
          <p:nvPr/>
        </p:nvPicPr>
        <p:blipFill>
          <a:blip r:embed="rId3"/>
          <a:stretch>
            <a:fillRect/>
          </a:stretch>
        </p:blipFill>
        <p:spPr>
          <a:xfrm>
            <a:off x="5613502" y="6786982"/>
            <a:ext cx="294437" cy="294437"/>
          </a:xfrm>
          <a:prstGeom prst="rect">
            <a:avLst/>
          </a:prstGeom>
        </p:spPr>
      </p:pic>
      <p:sp>
        <p:nvSpPr>
          <p:cNvPr id="24" name="Text 18"/>
          <p:cNvSpPr txBox="1"/>
          <p:nvPr/>
        </p:nvSpPr>
        <p:spPr>
          <a:xfrm>
            <a:off x="6263640" y="6614160"/>
            <a:ext cx="9034272" cy="457200"/>
          </a:xfrm>
          <a:prstGeom prst="rect">
            <a:avLst/>
          </a:prstGeom>
          <a:noFill/>
          <a:ln/>
        </p:spPr>
        <p:txBody>
          <a:bodyPr wrap="square" lIns="0" tIns="0" rIns="0" bIns="0" rtlCol="0" anchor="t"/>
          <a:lstStyle/>
          <a:p>
            <a:pPr indent="0" marL="0">
              <a:buNone/>
            </a:pPr>
            <a:r>
              <a:rPr lang="en-US" sz="1900" b="1" dirty="0">
                <a:solidFill>
                  <a:srgbClr val="E09B00"/>
                </a:solidFill>
              </a:rPr>
              <a:t>M7  </a:t>
            </a:r>
            <a:pPr indent="0" marL="0">
              <a:buNone/>
            </a:pPr>
            <a:r>
              <a:rPr lang="en-US" sz="1900" b="1" dirty="0">
                <a:solidFill>
                  <a:srgbClr val="263238"/>
                </a:solidFill>
              </a:rPr>
              <a:t>Containerized Deployment &amp; Sandbox</a:t>
            </a:r>
            <a:endParaRPr lang="en-US" sz="1900" dirty="0"/>
          </a:p>
        </p:txBody>
      </p:sp>
      <p:sp>
        <p:nvSpPr>
          <p:cNvPr id="25" name="Text 19"/>
          <p:cNvSpPr txBox="1"/>
          <p:nvPr/>
        </p:nvSpPr>
        <p:spPr>
          <a:xfrm>
            <a:off x="6263640" y="7117080"/>
            <a:ext cx="9034272" cy="1066800"/>
          </a:xfrm>
          <a:prstGeom prst="rect">
            <a:avLst/>
          </a:prstGeom>
          <a:noFill/>
          <a:ln/>
        </p:spPr>
        <p:txBody>
          <a:bodyPr wrap="square" lIns="0" tIns="0" rIns="0" bIns="0" rtlCol="0" anchor="t"/>
          <a:lstStyle/>
          <a:p>
            <a:pPr indent="0" marL="0">
              <a:buNone/>
            </a:pPr>
            <a:r>
              <a:rPr lang="en-US" sz="1500" dirty="0">
                <a:solidFill>
                  <a:srgbClr val="37474F"/>
                </a:solidFill>
              </a:rPr>
              <a:t>Docker Compose stack of 13 services on 4 networks; firewall service with DOCKER-USER rules; non-root, read-only containers; bcrypt dashboard password; SHA-256-verified backups; Prometheus/Grafana profile.</a:t>
            </a:r>
            <a:endParaRPr lang="en-US" sz="1500" dirty="0"/>
          </a:p>
        </p:txBody>
      </p:sp>
      <p:sp>
        <p:nvSpPr>
          <p:cNvPr id="25" name="Slide Number Placeholder 0"/>
          <p:cNvSpPr>
            <a:spLocks noGrp="1"/>
          </p:cNvSpPr>
          <p:nvPr>
            <p:ph type="sldNum" sz="quarter" idx="4294967295"/>
          </p:nvPr>
        </p:nvSpPr>
        <p:spPr>
          <a:xfrm>
            <a:off x="14794992" y="8549640"/>
            <a:ext cx="91440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3"/>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685800" y="365760"/>
            <a:ext cx="10972800" cy="365760"/>
          </a:xfrm>
          <a:prstGeom prst="rect">
            <a:avLst/>
          </a:prstGeom>
          <a:noFill/>
          <a:ln/>
        </p:spPr>
        <p:txBody>
          <a:bodyPr wrap="square" lIns="0" tIns="0" rIns="0" bIns="0" rtlCol="0"/>
          <a:lstStyle/>
          <a:p>
            <a:pPr indent="0" marL="0">
              <a:buNone/>
            </a:pPr>
            <a:r>
              <a:rPr lang="en-US" sz="1200" b="1" spc="200" kern="0" dirty="0">
                <a:solidFill>
                  <a:schemeClr val="accent3"/>
                </a:solidFill>
              </a:rPr>
              <a:t>03 — IMPLEMENTED MODULES · ABDUL WADOOD</a:t>
            </a:r>
            <a:endParaRPr lang="en-US" sz="1200" dirty="0"/>
          </a:p>
        </p:txBody>
      </p:sp>
      <p:sp>
        <p:nvSpPr>
          <p:cNvPr id="3" name="Text 0"/>
          <p:cNvSpPr/>
          <p:nvPr>
            <p:ph idx="101" type="title" hasCustomPrompt="1"/>
          </p:nvPr>
        </p:nvSpPr>
        <p:spPr>
          <a:xfrm>
            <a:off x="685800" y="731520"/>
            <a:ext cx="14886432" cy="822960"/>
          </a:xfrm>
          <a:prstGeom prst="rect">
            <a:avLst/>
          </a:prstGeom>
          <a:noFill/>
          <a:ln/>
        </p:spPr>
        <p:txBody>
          <a:bodyPr wrap="square" lIns="0" tIns="0" rIns="0" bIns="0" rtlCol="0" anchor="t"/>
          <a:lstStyle/>
          <a:p>
            <a:pPr algn="l" indent="0" marL="0">
              <a:buNone/>
            </a:pPr>
            <a:r>
              <a:rPr lang="en-US" sz="3600" b="1" dirty="0">
                <a:solidFill>
                  <a:schemeClr val="tx1"/>
                </a:solidFill>
              </a:rPr>
              <a:t>Wadood — Technical Implementation</a:t>
            </a:r>
            <a:endParaRPr lang="en-US" sz="3600" dirty="0"/>
          </a:p>
        </p:txBody>
      </p:sp>
      <p:sp>
        <p:nvSpPr>
          <p:cNvPr id="5" name="state diagram card"/>
          <p:cNvSpPr/>
          <p:nvPr/>
        </p:nvSpPr>
        <p:spPr>
          <a:xfrm>
            <a:off x="685800" y="1783080"/>
            <a:ext cx="5760720" cy="6537960"/>
          </a:xfrm>
          <a:prstGeom prst="roundRect">
            <a:avLst>
              <a:gd name="adj" fmla="val 1270"/>
            </a:avLst>
          </a:prstGeom>
          <a:solidFill>
            <a:srgbClr val="FFFFFF"/>
          </a:solidFill>
          <a:ln w="9525">
            <a:solidFill>
              <a:srgbClr val="CFD8DC"/>
            </a:solidFill>
            <a:prstDash val="solid"/>
          </a:ln>
        </p:spPr>
      </p:sp>
      <p:sp>
        <p:nvSpPr>
          <p:cNvPr id="6" name="Text 3"/>
          <p:cNvSpPr txBox="1"/>
          <p:nvPr/>
        </p:nvSpPr>
        <p:spPr>
          <a:xfrm>
            <a:off x="914400" y="1938528"/>
            <a:ext cx="5303520" cy="320040"/>
          </a:xfrm>
          <a:prstGeom prst="rect">
            <a:avLst/>
          </a:prstGeom>
          <a:noFill/>
          <a:ln/>
        </p:spPr>
        <p:txBody>
          <a:bodyPr wrap="square" lIns="0" tIns="0" rIns="0" bIns="0" rtlCol="0" anchor="t"/>
          <a:lstStyle/>
          <a:p>
            <a:pPr indent="0" marL="0">
              <a:buNone/>
            </a:pPr>
            <a:r>
              <a:rPr lang="en-US" sz="1400" b="1" dirty="0">
                <a:solidFill>
                  <a:srgbClr val="78909C"/>
                </a:solidFill>
              </a:rPr>
              <a:t>Write on any protocol</a:t>
            </a:r>
            <a:endParaRPr lang="en-US" sz="1400" dirty="0"/>
          </a:p>
        </p:txBody>
      </p:sp>
      <p:sp>
        <p:nvSpPr>
          <p:cNvPr id="7" name="writer SSH"/>
          <p:cNvSpPr/>
          <p:nvPr/>
        </p:nvSpPr>
        <p:spPr>
          <a:xfrm>
            <a:off x="914400" y="2286000"/>
            <a:ext cx="1691640" cy="914400"/>
          </a:xfrm>
          <a:prstGeom prst="roundRect">
            <a:avLst>
              <a:gd name="adj" fmla="val 6000"/>
            </a:avLst>
          </a:prstGeom>
          <a:solidFill>
            <a:srgbClr val="ECEFF1"/>
          </a:solidFill>
          <a:ln w="12700">
            <a:solidFill>
              <a:srgbClr val="CFD8DC"/>
            </a:solidFill>
            <a:prstDash val="solid"/>
          </a:ln>
        </p:spPr>
      </p:sp>
      <p:sp>
        <p:nvSpPr>
          <p:cNvPr id="8" name="Text 5"/>
          <p:cNvSpPr txBox="1"/>
          <p:nvPr/>
        </p:nvSpPr>
        <p:spPr>
          <a:xfrm>
            <a:off x="1005840" y="2331720"/>
            <a:ext cx="1508760" cy="822960"/>
          </a:xfrm>
          <a:prstGeom prst="rect">
            <a:avLst/>
          </a:prstGeom>
          <a:noFill/>
          <a:ln/>
        </p:spPr>
        <p:txBody>
          <a:bodyPr wrap="square" lIns="0" tIns="0" rIns="0" bIns="0" rtlCol="0" anchor="ctr"/>
          <a:lstStyle/>
          <a:p>
            <a:pPr algn="ctr" indent="0" marL="0">
              <a:buNone/>
            </a:pPr>
            <a:r>
              <a:rPr lang="en-US" sz="1600" b="1" dirty="0">
                <a:solidFill>
                  <a:srgbClr val="263238"/>
                </a:solidFill>
              </a:rPr>
              <a:t>SSH</a:t>
            </a:r>
            <a:endParaRPr lang="en-US" sz="1600" dirty="0"/>
          </a:p>
          <a:p>
            <a:pPr algn="ctr" indent="0" marL="0">
              <a:buNone/>
            </a:pPr>
            <a:r>
              <a:rPr lang="en-US" sz="1250" dirty="0">
                <a:solidFill>
                  <a:srgbClr val="37474F"/>
                </a:solidFill>
              </a:rPr>
              <a:t>lockctl unlock</a:t>
            </a:r>
            <a:endParaRPr lang="en-US" sz="1600" dirty="0"/>
          </a:p>
        </p:txBody>
      </p:sp>
      <p:sp>
        <p:nvSpPr>
          <p:cNvPr id="9" name="arrow w0"/>
          <p:cNvSpPr/>
          <p:nvPr/>
        </p:nvSpPr>
        <p:spPr>
          <a:xfrm>
            <a:off x="1760220" y="3200400"/>
            <a:ext cx="0" cy="411480"/>
          </a:xfrm>
          <a:prstGeom prst="line">
            <a:avLst/>
          </a:prstGeom>
          <a:noFill/>
          <a:ln w="19050">
            <a:solidFill>
              <a:srgbClr val="78909C"/>
            </a:solidFill>
            <a:prstDash val="solid"/>
            <a:tailEnd type="triangle"/>
          </a:ln>
        </p:spPr>
      </p:sp>
      <p:sp>
        <p:nvSpPr>
          <p:cNvPr id="10" name="writer HTTP"/>
          <p:cNvSpPr/>
          <p:nvPr/>
        </p:nvSpPr>
        <p:spPr>
          <a:xfrm>
            <a:off x="2697480" y="2286000"/>
            <a:ext cx="1691640" cy="914400"/>
          </a:xfrm>
          <a:prstGeom prst="roundRect">
            <a:avLst>
              <a:gd name="adj" fmla="val 6000"/>
            </a:avLst>
          </a:prstGeom>
          <a:solidFill>
            <a:srgbClr val="ECEFF1"/>
          </a:solidFill>
          <a:ln w="12700">
            <a:solidFill>
              <a:srgbClr val="CFD8DC"/>
            </a:solidFill>
            <a:prstDash val="solid"/>
          </a:ln>
        </p:spPr>
      </p:sp>
      <p:sp>
        <p:nvSpPr>
          <p:cNvPr id="11" name="Text 8"/>
          <p:cNvSpPr txBox="1"/>
          <p:nvPr/>
        </p:nvSpPr>
        <p:spPr>
          <a:xfrm>
            <a:off x="2788920" y="2331720"/>
            <a:ext cx="1508760" cy="822960"/>
          </a:xfrm>
          <a:prstGeom prst="rect">
            <a:avLst/>
          </a:prstGeom>
          <a:noFill/>
          <a:ln/>
        </p:spPr>
        <p:txBody>
          <a:bodyPr wrap="square" lIns="0" tIns="0" rIns="0" bIns="0" rtlCol="0" anchor="ctr"/>
          <a:lstStyle/>
          <a:p>
            <a:pPr algn="ctr" indent="0" marL="0">
              <a:buNone/>
            </a:pPr>
            <a:r>
              <a:rPr lang="en-US" sz="1600" b="1" dirty="0">
                <a:solidFill>
                  <a:srgbClr val="263238"/>
                </a:solidFill>
              </a:rPr>
              <a:t>HTTP</a:t>
            </a:r>
            <a:endParaRPr lang="en-US" sz="1600" dirty="0"/>
          </a:p>
          <a:p>
            <a:pPr algn="ctr" indent="0" marL="0">
              <a:buNone/>
            </a:pPr>
            <a:r>
              <a:rPr lang="en-US" sz="1250" dirty="0">
                <a:solidFill>
                  <a:srgbClr val="37474F"/>
                </a:solidFill>
              </a:rPr>
              <a:t>POST /api/v1/lock</a:t>
            </a:r>
            <a:endParaRPr lang="en-US" sz="1600" dirty="0"/>
          </a:p>
        </p:txBody>
      </p:sp>
      <p:sp>
        <p:nvSpPr>
          <p:cNvPr id="12" name="arrow w1"/>
          <p:cNvSpPr/>
          <p:nvPr/>
        </p:nvSpPr>
        <p:spPr>
          <a:xfrm>
            <a:off x="3543300" y="3200400"/>
            <a:ext cx="0" cy="411480"/>
          </a:xfrm>
          <a:prstGeom prst="line">
            <a:avLst/>
          </a:prstGeom>
          <a:noFill/>
          <a:ln w="19050">
            <a:solidFill>
              <a:srgbClr val="78909C"/>
            </a:solidFill>
            <a:prstDash val="solid"/>
            <a:tailEnd type="triangle"/>
          </a:ln>
        </p:spPr>
      </p:sp>
      <p:sp>
        <p:nvSpPr>
          <p:cNvPr id="13" name="writer MQTT"/>
          <p:cNvSpPr/>
          <p:nvPr/>
        </p:nvSpPr>
        <p:spPr>
          <a:xfrm>
            <a:off x="4480560" y="2286000"/>
            <a:ext cx="1691640" cy="914400"/>
          </a:xfrm>
          <a:prstGeom prst="roundRect">
            <a:avLst>
              <a:gd name="adj" fmla="val 6000"/>
            </a:avLst>
          </a:prstGeom>
          <a:solidFill>
            <a:srgbClr val="ECEFF1"/>
          </a:solidFill>
          <a:ln w="12700">
            <a:solidFill>
              <a:srgbClr val="CFD8DC"/>
            </a:solidFill>
            <a:prstDash val="solid"/>
          </a:ln>
        </p:spPr>
      </p:sp>
      <p:sp>
        <p:nvSpPr>
          <p:cNvPr id="14" name="Text 11"/>
          <p:cNvSpPr txBox="1"/>
          <p:nvPr/>
        </p:nvSpPr>
        <p:spPr>
          <a:xfrm>
            <a:off x="4572000" y="2331720"/>
            <a:ext cx="1508760" cy="822960"/>
          </a:xfrm>
          <a:prstGeom prst="rect">
            <a:avLst/>
          </a:prstGeom>
          <a:noFill/>
          <a:ln/>
        </p:spPr>
        <p:txBody>
          <a:bodyPr wrap="square" lIns="0" tIns="0" rIns="0" bIns="0" rtlCol="0" anchor="ctr"/>
          <a:lstStyle/>
          <a:p>
            <a:pPr algn="ctr" indent="0" marL="0">
              <a:buNone/>
            </a:pPr>
            <a:r>
              <a:rPr lang="en-US" sz="1600" b="1" dirty="0">
                <a:solidFill>
                  <a:srgbClr val="263238"/>
                </a:solidFill>
              </a:rPr>
              <a:t>MQTT</a:t>
            </a:r>
            <a:endParaRPr lang="en-US" sz="1600" dirty="0"/>
          </a:p>
          <a:p>
            <a:pPr algn="ctr" indent="0" marL="0">
              <a:buNone/>
            </a:pPr>
            <a:r>
              <a:rPr lang="en-US" sz="1250" dirty="0">
                <a:solidFill>
                  <a:srgbClr val="37474F"/>
                </a:solidFill>
              </a:rPr>
              <a:t>lock/cmd unlock</a:t>
            </a:r>
            <a:endParaRPr lang="en-US" sz="1600" dirty="0"/>
          </a:p>
        </p:txBody>
      </p:sp>
      <p:sp>
        <p:nvSpPr>
          <p:cNvPr id="15" name="arrow w2"/>
          <p:cNvSpPr/>
          <p:nvPr/>
        </p:nvSpPr>
        <p:spPr>
          <a:xfrm>
            <a:off x="5326380" y="3200400"/>
            <a:ext cx="0" cy="411480"/>
          </a:xfrm>
          <a:prstGeom prst="line">
            <a:avLst/>
          </a:prstGeom>
          <a:noFill/>
          <a:ln w="19050">
            <a:solidFill>
              <a:srgbClr val="78909C"/>
            </a:solidFill>
            <a:prstDash val="solid"/>
            <a:tailEnd type="triangle"/>
          </a:ln>
        </p:spPr>
      </p:sp>
      <p:sp>
        <p:nvSpPr>
          <p:cNvPr id="16" name="state manager box"/>
          <p:cNvSpPr/>
          <p:nvPr/>
        </p:nvSpPr>
        <p:spPr>
          <a:xfrm>
            <a:off x="914400" y="3611880"/>
            <a:ext cx="5257800" cy="1234440"/>
          </a:xfrm>
          <a:prstGeom prst="roundRect">
            <a:avLst>
              <a:gd name="adj" fmla="val 5926"/>
            </a:avLst>
          </a:prstGeom>
          <a:solidFill>
            <a:srgbClr val="263238"/>
          </a:solidFill>
          <a:ln w="12700">
            <a:solidFill>
              <a:srgbClr val="263238"/>
            </a:solidFill>
            <a:prstDash val="solid"/>
          </a:ln>
        </p:spPr>
      </p:sp>
      <p:sp>
        <p:nvSpPr>
          <p:cNvPr id="17" name="Text 14"/>
          <p:cNvSpPr txBox="1"/>
          <p:nvPr/>
        </p:nvSpPr>
        <p:spPr>
          <a:xfrm>
            <a:off x="1097280" y="3657600"/>
            <a:ext cx="4892040" cy="1143000"/>
          </a:xfrm>
          <a:prstGeom prst="rect">
            <a:avLst/>
          </a:prstGeom>
          <a:noFill/>
          <a:ln/>
        </p:spPr>
        <p:txBody>
          <a:bodyPr wrap="square" lIns="0" tIns="0" rIns="0" bIns="0" rtlCol="0" anchor="ctr"/>
          <a:lstStyle/>
          <a:p>
            <a:pPr algn="ctr" indent="0" marL="0">
              <a:buNone/>
            </a:pPr>
            <a:r>
              <a:rPr lang="en-US" sz="1800" b="1" dirty="0">
                <a:solidFill>
                  <a:srgbClr val="E09B00"/>
                </a:solidFill>
              </a:rPr>
              <a:t>Device State Manager</a:t>
            </a:r>
            <a:endParaRPr lang="en-US" sz="1600" dirty="0"/>
          </a:p>
          <a:p>
            <a:pPr algn="ctr" indent="0" marL="0">
              <a:buNone/>
            </a:pPr>
            <a:r>
              <a:rPr lang="en-US" sz="1350" dirty="0">
                <a:solidFill>
                  <a:srgbClr val="FFFFFF"/>
                </a:solidFill>
              </a:rPr>
              <a:t>Redis hash device:smartlock · PUBLISH honeybot:state · change log</a:t>
            </a:r>
            <a:endParaRPr lang="en-US" sz="1600" dirty="0"/>
          </a:p>
        </p:txBody>
      </p:sp>
      <p:sp>
        <p:nvSpPr>
          <p:cNvPr id="18" name="Text 15"/>
          <p:cNvSpPr txBox="1"/>
          <p:nvPr/>
        </p:nvSpPr>
        <p:spPr>
          <a:xfrm>
            <a:off x="914400" y="6291072"/>
            <a:ext cx="5303520" cy="320040"/>
          </a:xfrm>
          <a:prstGeom prst="rect">
            <a:avLst/>
          </a:prstGeom>
          <a:noFill/>
          <a:ln/>
        </p:spPr>
        <p:txBody>
          <a:bodyPr wrap="square" lIns="0" tIns="0" rIns="0" bIns="0" rtlCol="0" anchor="t"/>
          <a:lstStyle/>
          <a:p>
            <a:pPr indent="0" marL="0">
              <a:buNone/>
            </a:pPr>
            <a:r>
              <a:rPr lang="en-US" sz="1400" b="1" dirty="0">
                <a:solidFill>
                  <a:srgbClr val="78909C"/>
                </a:solidFill>
              </a:rPr>
              <a:t>Read on any protocol — all report “unlocked”</a:t>
            </a:r>
            <a:endParaRPr lang="en-US" sz="1400" dirty="0"/>
          </a:p>
        </p:txBody>
      </p:sp>
      <p:sp>
        <p:nvSpPr>
          <p:cNvPr id="19" name="arrow r0"/>
          <p:cNvSpPr/>
          <p:nvPr/>
        </p:nvSpPr>
        <p:spPr>
          <a:xfrm>
            <a:off x="1760220" y="4846320"/>
            <a:ext cx="0" cy="457200"/>
          </a:xfrm>
          <a:prstGeom prst="line">
            <a:avLst/>
          </a:prstGeom>
          <a:noFill/>
          <a:ln w="19050">
            <a:solidFill>
              <a:srgbClr val="78909C"/>
            </a:solidFill>
            <a:prstDash val="solid"/>
            <a:tailEnd type="triangle"/>
          </a:ln>
        </p:spPr>
      </p:sp>
      <p:sp>
        <p:nvSpPr>
          <p:cNvPr id="20" name="reader MQTT"/>
          <p:cNvSpPr/>
          <p:nvPr/>
        </p:nvSpPr>
        <p:spPr>
          <a:xfrm>
            <a:off x="914400" y="5303520"/>
            <a:ext cx="1691640" cy="914400"/>
          </a:xfrm>
          <a:prstGeom prst="roundRect">
            <a:avLst>
              <a:gd name="adj" fmla="val 6000"/>
            </a:avLst>
          </a:prstGeom>
          <a:solidFill>
            <a:srgbClr val="ECEFF1"/>
          </a:solidFill>
          <a:ln w="12700">
            <a:solidFill>
              <a:srgbClr val="CFD8DC"/>
            </a:solidFill>
            <a:prstDash val="solid"/>
          </a:ln>
        </p:spPr>
      </p:sp>
      <p:sp>
        <p:nvSpPr>
          <p:cNvPr id="21" name="Text 18"/>
          <p:cNvSpPr txBox="1"/>
          <p:nvPr/>
        </p:nvSpPr>
        <p:spPr>
          <a:xfrm>
            <a:off x="1005840" y="5349240"/>
            <a:ext cx="1508760" cy="822960"/>
          </a:xfrm>
          <a:prstGeom prst="rect">
            <a:avLst/>
          </a:prstGeom>
          <a:noFill/>
          <a:ln/>
        </p:spPr>
        <p:txBody>
          <a:bodyPr wrap="square" lIns="0" tIns="0" rIns="0" bIns="0" rtlCol="0" anchor="ctr"/>
          <a:lstStyle/>
          <a:p>
            <a:pPr algn="ctr" indent="0" marL="0">
              <a:buNone/>
            </a:pPr>
            <a:r>
              <a:rPr lang="en-US" sz="1600" b="1" dirty="0">
                <a:solidFill>
                  <a:srgbClr val="263238"/>
                </a:solidFill>
              </a:rPr>
              <a:t>MQTT</a:t>
            </a:r>
            <a:endParaRPr lang="en-US" sz="1600" dirty="0"/>
          </a:p>
          <a:p>
            <a:pPr algn="ctr" indent="0" marL="0">
              <a:buNone/>
            </a:pPr>
            <a:r>
              <a:rPr lang="en-US" sz="1250" dirty="0">
                <a:solidFill>
                  <a:srgbClr val="37474F"/>
                </a:solidFill>
              </a:rPr>
              <a:t>lock/status</a:t>
            </a:r>
            <a:endParaRPr lang="en-US" sz="1600" dirty="0"/>
          </a:p>
        </p:txBody>
      </p:sp>
      <p:sp>
        <p:nvSpPr>
          <p:cNvPr id="22" name="arrow r1"/>
          <p:cNvSpPr/>
          <p:nvPr/>
        </p:nvSpPr>
        <p:spPr>
          <a:xfrm>
            <a:off x="3543300" y="4846320"/>
            <a:ext cx="0" cy="457200"/>
          </a:xfrm>
          <a:prstGeom prst="line">
            <a:avLst/>
          </a:prstGeom>
          <a:noFill/>
          <a:ln w="19050">
            <a:solidFill>
              <a:srgbClr val="78909C"/>
            </a:solidFill>
            <a:prstDash val="solid"/>
            <a:tailEnd type="triangle"/>
          </a:ln>
        </p:spPr>
      </p:sp>
      <p:sp>
        <p:nvSpPr>
          <p:cNvPr id="23" name="reader HTTP"/>
          <p:cNvSpPr/>
          <p:nvPr/>
        </p:nvSpPr>
        <p:spPr>
          <a:xfrm>
            <a:off x="2697480" y="5303520"/>
            <a:ext cx="1691640" cy="914400"/>
          </a:xfrm>
          <a:prstGeom prst="roundRect">
            <a:avLst>
              <a:gd name="adj" fmla="val 6000"/>
            </a:avLst>
          </a:prstGeom>
          <a:solidFill>
            <a:srgbClr val="ECEFF1"/>
          </a:solidFill>
          <a:ln w="12700">
            <a:solidFill>
              <a:srgbClr val="CFD8DC"/>
            </a:solidFill>
            <a:prstDash val="solid"/>
          </a:ln>
        </p:spPr>
      </p:sp>
      <p:sp>
        <p:nvSpPr>
          <p:cNvPr id="24" name="Text 21"/>
          <p:cNvSpPr txBox="1"/>
          <p:nvPr/>
        </p:nvSpPr>
        <p:spPr>
          <a:xfrm>
            <a:off x="2788920" y="5349240"/>
            <a:ext cx="1508760" cy="822960"/>
          </a:xfrm>
          <a:prstGeom prst="rect">
            <a:avLst/>
          </a:prstGeom>
          <a:noFill/>
          <a:ln/>
        </p:spPr>
        <p:txBody>
          <a:bodyPr wrap="square" lIns="0" tIns="0" rIns="0" bIns="0" rtlCol="0" anchor="ctr"/>
          <a:lstStyle/>
          <a:p>
            <a:pPr algn="ctr" indent="0" marL="0">
              <a:buNone/>
            </a:pPr>
            <a:r>
              <a:rPr lang="en-US" sz="1600" b="1" dirty="0">
                <a:solidFill>
                  <a:srgbClr val="263238"/>
                </a:solidFill>
              </a:rPr>
              <a:t>HTTP</a:t>
            </a:r>
            <a:endParaRPr lang="en-US" sz="1600" dirty="0"/>
          </a:p>
          <a:p>
            <a:pPr algn="ctr" indent="0" marL="0">
              <a:buNone/>
            </a:pPr>
            <a:r>
              <a:rPr lang="en-US" sz="1250" dirty="0">
                <a:solidFill>
                  <a:srgbClr val="37474F"/>
                </a:solidFill>
              </a:rPr>
              <a:t>GET /api/v1/status</a:t>
            </a:r>
            <a:endParaRPr lang="en-US" sz="1600" dirty="0"/>
          </a:p>
        </p:txBody>
      </p:sp>
      <p:sp>
        <p:nvSpPr>
          <p:cNvPr id="25" name="arrow r2"/>
          <p:cNvSpPr/>
          <p:nvPr/>
        </p:nvSpPr>
        <p:spPr>
          <a:xfrm>
            <a:off x="5326380" y="4846320"/>
            <a:ext cx="0" cy="457200"/>
          </a:xfrm>
          <a:prstGeom prst="line">
            <a:avLst/>
          </a:prstGeom>
          <a:noFill/>
          <a:ln w="19050">
            <a:solidFill>
              <a:srgbClr val="78909C"/>
            </a:solidFill>
            <a:prstDash val="solid"/>
            <a:tailEnd type="triangle"/>
          </a:ln>
        </p:spPr>
      </p:sp>
      <p:sp>
        <p:nvSpPr>
          <p:cNvPr id="26" name="reader SSH"/>
          <p:cNvSpPr/>
          <p:nvPr/>
        </p:nvSpPr>
        <p:spPr>
          <a:xfrm>
            <a:off x="4480560" y="5303520"/>
            <a:ext cx="1691640" cy="914400"/>
          </a:xfrm>
          <a:prstGeom prst="roundRect">
            <a:avLst>
              <a:gd name="adj" fmla="val 6000"/>
            </a:avLst>
          </a:prstGeom>
          <a:solidFill>
            <a:srgbClr val="ECEFF1"/>
          </a:solidFill>
          <a:ln w="12700">
            <a:solidFill>
              <a:srgbClr val="CFD8DC"/>
            </a:solidFill>
            <a:prstDash val="solid"/>
          </a:ln>
        </p:spPr>
      </p:sp>
      <p:sp>
        <p:nvSpPr>
          <p:cNvPr id="27" name="Text 24"/>
          <p:cNvSpPr txBox="1"/>
          <p:nvPr/>
        </p:nvSpPr>
        <p:spPr>
          <a:xfrm>
            <a:off x="4572000" y="5349240"/>
            <a:ext cx="1508760" cy="822960"/>
          </a:xfrm>
          <a:prstGeom prst="rect">
            <a:avLst/>
          </a:prstGeom>
          <a:noFill/>
          <a:ln/>
        </p:spPr>
        <p:txBody>
          <a:bodyPr wrap="square" lIns="0" tIns="0" rIns="0" bIns="0" rtlCol="0" anchor="ctr"/>
          <a:lstStyle/>
          <a:p>
            <a:pPr algn="ctr" indent="0" marL="0">
              <a:buNone/>
            </a:pPr>
            <a:r>
              <a:rPr lang="en-US" sz="1600" b="1" dirty="0">
                <a:solidFill>
                  <a:srgbClr val="263238"/>
                </a:solidFill>
              </a:rPr>
              <a:t>SSH</a:t>
            </a:r>
            <a:endParaRPr lang="en-US" sz="1600" dirty="0"/>
          </a:p>
          <a:p>
            <a:pPr algn="ctr" indent="0" marL="0">
              <a:buNone/>
            </a:pPr>
            <a:r>
              <a:rPr lang="en-US" sz="1250" dirty="0">
                <a:solidFill>
                  <a:srgbClr val="37474F"/>
                </a:solidFill>
              </a:rPr>
              <a:t>cat /etc/lock_state</a:t>
            </a:r>
            <a:endParaRPr lang="en-US" sz="1600" dirty="0"/>
          </a:p>
        </p:txBody>
      </p:sp>
      <p:sp>
        <p:nvSpPr>
          <p:cNvPr id="28" name="arrow event"/>
          <p:cNvSpPr/>
          <p:nvPr/>
        </p:nvSpPr>
        <p:spPr>
          <a:xfrm>
            <a:off x="5372100" y="6217920"/>
            <a:ext cx="0" cy="594360"/>
          </a:xfrm>
          <a:prstGeom prst="line">
            <a:avLst/>
          </a:prstGeom>
          <a:noFill/>
          <a:ln w="19050">
            <a:solidFill>
              <a:srgbClr val="78909C"/>
            </a:solidFill>
            <a:prstDash val="solid"/>
            <a:tailEnd type="triangle"/>
          </a:ln>
        </p:spPr>
      </p:sp>
      <p:sp>
        <p:nvSpPr>
          <p:cNvPr id="29" name="event box"/>
          <p:cNvSpPr/>
          <p:nvPr/>
        </p:nvSpPr>
        <p:spPr>
          <a:xfrm>
            <a:off x="914400" y="6812280"/>
            <a:ext cx="5257800" cy="1280160"/>
          </a:xfrm>
          <a:prstGeom prst="roundRect">
            <a:avLst>
              <a:gd name="adj" fmla="val 5714"/>
            </a:avLst>
          </a:prstGeom>
          <a:solidFill>
            <a:srgbClr val="FFF4DC"/>
          </a:solidFill>
          <a:ln w="12700">
            <a:solidFill>
              <a:srgbClr val="E09B00"/>
            </a:solidFill>
            <a:prstDash val="solid"/>
          </a:ln>
        </p:spPr>
      </p:sp>
      <p:sp>
        <p:nvSpPr>
          <p:cNvPr id="30" name="Text 27"/>
          <p:cNvSpPr txBox="1"/>
          <p:nvPr/>
        </p:nvSpPr>
        <p:spPr>
          <a:xfrm>
            <a:off x="1097280" y="6858000"/>
            <a:ext cx="4892040" cy="1188720"/>
          </a:xfrm>
          <a:prstGeom prst="rect">
            <a:avLst/>
          </a:prstGeom>
          <a:noFill/>
          <a:ln/>
        </p:spPr>
        <p:txBody>
          <a:bodyPr wrap="square" lIns="0" tIns="0" rIns="0" bIns="0" rtlCol="0" anchor="ctr"/>
          <a:lstStyle/>
          <a:p>
            <a:pPr algn="ctr" indent="0" marL="0">
              <a:buNone/>
            </a:pPr>
            <a:r>
              <a:rPr lang="en-US" sz="1600" b="1" dirty="0">
                <a:solidFill>
                  <a:srgbClr val="263238"/>
                </a:solidFill>
              </a:rPr>
              <a:t>Logged as a state_change event</a:t>
            </a:r>
            <a:endParaRPr lang="en-US" sz="1600" dirty="0"/>
          </a:p>
          <a:p>
            <a:pPr algn="ctr" indent="0" marL="0">
              <a:buNone/>
            </a:pPr>
            <a:r>
              <a:rPr lang="en-US" sz="1400" dirty="0">
                <a:solidFill>
                  <a:srgbClr val="37474F"/>
                </a:solidFill>
              </a:rPr>
              <a:t>→ ICS_UNAUTHORIZED_COMMAND detection, shown with protocol and IP on the Devices page</a:t>
            </a:r>
            <a:endParaRPr lang="en-US" sz="1600" dirty="0"/>
          </a:p>
        </p:txBody>
      </p:sp>
      <p:sp>
        <p:nvSpPr>
          <p:cNvPr id="31" name="point 0"/>
          <p:cNvSpPr/>
          <p:nvPr/>
        </p:nvSpPr>
        <p:spPr>
          <a:xfrm>
            <a:off x="6720840" y="1783080"/>
            <a:ext cx="8851392" cy="960120"/>
          </a:xfrm>
          <a:prstGeom prst="roundRect">
            <a:avLst>
              <a:gd name="adj" fmla="val 7619"/>
            </a:avLst>
          </a:prstGeom>
          <a:solidFill>
            <a:srgbClr val="FFFFFF"/>
          </a:solidFill>
          <a:ln w="9525">
            <a:solidFill>
              <a:srgbClr val="CFD8DC"/>
            </a:solidFill>
            <a:prstDash val="solid"/>
          </a:ln>
        </p:spPr>
      </p:sp>
      <p:sp>
        <p:nvSpPr>
          <p:cNvPr id="32" name="Text 29"/>
          <p:cNvSpPr txBox="1"/>
          <p:nvPr/>
        </p:nvSpPr>
        <p:spPr>
          <a:xfrm>
            <a:off x="6949440" y="1920240"/>
            <a:ext cx="2011680" cy="685800"/>
          </a:xfrm>
          <a:prstGeom prst="rect">
            <a:avLst/>
          </a:prstGeom>
          <a:noFill/>
          <a:ln/>
        </p:spPr>
        <p:txBody>
          <a:bodyPr wrap="square" lIns="0" tIns="0" rIns="0" bIns="0" rtlCol="0" anchor="ctr"/>
          <a:lstStyle/>
          <a:p>
            <a:pPr indent="0" marL="0">
              <a:buNone/>
            </a:pPr>
            <a:r>
              <a:rPr lang="en-US" sz="1700" b="1" dirty="0">
                <a:solidFill>
                  <a:srgbClr val="263238"/>
                </a:solidFill>
              </a:rPr>
              <a:t>Shared device state</a:t>
            </a:r>
            <a:endParaRPr lang="en-US" sz="1700" dirty="0"/>
          </a:p>
        </p:txBody>
      </p:sp>
      <p:sp>
        <p:nvSpPr>
          <p:cNvPr id="33" name="Text 30"/>
          <p:cNvSpPr txBox="1"/>
          <p:nvPr/>
        </p:nvSpPr>
        <p:spPr>
          <a:xfrm>
            <a:off x="8961120" y="1892808"/>
            <a:ext cx="6446520" cy="731520"/>
          </a:xfrm>
          <a:prstGeom prst="rect">
            <a:avLst/>
          </a:prstGeom>
          <a:noFill/>
          <a:ln/>
        </p:spPr>
        <p:txBody>
          <a:bodyPr wrap="square" lIns="0" tIns="0" rIns="0" bIns="0" rtlCol="0" anchor="ctr"/>
          <a:lstStyle/>
          <a:p>
            <a:pPr indent="0" marL="0">
              <a:buNone/>
            </a:pPr>
            <a:r>
              <a:rPr lang="en-US" sz="1500" dirty="0">
                <a:solidFill>
                  <a:srgbClr val="37474F"/>
                </a:solidFill>
              </a:rPr>
              <a:t>Redis hash per device; changes published on honeybot:state and kept in a change log (actor, protocol, IP)</a:t>
            </a:r>
            <a:endParaRPr lang="en-US" sz="1500" dirty="0"/>
          </a:p>
        </p:txBody>
      </p:sp>
      <p:sp>
        <p:nvSpPr>
          <p:cNvPr id="34" name="point 1"/>
          <p:cNvSpPr/>
          <p:nvPr/>
        </p:nvSpPr>
        <p:spPr>
          <a:xfrm>
            <a:off x="6720840" y="2880360"/>
            <a:ext cx="8851392" cy="960120"/>
          </a:xfrm>
          <a:prstGeom prst="roundRect">
            <a:avLst>
              <a:gd name="adj" fmla="val 7619"/>
            </a:avLst>
          </a:prstGeom>
          <a:solidFill>
            <a:srgbClr val="FFFFFF"/>
          </a:solidFill>
          <a:ln w="9525">
            <a:solidFill>
              <a:srgbClr val="CFD8DC"/>
            </a:solidFill>
            <a:prstDash val="solid"/>
          </a:ln>
        </p:spPr>
      </p:sp>
      <p:sp>
        <p:nvSpPr>
          <p:cNvPr id="35" name="Text 32"/>
          <p:cNvSpPr txBox="1"/>
          <p:nvPr/>
        </p:nvSpPr>
        <p:spPr>
          <a:xfrm>
            <a:off x="6949440" y="3017520"/>
            <a:ext cx="2011680" cy="685800"/>
          </a:xfrm>
          <a:prstGeom prst="rect">
            <a:avLst/>
          </a:prstGeom>
          <a:noFill/>
          <a:ln/>
        </p:spPr>
        <p:txBody>
          <a:bodyPr wrap="square" lIns="0" tIns="0" rIns="0" bIns="0" rtlCol="0" anchor="ctr"/>
          <a:lstStyle/>
          <a:p>
            <a:pPr indent="0" marL="0">
              <a:buNone/>
            </a:pPr>
            <a:r>
              <a:rPr lang="en-US" sz="1700" b="1" dirty="0">
                <a:solidFill>
                  <a:srgbClr val="263238"/>
                </a:solidFill>
              </a:rPr>
              <a:t>SSH</a:t>
            </a:r>
            <a:endParaRPr lang="en-US" sz="1700" dirty="0"/>
          </a:p>
        </p:txBody>
      </p:sp>
      <p:sp>
        <p:nvSpPr>
          <p:cNvPr id="36" name="Text 33"/>
          <p:cNvSpPr txBox="1"/>
          <p:nvPr/>
        </p:nvSpPr>
        <p:spPr>
          <a:xfrm>
            <a:off x="8961120" y="2990088"/>
            <a:ext cx="6446520" cy="731520"/>
          </a:xfrm>
          <a:prstGeom prst="rect">
            <a:avLst/>
          </a:prstGeom>
          <a:noFill/>
          <a:ln/>
        </p:spPr>
        <p:txBody>
          <a:bodyPr wrap="square" lIns="0" tIns="0" rIns="0" bIns="0" rtlCol="0" anchor="ctr"/>
          <a:lstStyle/>
          <a:p>
            <a:pPr indent="0" marL="0">
              <a:buNone/>
            </a:pPr>
            <a:r>
              <a:rPr lang="en-US" sz="1500" dirty="0">
                <a:solidFill>
                  <a:srgbClr val="37474F"/>
                </a:solidFill>
              </a:rPr>
              <a:t>Paramiko ServerInterface; shell, exec and scp channels captured; host key of a real lock model</a:t>
            </a:r>
            <a:endParaRPr lang="en-US" sz="1500" dirty="0"/>
          </a:p>
        </p:txBody>
      </p:sp>
      <p:sp>
        <p:nvSpPr>
          <p:cNvPr id="37" name="point 2"/>
          <p:cNvSpPr/>
          <p:nvPr/>
        </p:nvSpPr>
        <p:spPr>
          <a:xfrm>
            <a:off x="6720840" y="3977640"/>
            <a:ext cx="8851392" cy="960120"/>
          </a:xfrm>
          <a:prstGeom prst="roundRect">
            <a:avLst>
              <a:gd name="adj" fmla="val 7619"/>
            </a:avLst>
          </a:prstGeom>
          <a:solidFill>
            <a:srgbClr val="FFFFFF"/>
          </a:solidFill>
          <a:ln w="9525">
            <a:solidFill>
              <a:srgbClr val="CFD8DC"/>
            </a:solidFill>
            <a:prstDash val="solid"/>
          </a:ln>
        </p:spPr>
      </p:sp>
      <p:sp>
        <p:nvSpPr>
          <p:cNvPr id="38" name="Text 35"/>
          <p:cNvSpPr txBox="1"/>
          <p:nvPr/>
        </p:nvSpPr>
        <p:spPr>
          <a:xfrm>
            <a:off x="6949440" y="4114800"/>
            <a:ext cx="2011680" cy="685800"/>
          </a:xfrm>
          <a:prstGeom prst="rect">
            <a:avLst/>
          </a:prstGeom>
          <a:noFill/>
          <a:ln/>
        </p:spPr>
        <p:txBody>
          <a:bodyPr wrap="square" lIns="0" tIns="0" rIns="0" bIns="0" rtlCol="0" anchor="ctr"/>
          <a:lstStyle/>
          <a:p>
            <a:pPr indent="0" marL="0">
              <a:buNone/>
            </a:pPr>
            <a:r>
              <a:rPr lang="en-US" sz="1700" b="1" dirty="0">
                <a:solidFill>
                  <a:srgbClr val="263238"/>
                </a:solidFill>
              </a:rPr>
              <a:t>Telnet</a:t>
            </a:r>
            <a:endParaRPr lang="en-US" sz="1700" dirty="0"/>
          </a:p>
        </p:txBody>
      </p:sp>
      <p:sp>
        <p:nvSpPr>
          <p:cNvPr id="39" name="Text 36"/>
          <p:cNvSpPr txBox="1"/>
          <p:nvPr/>
        </p:nvSpPr>
        <p:spPr>
          <a:xfrm>
            <a:off x="8961120" y="4087368"/>
            <a:ext cx="6446520" cy="731520"/>
          </a:xfrm>
          <a:prstGeom prst="rect">
            <a:avLst/>
          </a:prstGeom>
          <a:noFill/>
          <a:ln/>
        </p:spPr>
        <p:txBody>
          <a:bodyPr wrap="square" lIns="0" tIns="0" rIns="0" bIns="0" rtlCol="0" anchor="ctr"/>
          <a:lstStyle/>
          <a:p>
            <a:pPr indent="0" marL="0">
              <a:buNone/>
            </a:pPr>
            <a:r>
              <a:rPr lang="en-US" sz="1500" dirty="0">
                <a:solidFill>
                  <a:srgbClr val="37474F"/>
                </a:solidFill>
              </a:rPr>
              <a:t>asyncio server with IAC negotiation and a carry buffer for commands split across TCP reads</a:t>
            </a:r>
            <a:endParaRPr lang="en-US" sz="1500" dirty="0"/>
          </a:p>
        </p:txBody>
      </p:sp>
      <p:sp>
        <p:nvSpPr>
          <p:cNvPr id="40" name="point 3"/>
          <p:cNvSpPr/>
          <p:nvPr/>
        </p:nvSpPr>
        <p:spPr>
          <a:xfrm>
            <a:off x="6720840" y="5074920"/>
            <a:ext cx="8851392" cy="960120"/>
          </a:xfrm>
          <a:prstGeom prst="roundRect">
            <a:avLst>
              <a:gd name="adj" fmla="val 7619"/>
            </a:avLst>
          </a:prstGeom>
          <a:solidFill>
            <a:srgbClr val="FFFFFF"/>
          </a:solidFill>
          <a:ln w="9525">
            <a:solidFill>
              <a:srgbClr val="CFD8DC"/>
            </a:solidFill>
            <a:prstDash val="solid"/>
          </a:ln>
        </p:spPr>
      </p:sp>
      <p:sp>
        <p:nvSpPr>
          <p:cNvPr id="41" name="Text 38"/>
          <p:cNvSpPr txBox="1"/>
          <p:nvPr/>
        </p:nvSpPr>
        <p:spPr>
          <a:xfrm>
            <a:off x="6949440" y="5212080"/>
            <a:ext cx="2011680" cy="685800"/>
          </a:xfrm>
          <a:prstGeom prst="rect">
            <a:avLst/>
          </a:prstGeom>
          <a:noFill/>
          <a:ln/>
        </p:spPr>
        <p:txBody>
          <a:bodyPr wrap="square" lIns="0" tIns="0" rIns="0" bIns="0" rtlCol="0" anchor="ctr"/>
          <a:lstStyle/>
          <a:p>
            <a:pPr indent="0" marL="0">
              <a:buNone/>
            </a:pPr>
            <a:r>
              <a:rPr lang="en-US" sz="1700" b="1" dirty="0">
                <a:solidFill>
                  <a:srgbClr val="263238"/>
                </a:solidFill>
              </a:rPr>
              <a:t>MQTT</a:t>
            </a:r>
            <a:endParaRPr lang="en-US" sz="1700" dirty="0"/>
          </a:p>
        </p:txBody>
      </p:sp>
      <p:sp>
        <p:nvSpPr>
          <p:cNvPr id="42" name="Text 39"/>
          <p:cNvSpPr txBox="1"/>
          <p:nvPr/>
        </p:nvSpPr>
        <p:spPr>
          <a:xfrm>
            <a:off x="8961120" y="5184648"/>
            <a:ext cx="6446520" cy="731520"/>
          </a:xfrm>
          <a:prstGeom prst="rect">
            <a:avLst/>
          </a:prstGeom>
          <a:noFill/>
          <a:ln/>
        </p:spPr>
        <p:txBody>
          <a:bodyPr wrap="square" lIns="0" tIns="0" rIns="0" bIns="0" rtlCol="0" anchor="ctr"/>
          <a:lstStyle/>
          <a:p>
            <a:pPr indent="0" marL="0">
              <a:buNone/>
            </a:pPr>
            <a:r>
              <a:rPr lang="en-US" sz="1500" dirty="0">
                <a:solidFill>
                  <a:srgbClr val="37474F"/>
                </a:solidFill>
              </a:rPr>
              <a:t>Raw-socket parser: variable-length remaining length, QoS 1/2, wildcards; control topics change state</a:t>
            </a:r>
            <a:endParaRPr lang="en-US" sz="1500" dirty="0"/>
          </a:p>
        </p:txBody>
      </p:sp>
      <p:sp>
        <p:nvSpPr>
          <p:cNvPr id="43" name="point 4"/>
          <p:cNvSpPr/>
          <p:nvPr/>
        </p:nvSpPr>
        <p:spPr>
          <a:xfrm>
            <a:off x="6720840" y="6172200"/>
            <a:ext cx="8851392" cy="960120"/>
          </a:xfrm>
          <a:prstGeom prst="roundRect">
            <a:avLst>
              <a:gd name="adj" fmla="val 7619"/>
            </a:avLst>
          </a:prstGeom>
          <a:solidFill>
            <a:srgbClr val="FFFFFF"/>
          </a:solidFill>
          <a:ln w="9525">
            <a:solidFill>
              <a:srgbClr val="CFD8DC"/>
            </a:solidFill>
            <a:prstDash val="solid"/>
          </a:ln>
        </p:spPr>
      </p:sp>
      <p:sp>
        <p:nvSpPr>
          <p:cNvPr id="44" name="Text 41"/>
          <p:cNvSpPr txBox="1"/>
          <p:nvPr/>
        </p:nvSpPr>
        <p:spPr>
          <a:xfrm>
            <a:off x="6949440" y="6309360"/>
            <a:ext cx="2011680" cy="685800"/>
          </a:xfrm>
          <a:prstGeom prst="rect">
            <a:avLst/>
          </a:prstGeom>
          <a:noFill/>
          <a:ln/>
        </p:spPr>
        <p:txBody>
          <a:bodyPr wrap="square" lIns="0" tIns="0" rIns="0" bIns="0" rtlCol="0" anchor="ctr"/>
          <a:lstStyle/>
          <a:p>
            <a:pPr indent="0" marL="0">
              <a:buNone/>
            </a:pPr>
            <a:r>
              <a:rPr lang="en-US" sz="1700" b="1" dirty="0">
                <a:solidFill>
                  <a:srgbClr val="263238"/>
                </a:solidFill>
              </a:rPr>
              <a:t>RTSP</a:t>
            </a:r>
            <a:endParaRPr lang="en-US" sz="1700" dirty="0"/>
          </a:p>
        </p:txBody>
      </p:sp>
      <p:sp>
        <p:nvSpPr>
          <p:cNvPr id="45" name="Text 42"/>
          <p:cNvSpPr txBox="1"/>
          <p:nvPr/>
        </p:nvSpPr>
        <p:spPr>
          <a:xfrm>
            <a:off x="8961120" y="6281928"/>
            <a:ext cx="6446520" cy="731520"/>
          </a:xfrm>
          <a:prstGeom prst="rect">
            <a:avLst/>
          </a:prstGeom>
          <a:noFill/>
          <a:ln/>
        </p:spPr>
        <p:txBody>
          <a:bodyPr wrap="square" lIns="0" tIns="0" rIns="0" bIns="0" rtlCol="0" anchor="ctr"/>
          <a:lstStyle/>
          <a:p>
            <a:pPr indent="0" marL="0">
              <a:buNone/>
            </a:pPr>
            <a:r>
              <a:rPr lang="en-US" sz="1500" dirty="0">
                <a:solidFill>
                  <a:srgbClr val="37474F"/>
                </a:solidFill>
              </a:rPr>
              <a:t>OPTIONS / DESCRIBE / SETUP; Digest + Basic challenge; valid H.264 SDP on success</a:t>
            </a:r>
            <a:endParaRPr lang="en-US" sz="1500" dirty="0"/>
          </a:p>
        </p:txBody>
      </p:sp>
      <p:sp>
        <p:nvSpPr>
          <p:cNvPr id="46" name="point 5"/>
          <p:cNvSpPr/>
          <p:nvPr/>
        </p:nvSpPr>
        <p:spPr>
          <a:xfrm>
            <a:off x="6720840" y="7269480"/>
            <a:ext cx="8851392" cy="960120"/>
          </a:xfrm>
          <a:prstGeom prst="roundRect">
            <a:avLst>
              <a:gd name="adj" fmla="val 7619"/>
            </a:avLst>
          </a:prstGeom>
          <a:solidFill>
            <a:srgbClr val="FFFFFF"/>
          </a:solidFill>
          <a:ln w="9525">
            <a:solidFill>
              <a:srgbClr val="CFD8DC"/>
            </a:solidFill>
            <a:prstDash val="solid"/>
          </a:ln>
        </p:spPr>
      </p:sp>
      <p:sp>
        <p:nvSpPr>
          <p:cNvPr id="47" name="Text 44"/>
          <p:cNvSpPr txBox="1"/>
          <p:nvPr/>
        </p:nvSpPr>
        <p:spPr>
          <a:xfrm>
            <a:off x="6949440" y="7406640"/>
            <a:ext cx="2011680" cy="685800"/>
          </a:xfrm>
          <a:prstGeom prst="rect">
            <a:avLst/>
          </a:prstGeom>
          <a:noFill/>
          <a:ln/>
        </p:spPr>
        <p:txBody>
          <a:bodyPr wrap="square" lIns="0" tIns="0" rIns="0" bIns="0" rtlCol="0" anchor="ctr"/>
          <a:lstStyle/>
          <a:p>
            <a:pPr indent="0" marL="0">
              <a:buNone/>
            </a:pPr>
            <a:r>
              <a:rPr lang="en-US" sz="1700" b="1" dirty="0">
                <a:solidFill>
                  <a:srgbClr val="263238"/>
                </a:solidFill>
              </a:rPr>
              <a:t>Isolation</a:t>
            </a:r>
            <a:endParaRPr lang="en-US" sz="1700" dirty="0"/>
          </a:p>
        </p:txBody>
      </p:sp>
      <p:sp>
        <p:nvSpPr>
          <p:cNvPr id="48" name="Text 45"/>
          <p:cNvSpPr txBox="1"/>
          <p:nvPr/>
        </p:nvSpPr>
        <p:spPr>
          <a:xfrm>
            <a:off x="8961120" y="7379208"/>
            <a:ext cx="6446520" cy="731520"/>
          </a:xfrm>
          <a:prstGeom prst="rect">
            <a:avLst/>
          </a:prstGeom>
          <a:noFill/>
          <a:ln/>
        </p:spPr>
        <p:txBody>
          <a:bodyPr wrap="square" lIns="0" tIns="0" rIns="0" bIns="0" rtlCol="0" anchor="ctr"/>
          <a:lstStyle/>
          <a:p>
            <a:pPr indent="0" marL="0">
              <a:buNone/>
            </a:pPr>
            <a:r>
              <a:rPr lang="en-US" sz="1500" dirty="0">
                <a:solidFill>
                  <a:srgbClr val="37474F"/>
                </a:solidFill>
              </a:rPr>
              <a:t>Firewall service inserts LOG + DROP rules; honeypots start only after its health check passes</a:t>
            </a:r>
            <a:endParaRPr lang="en-US" sz="1500" dirty="0"/>
          </a:p>
        </p:txBody>
      </p:sp>
      <p:sp>
        <p:nvSpPr>
          <p:cNvPr id="25" name="Slide Number Placeholder 0"/>
          <p:cNvSpPr>
            <a:spLocks noGrp="1"/>
          </p:cNvSpPr>
          <p:nvPr>
            <p:ph type="sldNum" sz="quarter" idx="4294967295"/>
          </p:nvPr>
        </p:nvSpPr>
        <p:spPr>
          <a:xfrm>
            <a:off x="14794992" y="8549640"/>
            <a:ext cx="91440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3"/>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685800" y="365760"/>
            <a:ext cx="10972800" cy="365760"/>
          </a:xfrm>
          <a:prstGeom prst="rect">
            <a:avLst/>
          </a:prstGeom>
          <a:noFill/>
          <a:ln/>
        </p:spPr>
        <p:txBody>
          <a:bodyPr wrap="square" lIns="0" tIns="0" rIns="0" bIns="0" rtlCol="0"/>
          <a:lstStyle/>
          <a:p>
            <a:pPr indent="0" marL="0">
              <a:buNone/>
            </a:pPr>
            <a:r>
              <a:rPr lang="en-US" sz="1200" b="1" spc="200" kern="0" dirty="0">
                <a:solidFill>
                  <a:schemeClr val="accent3"/>
                </a:solidFill>
              </a:rPr>
              <a:t>03 — IMPLEMENTED MODULES · ABDUL WADOOD</a:t>
            </a:r>
            <a:endParaRPr lang="en-US" sz="1200" dirty="0"/>
          </a:p>
        </p:txBody>
      </p:sp>
      <p:sp>
        <p:nvSpPr>
          <p:cNvPr id="3" name="Text 0"/>
          <p:cNvSpPr/>
          <p:nvPr>
            <p:ph idx="101" type="title" hasCustomPrompt="1"/>
          </p:nvPr>
        </p:nvSpPr>
        <p:spPr>
          <a:xfrm>
            <a:off x="685800" y="731520"/>
            <a:ext cx="14886432" cy="822960"/>
          </a:xfrm>
          <a:prstGeom prst="rect">
            <a:avLst/>
          </a:prstGeom>
          <a:noFill/>
          <a:ln/>
        </p:spPr>
        <p:txBody>
          <a:bodyPr wrap="square" lIns="0" tIns="0" rIns="0" bIns="0" rtlCol="0" anchor="t"/>
          <a:lstStyle/>
          <a:p>
            <a:pPr algn="l" indent="0" marL="0">
              <a:buNone/>
            </a:pPr>
            <a:r>
              <a:rPr lang="en-US" sz="3600" b="1" dirty="0">
                <a:solidFill>
                  <a:schemeClr val="tx1"/>
                </a:solidFill>
              </a:rPr>
              <a:t>Wadood — Live Demo Plan</a:t>
            </a:r>
            <a:endParaRPr lang="en-US" sz="3600" dirty="0"/>
          </a:p>
        </p:txBody>
      </p:sp>
      <p:sp>
        <p:nvSpPr>
          <p:cNvPr id="5" name="demo steps card"/>
          <p:cNvSpPr/>
          <p:nvPr/>
        </p:nvSpPr>
        <p:spPr>
          <a:xfrm>
            <a:off x="685800" y="1828800"/>
            <a:ext cx="6035040" cy="6492240"/>
          </a:xfrm>
          <a:prstGeom prst="roundRect">
            <a:avLst>
              <a:gd name="adj" fmla="val 1212"/>
            </a:avLst>
          </a:prstGeom>
          <a:solidFill>
            <a:srgbClr val="FFFFFF"/>
          </a:solidFill>
          <a:ln w="9525">
            <a:solidFill>
              <a:srgbClr val="CFD8DC"/>
            </a:solidFill>
            <a:prstDash val="solid"/>
          </a:ln>
        </p:spPr>
      </p:sp>
      <p:sp>
        <p:nvSpPr>
          <p:cNvPr id="6" name="Text 3"/>
          <p:cNvSpPr txBox="1"/>
          <p:nvPr/>
        </p:nvSpPr>
        <p:spPr>
          <a:xfrm>
            <a:off x="1005840" y="2057400"/>
            <a:ext cx="4572000" cy="457200"/>
          </a:xfrm>
          <a:prstGeom prst="rect">
            <a:avLst/>
          </a:prstGeom>
          <a:noFill/>
          <a:ln/>
        </p:spPr>
        <p:txBody>
          <a:bodyPr wrap="square" lIns="0" tIns="0" rIns="0" bIns="0" rtlCol="0" anchor="t"/>
          <a:lstStyle/>
          <a:p>
            <a:pPr indent="0" marL="0">
              <a:buNone/>
            </a:pPr>
            <a:r>
              <a:rPr lang="en-US" sz="2100" b="1" dirty="0">
                <a:solidFill>
                  <a:srgbClr val="263238"/>
                </a:solidFill>
              </a:rPr>
              <a:t>Demo steps</a:t>
            </a:r>
            <a:endParaRPr lang="en-US" sz="2100" dirty="0"/>
          </a:p>
        </p:txBody>
      </p:sp>
      <p:sp>
        <p:nvSpPr>
          <p:cNvPr id="7" name="step 1"/>
          <p:cNvSpPr/>
          <p:nvPr/>
        </p:nvSpPr>
        <p:spPr>
          <a:xfrm>
            <a:off x="1005840" y="2697480"/>
            <a:ext cx="457200" cy="457200"/>
          </a:xfrm>
          <a:prstGeom prst="ellipse">
            <a:avLst/>
          </a:prstGeom>
          <a:solidFill>
            <a:srgbClr val="E09B00"/>
          </a:solidFill>
          <a:ln w="12700">
            <a:solidFill>
              <a:srgbClr val="E09B00"/>
            </a:solidFill>
            <a:prstDash val="solid"/>
          </a:ln>
        </p:spPr>
      </p:sp>
      <p:sp>
        <p:nvSpPr>
          <p:cNvPr id="8" name="Text 5"/>
          <p:cNvSpPr txBox="1"/>
          <p:nvPr/>
        </p:nvSpPr>
        <p:spPr>
          <a:xfrm>
            <a:off x="1005840" y="2697480"/>
            <a:ext cx="457200" cy="457200"/>
          </a:xfrm>
          <a:prstGeom prst="rect">
            <a:avLst/>
          </a:prstGeom>
          <a:noFill/>
          <a:ln/>
        </p:spPr>
        <p:txBody>
          <a:bodyPr wrap="square" lIns="0" tIns="0" rIns="0" bIns="0" rtlCol="0" anchor="ctr"/>
          <a:lstStyle/>
          <a:p>
            <a:pPr algn="ctr" indent="0" marL="0">
              <a:buNone/>
            </a:pPr>
            <a:r>
              <a:rPr lang="en-US" sz="1600" b="1" dirty="0">
                <a:solidFill>
                  <a:srgbClr val="263238"/>
                </a:solidFill>
              </a:rPr>
              <a:t>1</a:t>
            </a:r>
            <a:endParaRPr lang="en-US" sz="1600" dirty="0"/>
          </a:p>
        </p:txBody>
      </p:sp>
      <p:sp>
        <p:nvSpPr>
          <p:cNvPr id="9" name="Text 6"/>
          <p:cNvSpPr txBox="1"/>
          <p:nvPr/>
        </p:nvSpPr>
        <p:spPr>
          <a:xfrm>
            <a:off x="1645920" y="2660904"/>
            <a:ext cx="4846320" cy="365760"/>
          </a:xfrm>
          <a:prstGeom prst="rect">
            <a:avLst/>
          </a:prstGeom>
          <a:noFill/>
          <a:ln/>
        </p:spPr>
        <p:txBody>
          <a:bodyPr wrap="square" lIns="0" tIns="0" rIns="0" bIns="0" rtlCol="0" anchor="t"/>
          <a:lstStyle/>
          <a:p>
            <a:pPr indent="0" marL="0">
              <a:buNone/>
            </a:pPr>
            <a:r>
              <a:rPr lang="en-US" sz="1500" b="1" dirty="0">
                <a:solidFill>
                  <a:srgbClr val="263238"/>
                </a:solidFill>
                <a:latin typeface="Courier New" pitchFamily="34" charset="0"/>
                <a:ea typeface="Courier New" pitchFamily="34" charset="-122"/>
                <a:cs typeface="Courier New" pitchFamily="34" charset="-120"/>
              </a:rPr>
              <a:t>docker compose ps</a:t>
            </a:r>
            <a:endParaRPr lang="en-US" sz="1500" dirty="0"/>
          </a:p>
        </p:txBody>
      </p:sp>
      <p:sp>
        <p:nvSpPr>
          <p:cNvPr id="10" name="Text 7"/>
          <p:cNvSpPr txBox="1"/>
          <p:nvPr/>
        </p:nvSpPr>
        <p:spPr>
          <a:xfrm>
            <a:off x="1645920" y="3026664"/>
            <a:ext cx="4846320" cy="365760"/>
          </a:xfrm>
          <a:prstGeom prst="rect">
            <a:avLst/>
          </a:prstGeom>
          <a:noFill/>
          <a:ln/>
        </p:spPr>
        <p:txBody>
          <a:bodyPr wrap="square" lIns="0" tIns="0" rIns="0" bIns="0" rtlCol="0" anchor="t"/>
          <a:lstStyle/>
          <a:p>
            <a:pPr indent="0" marL="0">
              <a:buNone/>
            </a:pPr>
            <a:r>
              <a:rPr lang="en-US" sz="1400" dirty="0">
                <a:solidFill>
                  <a:srgbClr val="78909C"/>
                </a:solidFill>
              </a:rPr>
              <a:t>13 services Up; db, api, firewall healthy</a:t>
            </a:r>
            <a:endParaRPr lang="en-US" sz="1400" dirty="0"/>
          </a:p>
        </p:txBody>
      </p:sp>
      <p:sp>
        <p:nvSpPr>
          <p:cNvPr id="11" name="step 2"/>
          <p:cNvSpPr/>
          <p:nvPr/>
        </p:nvSpPr>
        <p:spPr>
          <a:xfrm>
            <a:off x="1005840" y="3611880"/>
            <a:ext cx="457200" cy="457200"/>
          </a:xfrm>
          <a:prstGeom prst="ellipse">
            <a:avLst/>
          </a:prstGeom>
          <a:solidFill>
            <a:srgbClr val="E09B00"/>
          </a:solidFill>
          <a:ln w="12700">
            <a:solidFill>
              <a:srgbClr val="E09B00"/>
            </a:solidFill>
            <a:prstDash val="solid"/>
          </a:ln>
        </p:spPr>
      </p:sp>
      <p:sp>
        <p:nvSpPr>
          <p:cNvPr id="12" name="Text 9"/>
          <p:cNvSpPr txBox="1"/>
          <p:nvPr/>
        </p:nvSpPr>
        <p:spPr>
          <a:xfrm>
            <a:off x="1005840" y="3611880"/>
            <a:ext cx="457200" cy="457200"/>
          </a:xfrm>
          <a:prstGeom prst="rect">
            <a:avLst/>
          </a:prstGeom>
          <a:noFill/>
          <a:ln/>
        </p:spPr>
        <p:txBody>
          <a:bodyPr wrap="square" lIns="0" tIns="0" rIns="0" bIns="0" rtlCol="0" anchor="ctr"/>
          <a:lstStyle/>
          <a:p>
            <a:pPr algn="ctr" indent="0" marL="0">
              <a:buNone/>
            </a:pPr>
            <a:r>
              <a:rPr lang="en-US" sz="1600" b="1" dirty="0">
                <a:solidFill>
                  <a:srgbClr val="263238"/>
                </a:solidFill>
              </a:rPr>
              <a:t>2</a:t>
            </a:r>
            <a:endParaRPr lang="en-US" sz="1600" dirty="0"/>
          </a:p>
        </p:txBody>
      </p:sp>
      <p:sp>
        <p:nvSpPr>
          <p:cNvPr id="13" name="Text 10"/>
          <p:cNvSpPr txBox="1"/>
          <p:nvPr/>
        </p:nvSpPr>
        <p:spPr>
          <a:xfrm>
            <a:off x="1645920" y="3575304"/>
            <a:ext cx="4846320" cy="365760"/>
          </a:xfrm>
          <a:prstGeom prst="rect">
            <a:avLst/>
          </a:prstGeom>
          <a:noFill/>
          <a:ln/>
        </p:spPr>
        <p:txBody>
          <a:bodyPr wrap="square" lIns="0" tIns="0" rIns="0" bIns="0" rtlCol="0" anchor="t"/>
          <a:lstStyle/>
          <a:p>
            <a:pPr indent="0" marL="0">
              <a:buNone/>
            </a:pPr>
            <a:r>
              <a:rPr lang="en-US" sz="1500" b="1" dirty="0">
                <a:solidFill>
                  <a:srgbClr val="263238"/>
                </a:solidFill>
                <a:latin typeface="Courier New" pitchFamily="34" charset="0"/>
                <a:ea typeface="Courier New" pitchFamily="34" charset="-122"/>
                <a:cs typeface="Courier New" pitchFamily="34" charset="-120"/>
              </a:rPr>
              <a:t>firewall.sh status</a:t>
            </a:r>
            <a:endParaRPr lang="en-US" sz="1500" dirty="0"/>
          </a:p>
        </p:txBody>
      </p:sp>
      <p:sp>
        <p:nvSpPr>
          <p:cNvPr id="14" name="Text 11"/>
          <p:cNvSpPr txBox="1"/>
          <p:nvPr/>
        </p:nvSpPr>
        <p:spPr>
          <a:xfrm>
            <a:off x="1645920" y="3941064"/>
            <a:ext cx="4846320" cy="365760"/>
          </a:xfrm>
          <a:prstGeom prst="rect">
            <a:avLst/>
          </a:prstGeom>
          <a:noFill/>
          <a:ln/>
        </p:spPr>
        <p:txBody>
          <a:bodyPr wrap="square" lIns="0" tIns="0" rIns="0" bIns="0" rtlCol="0" anchor="t"/>
          <a:lstStyle/>
          <a:p>
            <a:pPr indent="0" marL="0">
              <a:buNone/>
            </a:pPr>
            <a:r>
              <a:rPr lang="en-US" sz="1400" dirty="0">
                <a:solidFill>
                  <a:srgbClr val="78909C"/>
                </a:solidFill>
              </a:rPr>
              <a:t>isolation rules active</a:t>
            </a:r>
            <a:endParaRPr lang="en-US" sz="1400" dirty="0"/>
          </a:p>
        </p:txBody>
      </p:sp>
      <p:sp>
        <p:nvSpPr>
          <p:cNvPr id="15" name="step 3"/>
          <p:cNvSpPr/>
          <p:nvPr/>
        </p:nvSpPr>
        <p:spPr>
          <a:xfrm>
            <a:off x="1005840" y="4526280"/>
            <a:ext cx="457200" cy="457200"/>
          </a:xfrm>
          <a:prstGeom prst="ellipse">
            <a:avLst/>
          </a:prstGeom>
          <a:solidFill>
            <a:srgbClr val="E09B00"/>
          </a:solidFill>
          <a:ln w="12700">
            <a:solidFill>
              <a:srgbClr val="E09B00"/>
            </a:solidFill>
            <a:prstDash val="solid"/>
          </a:ln>
        </p:spPr>
      </p:sp>
      <p:sp>
        <p:nvSpPr>
          <p:cNvPr id="16" name="Text 13"/>
          <p:cNvSpPr txBox="1"/>
          <p:nvPr/>
        </p:nvSpPr>
        <p:spPr>
          <a:xfrm>
            <a:off x="1005840" y="4526280"/>
            <a:ext cx="457200" cy="457200"/>
          </a:xfrm>
          <a:prstGeom prst="rect">
            <a:avLst/>
          </a:prstGeom>
          <a:noFill/>
          <a:ln/>
        </p:spPr>
        <p:txBody>
          <a:bodyPr wrap="square" lIns="0" tIns="0" rIns="0" bIns="0" rtlCol="0" anchor="ctr"/>
          <a:lstStyle/>
          <a:p>
            <a:pPr algn="ctr" indent="0" marL="0">
              <a:buNone/>
            </a:pPr>
            <a:r>
              <a:rPr lang="en-US" sz="1600" b="1" dirty="0">
                <a:solidFill>
                  <a:srgbClr val="263238"/>
                </a:solidFill>
              </a:rPr>
              <a:t>3</a:t>
            </a:r>
            <a:endParaRPr lang="en-US" sz="1600" dirty="0"/>
          </a:p>
        </p:txBody>
      </p:sp>
      <p:sp>
        <p:nvSpPr>
          <p:cNvPr id="17" name="Text 14"/>
          <p:cNvSpPr txBox="1"/>
          <p:nvPr/>
        </p:nvSpPr>
        <p:spPr>
          <a:xfrm>
            <a:off x="1645920" y="4489704"/>
            <a:ext cx="4846320" cy="365760"/>
          </a:xfrm>
          <a:prstGeom prst="rect">
            <a:avLst/>
          </a:prstGeom>
          <a:noFill/>
          <a:ln/>
        </p:spPr>
        <p:txBody>
          <a:bodyPr wrap="square" lIns="0" tIns="0" rIns="0" bIns="0" rtlCol="0" anchor="t"/>
          <a:lstStyle/>
          <a:p>
            <a:pPr indent="0" marL="0">
              <a:buNone/>
            </a:pPr>
            <a:r>
              <a:rPr lang="en-US" sz="1500" b="1" dirty="0">
                <a:solidFill>
                  <a:srgbClr val="263238"/>
                </a:solidFill>
                <a:latin typeface="Courier New" pitchFamily="34" charset="0"/>
                <a:ea typeface="Courier New" pitchFamily="34" charset="-122"/>
                <a:cs typeface="Courier New" pitchFamily="34" charset="-120"/>
              </a:rPr>
              <a:t>ssh -p 2222 root@host</a:t>
            </a:r>
            <a:endParaRPr lang="en-US" sz="1500" dirty="0"/>
          </a:p>
        </p:txBody>
      </p:sp>
      <p:sp>
        <p:nvSpPr>
          <p:cNvPr id="18" name="Text 15"/>
          <p:cNvSpPr txBox="1"/>
          <p:nvPr/>
        </p:nvSpPr>
        <p:spPr>
          <a:xfrm>
            <a:off x="1645920" y="4855464"/>
            <a:ext cx="4846320" cy="365760"/>
          </a:xfrm>
          <a:prstGeom prst="rect">
            <a:avLst/>
          </a:prstGeom>
          <a:noFill/>
          <a:ln/>
        </p:spPr>
        <p:txBody>
          <a:bodyPr wrap="square" lIns="0" tIns="0" rIns="0" bIns="0" rtlCol="0" anchor="t"/>
          <a:lstStyle/>
          <a:p>
            <a:pPr indent="0" marL="0">
              <a:buNone/>
            </a:pPr>
            <a:r>
              <a:rPr lang="en-US" sz="1400" dirty="0">
                <a:solidFill>
                  <a:srgbClr val="78909C"/>
                </a:solidFill>
              </a:rPr>
              <a:t>lockctl unlock on the smart lock</a:t>
            </a:r>
            <a:endParaRPr lang="en-US" sz="1400" dirty="0"/>
          </a:p>
        </p:txBody>
      </p:sp>
      <p:sp>
        <p:nvSpPr>
          <p:cNvPr id="19" name="step 4"/>
          <p:cNvSpPr/>
          <p:nvPr/>
        </p:nvSpPr>
        <p:spPr>
          <a:xfrm>
            <a:off x="1005840" y="5440680"/>
            <a:ext cx="457200" cy="457200"/>
          </a:xfrm>
          <a:prstGeom prst="ellipse">
            <a:avLst/>
          </a:prstGeom>
          <a:solidFill>
            <a:srgbClr val="E09B00"/>
          </a:solidFill>
          <a:ln w="12700">
            <a:solidFill>
              <a:srgbClr val="E09B00"/>
            </a:solidFill>
            <a:prstDash val="solid"/>
          </a:ln>
        </p:spPr>
      </p:sp>
      <p:sp>
        <p:nvSpPr>
          <p:cNvPr id="20" name="Text 17"/>
          <p:cNvSpPr txBox="1"/>
          <p:nvPr/>
        </p:nvSpPr>
        <p:spPr>
          <a:xfrm>
            <a:off x="1005840" y="5440680"/>
            <a:ext cx="457200" cy="457200"/>
          </a:xfrm>
          <a:prstGeom prst="rect">
            <a:avLst/>
          </a:prstGeom>
          <a:noFill/>
          <a:ln/>
        </p:spPr>
        <p:txBody>
          <a:bodyPr wrap="square" lIns="0" tIns="0" rIns="0" bIns="0" rtlCol="0" anchor="ctr"/>
          <a:lstStyle/>
          <a:p>
            <a:pPr algn="ctr" indent="0" marL="0">
              <a:buNone/>
            </a:pPr>
            <a:r>
              <a:rPr lang="en-US" sz="1600" b="1" dirty="0">
                <a:solidFill>
                  <a:srgbClr val="263238"/>
                </a:solidFill>
              </a:rPr>
              <a:t>4</a:t>
            </a:r>
            <a:endParaRPr lang="en-US" sz="1600" dirty="0"/>
          </a:p>
        </p:txBody>
      </p:sp>
      <p:sp>
        <p:nvSpPr>
          <p:cNvPr id="21" name="Text 18"/>
          <p:cNvSpPr txBox="1"/>
          <p:nvPr/>
        </p:nvSpPr>
        <p:spPr>
          <a:xfrm>
            <a:off x="1645920" y="5404104"/>
            <a:ext cx="4846320" cy="365760"/>
          </a:xfrm>
          <a:prstGeom prst="rect">
            <a:avLst/>
          </a:prstGeom>
          <a:noFill/>
          <a:ln/>
        </p:spPr>
        <p:txBody>
          <a:bodyPr wrap="square" lIns="0" tIns="0" rIns="0" bIns="0" rtlCol="0" anchor="t"/>
          <a:lstStyle/>
          <a:p>
            <a:pPr indent="0" marL="0">
              <a:buNone/>
            </a:pPr>
            <a:r>
              <a:rPr lang="en-US" sz="1500" b="1" dirty="0">
                <a:solidFill>
                  <a:srgbClr val="263238"/>
                </a:solidFill>
                <a:latin typeface="Courier New" pitchFamily="34" charset="0"/>
                <a:ea typeface="Courier New" pitchFamily="34" charset="-122"/>
                <a:cs typeface="Courier New" pitchFamily="34" charset="-120"/>
              </a:rPr>
              <a:t>GET :8081/api/v1/status</a:t>
            </a:r>
            <a:endParaRPr lang="en-US" sz="1500" dirty="0"/>
          </a:p>
        </p:txBody>
      </p:sp>
      <p:sp>
        <p:nvSpPr>
          <p:cNvPr id="22" name="Text 19"/>
          <p:cNvSpPr txBox="1"/>
          <p:nvPr/>
        </p:nvSpPr>
        <p:spPr>
          <a:xfrm>
            <a:off x="1645920" y="5769864"/>
            <a:ext cx="4846320" cy="365760"/>
          </a:xfrm>
          <a:prstGeom prst="rect">
            <a:avLst/>
          </a:prstGeom>
          <a:noFill/>
          <a:ln/>
        </p:spPr>
        <p:txBody>
          <a:bodyPr wrap="square" lIns="0" tIns="0" rIns="0" bIns="0" rtlCol="0" anchor="t"/>
          <a:lstStyle/>
          <a:p>
            <a:pPr indent="0" marL="0">
              <a:buNone/>
            </a:pPr>
            <a:r>
              <a:rPr lang="en-US" sz="1400" dirty="0">
                <a:solidFill>
                  <a:srgbClr val="78909C"/>
                </a:solidFill>
              </a:rPr>
              <a:t>REST API now reports unlocked</a:t>
            </a:r>
            <a:endParaRPr lang="en-US" sz="1400" dirty="0"/>
          </a:p>
        </p:txBody>
      </p:sp>
      <p:sp>
        <p:nvSpPr>
          <p:cNvPr id="23" name="step 5"/>
          <p:cNvSpPr/>
          <p:nvPr/>
        </p:nvSpPr>
        <p:spPr>
          <a:xfrm>
            <a:off x="1005840" y="6355080"/>
            <a:ext cx="457200" cy="457200"/>
          </a:xfrm>
          <a:prstGeom prst="ellipse">
            <a:avLst/>
          </a:prstGeom>
          <a:solidFill>
            <a:srgbClr val="E09B00"/>
          </a:solidFill>
          <a:ln w="12700">
            <a:solidFill>
              <a:srgbClr val="E09B00"/>
            </a:solidFill>
            <a:prstDash val="solid"/>
          </a:ln>
        </p:spPr>
      </p:sp>
      <p:sp>
        <p:nvSpPr>
          <p:cNvPr id="24" name="Text 21"/>
          <p:cNvSpPr txBox="1"/>
          <p:nvPr/>
        </p:nvSpPr>
        <p:spPr>
          <a:xfrm>
            <a:off x="1005840" y="6355080"/>
            <a:ext cx="457200" cy="457200"/>
          </a:xfrm>
          <a:prstGeom prst="rect">
            <a:avLst/>
          </a:prstGeom>
          <a:noFill/>
          <a:ln/>
        </p:spPr>
        <p:txBody>
          <a:bodyPr wrap="square" lIns="0" tIns="0" rIns="0" bIns="0" rtlCol="0" anchor="ctr"/>
          <a:lstStyle/>
          <a:p>
            <a:pPr algn="ctr" indent="0" marL="0">
              <a:buNone/>
            </a:pPr>
            <a:r>
              <a:rPr lang="en-US" sz="1600" b="1" dirty="0">
                <a:solidFill>
                  <a:srgbClr val="263238"/>
                </a:solidFill>
              </a:rPr>
              <a:t>5</a:t>
            </a:r>
            <a:endParaRPr lang="en-US" sz="1600" dirty="0"/>
          </a:p>
        </p:txBody>
      </p:sp>
      <p:sp>
        <p:nvSpPr>
          <p:cNvPr id="25" name="Text 22"/>
          <p:cNvSpPr txBox="1"/>
          <p:nvPr/>
        </p:nvSpPr>
        <p:spPr>
          <a:xfrm>
            <a:off x="1645920" y="6318504"/>
            <a:ext cx="4846320" cy="365760"/>
          </a:xfrm>
          <a:prstGeom prst="rect">
            <a:avLst/>
          </a:prstGeom>
          <a:noFill/>
          <a:ln/>
        </p:spPr>
        <p:txBody>
          <a:bodyPr wrap="square" lIns="0" tIns="0" rIns="0" bIns="0" rtlCol="0" anchor="t"/>
          <a:lstStyle/>
          <a:p>
            <a:pPr indent="0" marL="0">
              <a:buNone/>
            </a:pPr>
            <a:r>
              <a:rPr lang="en-US" sz="1500" b="1" dirty="0">
                <a:solidFill>
                  <a:srgbClr val="263238"/>
                </a:solidFill>
                <a:latin typeface="Courier New" pitchFamily="34" charset="0"/>
                <a:ea typeface="Courier New" pitchFamily="34" charset="-122"/>
                <a:cs typeface="Courier New" pitchFamily="34" charset="-120"/>
              </a:rPr>
              <a:t>telnet :2323 → sensorctl</a:t>
            </a:r>
            <a:endParaRPr lang="en-US" sz="1500" dirty="0"/>
          </a:p>
        </p:txBody>
      </p:sp>
      <p:sp>
        <p:nvSpPr>
          <p:cNvPr id="26" name="Text 23"/>
          <p:cNvSpPr txBox="1"/>
          <p:nvPr/>
        </p:nvSpPr>
        <p:spPr>
          <a:xfrm>
            <a:off x="1645920" y="6684264"/>
            <a:ext cx="4846320" cy="365760"/>
          </a:xfrm>
          <a:prstGeom prst="rect">
            <a:avLst/>
          </a:prstGeom>
          <a:noFill/>
          <a:ln/>
        </p:spPr>
        <p:txBody>
          <a:bodyPr wrap="square" lIns="0" tIns="0" rIns="0" bIns="0" rtlCol="0" anchor="t"/>
          <a:lstStyle/>
          <a:p>
            <a:pPr indent="0" marL="0">
              <a:buNone/>
            </a:pPr>
            <a:r>
              <a:rPr lang="en-US" sz="1400" dirty="0">
                <a:solidFill>
                  <a:srgbClr val="78909C"/>
                </a:solidFill>
              </a:rPr>
              <a:t>set temp_threshold 20; HMI :8082 shows it</a:t>
            </a:r>
            <a:endParaRPr lang="en-US" sz="1400" dirty="0"/>
          </a:p>
        </p:txBody>
      </p:sp>
      <p:sp>
        <p:nvSpPr>
          <p:cNvPr id="27" name="step 6"/>
          <p:cNvSpPr/>
          <p:nvPr/>
        </p:nvSpPr>
        <p:spPr>
          <a:xfrm>
            <a:off x="1005840" y="7269480"/>
            <a:ext cx="457200" cy="457200"/>
          </a:xfrm>
          <a:prstGeom prst="ellipse">
            <a:avLst/>
          </a:prstGeom>
          <a:solidFill>
            <a:srgbClr val="E09B00"/>
          </a:solidFill>
          <a:ln w="12700">
            <a:solidFill>
              <a:srgbClr val="E09B00"/>
            </a:solidFill>
            <a:prstDash val="solid"/>
          </a:ln>
        </p:spPr>
      </p:sp>
      <p:sp>
        <p:nvSpPr>
          <p:cNvPr id="28" name="Text 25"/>
          <p:cNvSpPr txBox="1"/>
          <p:nvPr/>
        </p:nvSpPr>
        <p:spPr>
          <a:xfrm>
            <a:off x="1005840" y="7269480"/>
            <a:ext cx="457200" cy="457200"/>
          </a:xfrm>
          <a:prstGeom prst="rect">
            <a:avLst/>
          </a:prstGeom>
          <a:noFill/>
          <a:ln/>
        </p:spPr>
        <p:txBody>
          <a:bodyPr wrap="square" lIns="0" tIns="0" rIns="0" bIns="0" rtlCol="0" anchor="ctr"/>
          <a:lstStyle/>
          <a:p>
            <a:pPr algn="ctr" indent="0" marL="0">
              <a:buNone/>
            </a:pPr>
            <a:r>
              <a:rPr lang="en-US" sz="1600" b="1" dirty="0">
                <a:solidFill>
                  <a:srgbClr val="263238"/>
                </a:solidFill>
              </a:rPr>
              <a:t>6</a:t>
            </a:r>
            <a:endParaRPr lang="en-US" sz="1600" dirty="0"/>
          </a:p>
        </p:txBody>
      </p:sp>
      <p:sp>
        <p:nvSpPr>
          <p:cNvPr id="29" name="Text 26"/>
          <p:cNvSpPr txBox="1"/>
          <p:nvPr/>
        </p:nvSpPr>
        <p:spPr>
          <a:xfrm>
            <a:off x="1645920" y="7232904"/>
            <a:ext cx="4846320" cy="365760"/>
          </a:xfrm>
          <a:prstGeom prst="rect">
            <a:avLst/>
          </a:prstGeom>
          <a:noFill/>
          <a:ln/>
        </p:spPr>
        <p:txBody>
          <a:bodyPr wrap="square" lIns="0" tIns="0" rIns="0" bIns="0" rtlCol="0" anchor="t"/>
          <a:lstStyle/>
          <a:p>
            <a:pPr indent="0" marL="0">
              <a:buNone/>
            </a:pPr>
            <a:r>
              <a:rPr lang="en-US" sz="1500" b="1" dirty="0">
                <a:solidFill>
                  <a:srgbClr val="263238"/>
                </a:solidFill>
                <a:latin typeface="Courier New" pitchFamily="34" charset="0"/>
                <a:ea typeface="Courier New" pitchFamily="34" charset="-122"/>
                <a:cs typeface="Courier New" pitchFamily="34" charset="-120"/>
              </a:rPr>
              <a:t>RTSP DESCRIBE :554</a:t>
            </a:r>
            <a:endParaRPr lang="en-US" sz="1500" dirty="0"/>
          </a:p>
        </p:txBody>
      </p:sp>
      <p:sp>
        <p:nvSpPr>
          <p:cNvPr id="30" name="Text 27"/>
          <p:cNvSpPr txBox="1"/>
          <p:nvPr/>
        </p:nvSpPr>
        <p:spPr>
          <a:xfrm>
            <a:off x="1645920" y="7598664"/>
            <a:ext cx="4846320" cy="365760"/>
          </a:xfrm>
          <a:prstGeom prst="rect">
            <a:avLst/>
          </a:prstGeom>
          <a:noFill/>
          <a:ln/>
        </p:spPr>
        <p:txBody>
          <a:bodyPr wrap="square" lIns="0" tIns="0" rIns="0" bIns="0" rtlCol="0" anchor="t"/>
          <a:lstStyle/>
          <a:p>
            <a:pPr indent="0" marL="0">
              <a:buNone/>
            </a:pPr>
            <a:r>
              <a:rPr lang="en-US" sz="1400" dirty="0">
                <a:solidFill>
                  <a:srgbClr val="78909C"/>
                </a:solidFill>
              </a:rPr>
              <a:t>Digest challenge, then SDP with admin:admin</a:t>
            </a:r>
            <a:endParaRPr lang="en-US" sz="1400" dirty="0"/>
          </a:p>
        </p:txBody>
      </p:sp>
      <p:pic>
        <p:nvPicPr>
          <p:cNvPr id="31" name="SSH on the smart lock (:2222)" descr="/tmp/claude-0/-home-claude/20c42fea-0b24-5b6e-95a5-e2a8cb74a1e4/scratchpad/sds2/un/word/media/image30.png">    </p:cNvPr>
          <p:cNvPicPr>
            <a:picLocks noChangeAspect="1"/>
          </p:cNvPicPr>
          <p:nvPr/>
        </p:nvPicPr>
        <p:blipFill>
          <a:blip r:embed="rId1"/>
          <a:stretch>
            <a:fillRect/>
          </a:stretch>
        </p:blipFill>
        <p:spPr>
          <a:xfrm>
            <a:off x="7403413" y="1828800"/>
            <a:ext cx="3334871" cy="2743200"/>
          </a:xfrm>
          <a:prstGeom prst="rect">
            <a:avLst/>
          </a:prstGeom>
        </p:spPr>
      </p:pic>
      <p:sp>
        <p:nvSpPr>
          <p:cNvPr id="32" name="SSH on the smart lock (:2222) frame"/>
          <p:cNvSpPr/>
          <p:nvPr/>
        </p:nvSpPr>
        <p:spPr>
          <a:xfrm>
            <a:off x="7403413" y="1828800"/>
            <a:ext cx="3334871" cy="2743200"/>
          </a:xfrm>
          <a:prstGeom prst="rect">
            <a:avLst/>
          </a:prstGeom>
          <a:ln w="9525">
            <a:solidFill>
              <a:srgbClr val="CFD8DC"/>
            </a:solidFill>
            <a:prstDash val="solid"/>
          </a:ln>
        </p:spPr>
      </p:sp>
      <p:sp>
        <p:nvSpPr>
          <p:cNvPr id="33" name="Text 29"/>
          <p:cNvSpPr txBox="1"/>
          <p:nvPr/>
        </p:nvSpPr>
        <p:spPr>
          <a:xfrm>
            <a:off x="6995160" y="4617720"/>
            <a:ext cx="4151376" cy="274320"/>
          </a:xfrm>
          <a:prstGeom prst="rect">
            <a:avLst/>
          </a:prstGeom>
          <a:noFill/>
          <a:ln/>
        </p:spPr>
        <p:txBody>
          <a:bodyPr wrap="square" lIns="0" tIns="0" rIns="0" bIns="0" rtlCol="0" anchor="t"/>
          <a:lstStyle/>
          <a:p>
            <a:pPr algn="ctr" indent="0" marL="0">
              <a:buNone/>
            </a:pPr>
            <a:r>
              <a:rPr lang="en-US" sz="1200" i="1" dirty="0">
                <a:solidFill>
                  <a:srgbClr val="78909C"/>
                </a:solidFill>
              </a:rPr>
              <a:t>SSH on the smart lock (:2222)</a:t>
            </a:r>
            <a:endParaRPr lang="en-US" sz="1200" dirty="0"/>
          </a:p>
        </p:txBody>
      </p:sp>
      <p:pic>
        <p:nvPicPr>
          <p:cNvPr id="34" name="Telnet on the sensor (:2323)" descr="/tmp/claude-0/-home-claude/20c42fea-0b24-5b6e-95a5-e2a8cb74a1e4/scratchpad/sds2/un/word/media/image31.png">    </p:cNvPr>
          <p:cNvPicPr>
            <a:picLocks noChangeAspect="1"/>
          </p:cNvPicPr>
          <p:nvPr/>
        </p:nvPicPr>
        <p:blipFill>
          <a:blip r:embed="rId2"/>
          <a:stretch>
            <a:fillRect/>
          </a:stretch>
        </p:blipFill>
        <p:spPr>
          <a:xfrm>
            <a:off x="12310419" y="1828800"/>
            <a:ext cx="2372250" cy="2743200"/>
          </a:xfrm>
          <a:prstGeom prst="rect">
            <a:avLst/>
          </a:prstGeom>
        </p:spPr>
      </p:pic>
      <p:sp>
        <p:nvSpPr>
          <p:cNvPr id="35" name="Telnet on the sensor (:2323) frame"/>
          <p:cNvSpPr/>
          <p:nvPr/>
        </p:nvSpPr>
        <p:spPr>
          <a:xfrm>
            <a:off x="12310419" y="1828800"/>
            <a:ext cx="2372250" cy="2743200"/>
          </a:xfrm>
          <a:prstGeom prst="rect">
            <a:avLst/>
          </a:prstGeom>
          <a:ln w="9525">
            <a:solidFill>
              <a:srgbClr val="CFD8DC"/>
            </a:solidFill>
            <a:prstDash val="solid"/>
          </a:ln>
        </p:spPr>
      </p:sp>
      <p:sp>
        <p:nvSpPr>
          <p:cNvPr id="36" name="Text 31"/>
          <p:cNvSpPr txBox="1"/>
          <p:nvPr/>
        </p:nvSpPr>
        <p:spPr>
          <a:xfrm>
            <a:off x="11420856" y="4617720"/>
            <a:ext cx="4151376" cy="274320"/>
          </a:xfrm>
          <a:prstGeom prst="rect">
            <a:avLst/>
          </a:prstGeom>
          <a:noFill/>
          <a:ln/>
        </p:spPr>
        <p:txBody>
          <a:bodyPr wrap="square" lIns="0" tIns="0" rIns="0" bIns="0" rtlCol="0" anchor="t"/>
          <a:lstStyle/>
          <a:p>
            <a:pPr algn="ctr" indent="0" marL="0">
              <a:buNone/>
            </a:pPr>
            <a:r>
              <a:rPr lang="en-US" sz="1200" i="1" dirty="0">
                <a:solidFill>
                  <a:srgbClr val="78909C"/>
                </a:solidFill>
              </a:rPr>
              <a:t>Telnet on the sensor (:2323)</a:t>
            </a:r>
            <a:endParaRPr lang="en-US" sz="1200" dirty="0"/>
          </a:p>
        </p:txBody>
      </p:sp>
      <p:pic>
        <p:nvPicPr>
          <p:cNvPr id="37" name="RTSP exchange (:554)" descr="/tmp/claude-0/-home-claude/20c42fea-0b24-5b6e-95a5-e2a8cb74a1e4/scratchpad/sds2/un/word/media/image32.png">    </p:cNvPr>
          <p:cNvPicPr>
            <a:picLocks noChangeAspect="1"/>
          </p:cNvPicPr>
          <p:nvPr/>
        </p:nvPicPr>
        <p:blipFill>
          <a:blip r:embed="rId3"/>
          <a:stretch>
            <a:fillRect/>
          </a:stretch>
        </p:blipFill>
        <p:spPr>
          <a:xfrm>
            <a:off x="7546848" y="5212080"/>
            <a:ext cx="3048000" cy="2743200"/>
          </a:xfrm>
          <a:prstGeom prst="rect">
            <a:avLst/>
          </a:prstGeom>
        </p:spPr>
      </p:pic>
      <p:sp>
        <p:nvSpPr>
          <p:cNvPr id="38" name="RTSP exchange (:554) frame"/>
          <p:cNvSpPr/>
          <p:nvPr/>
        </p:nvSpPr>
        <p:spPr>
          <a:xfrm>
            <a:off x="7546848" y="5212080"/>
            <a:ext cx="3048000" cy="2743200"/>
          </a:xfrm>
          <a:prstGeom prst="rect">
            <a:avLst/>
          </a:prstGeom>
          <a:ln w="9525">
            <a:solidFill>
              <a:srgbClr val="CFD8DC"/>
            </a:solidFill>
            <a:prstDash val="solid"/>
          </a:ln>
        </p:spPr>
      </p:sp>
      <p:sp>
        <p:nvSpPr>
          <p:cNvPr id="39" name="Text 33"/>
          <p:cNvSpPr txBox="1"/>
          <p:nvPr/>
        </p:nvSpPr>
        <p:spPr>
          <a:xfrm>
            <a:off x="6995160" y="8001000"/>
            <a:ext cx="4151376" cy="274320"/>
          </a:xfrm>
          <a:prstGeom prst="rect">
            <a:avLst/>
          </a:prstGeom>
          <a:noFill/>
          <a:ln/>
        </p:spPr>
        <p:txBody>
          <a:bodyPr wrap="square" lIns="0" tIns="0" rIns="0" bIns="0" rtlCol="0" anchor="t"/>
          <a:lstStyle/>
          <a:p>
            <a:pPr algn="ctr" indent="0" marL="0">
              <a:buNone/>
            </a:pPr>
            <a:r>
              <a:rPr lang="en-US" sz="1200" i="1" dirty="0">
                <a:solidFill>
                  <a:srgbClr val="78909C"/>
                </a:solidFill>
              </a:rPr>
              <a:t>RTSP exchange (:554)</a:t>
            </a:r>
            <a:endParaRPr lang="en-US" sz="1200" dirty="0"/>
          </a:p>
        </p:txBody>
      </p:sp>
      <p:pic>
        <p:nvPicPr>
          <p:cNvPr id="40" name="Smart lock REST API (:8081)" descr="/tmp/claude-0/-home-claude/20c42fea-0b24-5b6e-95a5-e2a8cb74a1e4/scratchpad/sds2/un/word/media/image33.png">    </p:cNvPr>
          <p:cNvPicPr>
            <a:picLocks noChangeAspect="1"/>
          </p:cNvPicPr>
          <p:nvPr/>
        </p:nvPicPr>
        <p:blipFill>
          <a:blip r:embed="rId4"/>
          <a:stretch>
            <a:fillRect/>
          </a:stretch>
        </p:blipFill>
        <p:spPr>
          <a:xfrm>
            <a:off x="11420856" y="5693759"/>
            <a:ext cx="4151376" cy="1779843"/>
          </a:xfrm>
          <a:prstGeom prst="rect">
            <a:avLst/>
          </a:prstGeom>
        </p:spPr>
      </p:pic>
      <p:sp>
        <p:nvSpPr>
          <p:cNvPr id="41" name="Smart lock REST API (:8081) frame"/>
          <p:cNvSpPr/>
          <p:nvPr/>
        </p:nvSpPr>
        <p:spPr>
          <a:xfrm>
            <a:off x="11420856" y="5693759"/>
            <a:ext cx="4151376" cy="1779843"/>
          </a:xfrm>
          <a:prstGeom prst="rect">
            <a:avLst/>
          </a:prstGeom>
          <a:ln w="9525">
            <a:solidFill>
              <a:srgbClr val="CFD8DC"/>
            </a:solidFill>
            <a:prstDash val="solid"/>
          </a:ln>
        </p:spPr>
      </p:sp>
      <p:sp>
        <p:nvSpPr>
          <p:cNvPr id="42" name="Text 35"/>
          <p:cNvSpPr txBox="1"/>
          <p:nvPr/>
        </p:nvSpPr>
        <p:spPr>
          <a:xfrm>
            <a:off x="11420856" y="8001000"/>
            <a:ext cx="4151376" cy="274320"/>
          </a:xfrm>
          <a:prstGeom prst="rect">
            <a:avLst/>
          </a:prstGeom>
          <a:noFill/>
          <a:ln/>
        </p:spPr>
        <p:txBody>
          <a:bodyPr wrap="square" lIns="0" tIns="0" rIns="0" bIns="0" rtlCol="0" anchor="t"/>
          <a:lstStyle/>
          <a:p>
            <a:pPr algn="ctr" indent="0" marL="0">
              <a:buNone/>
            </a:pPr>
            <a:r>
              <a:rPr lang="en-US" sz="1200" i="1" dirty="0">
                <a:solidFill>
                  <a:srgbClr val="78909C"/>
                </a:solidFill>
              </a:rPr>
              <a:t>Smart lock REST API (:8081)</a:t>
            </a:r>
            <a:endParaRPr lang="en-US" sz="1200" dirty="0"/>
          </a:p>
        </p:txBody>
      </p:sp>
      <p:sp>
        <p:nvSpPr>
          <p:cNvPr id="25" name="Slide Number Placeholder 0"/>
          <p:cNvSpPr>
            <a:spLocks noGrp="1"/>
          </p:cNvSpPr>
          <p:nvPr>
            <p:ph type="sldNum" sz="quarter" idx="4294967295"/>
          </p:nvPr>
        </p:nvSpPr>
        <p:spPr>
          <a:xfrm>
            <a:off x="14794992" y="8549640"/>
            <a:ext cx="91440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3"/>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685800" y="365760"/>
            <a:ext cx="10972800" cy="365760"/>
          </a:xfrm>
          <a:prstGeom prst="rect">
            <a:avLst/>
          </a:prstGeom>
          <a:noFill/>
          <a:ln/>
        </p:spPr>
        <p:txBody>
          <a:bodyPr wrap="square" lIns="0" tIns="0" rIns="0" bIns="0" rtlCol="0"/>
          <a:lstStyle/>
          <a:p>
            <a:pPr indent="0" marL="0">
              <a:buNone/>
            </a:pPr>
            <a:r>
              <a:rPr lang="en-US" sz="1200" b="1" spc="200" kern="0" dirty="0">
                <a:solidFill>
                  <a:schemeClr val="accent3"/>
                </a:solidFill>
              </a:rPr>
              <a:t>03 — IMPLEMENTED MODULES</a:t>
            </a:r>
            <a:endParaRPr lang="en-US" sz="1200" dirty="0"/>
          </a:p>
        </p:txBody>
      </p:sp>
      <p:sp>
        <p:nvSpPr>
          <p:cNvPr id="3" name="Text 0"/>
          <p:cNvSpPr/>
          <p:nvPr>
            <p:ph idx="101" type="title" hasCustomPrompt="1"/>
          </p:nvPr>
        </p:nvSpPr>
        <p:spPr>
          <a:xfrm>
            <a:off x="685800" y="731520"/>
            <a:ext cx="14886432" cy="822960"/>
          </a:xfrm>
          <a:prstGeom prst="rect">
            <a:avLst/>
          </a:prstGeom>
          <a:noFill/>
          <a:ln/>
        </p:spPr>
        <p:txBody>
          <a:bodyPr wrap="square" lIns="0" tIns="0" rIns="0" bIns="0" rtlCol="0" anchor="t"/>
          <a:lstStyle/>
          <a:p>
            <a:pPr algn="l" indent="0" marL="0">
              <a:buNone/>
            </a:pPr>
            <a:r>
              <a:rPr lang="en-US" sz="3600" b="1" dirty="0">
                <a:solidFill>
                  <a:schemeClr val="tx1"/>
                </a:solidFill>
              </a:rPr>
              <a:t>Abdul Rahman — Implemented Modules</a:t>
            </a:r>
            <a:endParaRPr lang="en-US" sz="3600" dirty="0"/>
          </a:p>
        </p:txBody>
      </p:sp>
      <p:sp>
        <p:nvSpPr>
          <p:cNvPr id="5" name="Abdul Rahman profile"/>
          <p:cNvSpPr/>
          <p:nvPr/>
        </p:nvSpPr>
        <p:spPr>
          <a:xfrm>
            <a:off x="685800" y="1828800"/>
            <a:ext cx="4206240" cy="6492240"/>
          </a:xfrm>
          <a:prstGeom prst="roundRect">
            <a:avLst>
              <a:gd name="adj" fmla="val 1739"/>
            </a:avLst>
          </a:prstGeom>
          <a:solidFill>
            <a:srgbClr val="263238"/>
          </a:solidFill>
          <a:ln w="9525">
            <a:solidFill>
              <a:srgbClr val="CFD8DC"/>
            </a:solidFill>
            <a:prstDash val="solid"/>
          </a:ln>
        </p:spPr>
      </p:sp>
      <p:sp>
        <p:nvSpPr>
          <p:cNvPr id="6" name="Text 3"/>
          <p:cNvSpPr txBox="1"/>
          <p:nvPr/>
        </p:nvSpPr>
        <p:spPr>
          <a:xfrm>
            <a:off x="1005840" y="2148840"/>
            <a:ext cx="3566160" cy="365760"/>
          </a:xfrm>
          <a:prstGeom prst="rect">
            <a:avLst/>
          </a:prstGeom>
          <a:noFill/>
          <a:ln/>
        </p:spPr>
        <p:txBody>
          <a:bodyPr wrap="square" lIns="0" tIns="0" rIns="0" bIns="0" rtlCol="0" anchor="t"/>
          <a:lstStyle/>
          <a:p>
            <a:pPr indent="0" marL="0">
              <a:buNone/>
            </a:pPr>
            <a:r>
              <a:rPr lang="en-US" sz="1300" b="1" spc="300" kern="0" dirty="0">
                <a:solidFill>
                  <a:srgbClr val="E09B00"/>
                </a:solidFill>
              </a:rPr>
              <a:t>MEMBER</a:t>
            </a:r>
            <a:endParaRPr lang="en-US" sz="1300" dirty="0"/>
          </a:p>
        </p:txBody>
      </p:sp>
      <p:sp>
        <p:nvSpPr>
          <p:cNvPr id="7" name="Text 4"/>
          <p:cNvSpPr txBox="1"/>
          <p:nvPr/>
        </p:nvSpPr>
        <p:spPr>
          <a:xfrm>
            <a:off x="1005840" y="2560320"/>
            <a:ext cx="3566160" cy="548640"/>
          </a:xfrm>
          <a:prstGeom prst="rect">
            <a:avLst/>
          </a:prstGeom>
          <a:noFill/>
          <a:ln/>
        </p:spPr>
        <p:txBody>
          <a:bodyPr wrap="square" lIns="0" tIns="0" rIns="0" bIns="0" rtlCol="0" anchor="t"/>
          <a:lstStyle/>
          <a:p>
            <a:pPr indent="0" marL="0">
              <a:buNone/>
            </a:pPr>
            <a:r>
              <a:rPr lang="en-US" sz="2800" b="1" dirty="0">
                <a:solidFill>
                  <a:srgbClr val="FFFFFF"/>
                </a:solidFill>
              </a:rPr>
              <a:t>Abdul Rahman</a:t>
            </a:r>
            <a:endParaRPr lang="en-US" sz="2800" dirty="0"/>
          </a:p>
        </p:txBody>
      </p:sp>
      <p:sp>
        <p:nvSpPr>
          <p:cNvPr id="8" name="Text 5"/>
          <p:cNvSpPr txBox="1"/>
          <p:nvPr/>
        </p:nvSpPr>
        <p:spPr>
          <a:xfrm>
            <a:off x="1005840" y="3108960"/>
            <a:ext cx="3566160" cy="365760"/>
          </a:xfrm>
          <a:prstGeom prst="rect">
            <a:avLst/>
          </a:prstGeom>
          <a:noFill/>
          <a:ln/>
        </p:spPr>
        <p:txBody>
          <a:bodyPr wrap="square" lIns="0" tIns="0" rIns="0" bIns="0" rtlCol="0" anchor="t"/>
          <a:lstStyle/>
          <a:p>
            <a:pPr indent="0" marL="0">
              <a:buNone/>
            </a:pPr>
            <a:r>
              <a:rPr lang="en-US" sz="1400" dirty="0">
                <a:solidFill>
                  <a:srgbClr val="90A4AE"/>
                </a:solidFill>
              </a:rPr>
              <a:t>CIIT/SP23-BCT-003/ISB</a:t>
            </a:r>
            <a:endParaRPr lang="en-US" sz="1400" dirty="0"/>
          </a:p>
        </p:txBody>
      </p:sp>
      <p:sp>
        <p:nvSpPr>
          <p:cNvPr id="9" name="Text 6"/>
          <p:cNvSpPr txBox="1"/>
          <p:nvPr/>
        </p:nvSpPr>
        <p:spPr>
          <a:xfrm>
            <a:off x="1005840" y="3749040"/>
            <a:ext cx="3566160" cy="1097280"/>
          </a:xfrm>
          <a:prstGeom prst="rect">
            <a:avLst/>
          </a:prstGeom>
          <a:noFill/>
          <a:ln/>
        </p:spPr>
        <p:txBody>
          <a:bodyPr wrap="square" lIns="0" tIns="0" rIns="0" bIns="0" rtlCol="0" anchor="t"/>
          <a:lstStyle/>
          <a:p>
            <a:pPr indent="0" marL="0">
              <a:buNone/>
            </a:pPr>
            <a:r>
              <a:rPr lang="en-US" sz="1700" dirty="0">
                <a:solidFill>
                  <a:srgbClr val="CFD8DC"/>
                </a:solidFill>
              </a:rPr>
              <a:t>Detection, threat intelligence, the SOC dashboard and alerts</a:t>
            </a:r>
            <a:endParaRPr lang="en-US" sz="1700" dirty="0"/>
          </a:p>
        </p:txBody>
      </p:sp>
      <p:sp>
        <p:nvSpPr>
          <p:cNvPr id="10" name="Text 7"/>
          <p:cNvSpPr txBox="1"/>
          <p:nvPr/>
        </p:nvSpPr>
        <p:spPr>
          <a:xfrm>
            <a:off x="1005840" y="5212080"/>
            <a:ext cx="3566160" cy="2926080"/>
          </a:xfrm>
          <a:prstGeom prst="rect">
            <a:avLst/>
          </a:prstGeom>
          <a:noFill/>
          <a:ln/>
        </p:spPr>
        <p:txBody>
          <a:bodyPr wrap="square" lIns="0" tIns="0" rIns="0" bIns="0" rtlCol="0" anchor="t"/>
          <a:lstStyle/>
          <a:p>
            <a:pPr indent="0" marL="0">
              <a:spcAft>
                <a:spcPts val="600"/>
              </a:spcAft>
              <a:buNone/>
            </a:pPr>
            <a:r>
              <a:rPr lang="en-US" sz="1500" b="1" dirty="0">
                <a:solidFill>
                  <a:srgbClr val="E09B00"/>
                </a:solidFill>
              </a:rPr>
              <a:t>Contribution to the system</a:t>
            </a:r>
            <a:endParaRPr lang="en-US" sz="1600" dirty="0"/>
          </a:p>
          <a:p>
            <a:pPr indent="0" marL="0">
              <a:spcAft>
                <a:spcPts val="600"/>
              </a:spcAft>
              <a:buNone/>
            </a:pPr>
            <a:r>
              <a:rPr lang="en-US" sz="1500" dirty="0">
                <a:solidFill>
                  <a:srgbClr val="FFFFFF"/>
                </a:solidFill>
              </a:rPr>
              <a:t>Turns raw attacker events into detections, intelligence and alerts the analyst can act on — the 'cyber threat intelligence' part of the title.</a:t>
            </a:r>
            <a:endParaRPr lang="en-US" sz="1600" dirty="0"/>
          </a:p>
        </p:txBody>
      </p:sp>
      <p:sp>
        <p:nvSpPr>
          <p:cNvPr id="11" name="M3 card"/>
          <p:cNvSpPr/>
          <p:nvPr/>
        </p:nvSpPr>
        <p:spPr>
          <a:xfrm>
            <a:off x="5166360" y="1828800"/>
            <a:ext cx="10405872" cy="1417320"/>
          </a:xfrm>
          <a:prstGeom prst="roundRect">
            <a:avLst>
              <a:gd name="adj" fmla="val 5161"/>
            </a:avLst>
          </a:prstGeom>
          <a:solidFill>
            <a:srgbClr val="FFFFFF"/>
          </a:solidFill>
          <a:ln w="9525">
            <a:solidFill>
              <a:srgbClr val="CFD8DC"/>
            </a:solidFill>
            <a:prstDash val="solid"/>
          </a:ln>
        </p:spPr>
      </p:sp>
      <p:sp>
        <p:nvSpPr>
          <p:cNvPr id="12" name="M3 circle"/>
          <p:cNvSpPr/>
          <p:nvPr/>
        </p:nvSpPr>
        <p:spPr>
          <a:xfrm>
            <a:off x="5440680" y="2103120"/>
            <a:ext cx="640080" cy="640080"/>
          </a:xfrm>
          <a:prstGeom prst="ellipse">
            <a:avLst/>
          </a:prstGeom>
          <a:solidFill>
            <a:srgbClr val="455A64"/>
          </a:solidFill>
          <a:ln w="12700">
            <a:solidFill>
              <a:srgbClr val="455A64"/>
            </a:solidFill>
            <a:prstDash val="solid"/>
          </a:ln>
        </p:spPr>
      </p:sp>
      <p:pic>
        <p:nvPicPr>
          <p:cNvPr id="13" name="M3 icon" descr="preencoded.png">    </p:cNvPr>
          <p:cNvPicPr>
            <a:picLocks noChangeAspect="1"/>
          </p:cNvPicPr>
          <p:nvPr/>
        </p:nvPicPr>
        <p:blipFill>
          <a:blip r:embed="rId1"/>
          <a:stretch>
            <a:fillRect/>
          </a:stretch>
        </p:blipFill>
        <p:spPr>
          <a:xfrm>
            <a:off x="5613502" y="2275942"/>
            <a:ext cx="294437" cy="294437"/>
          </a:xfrm>
          <a:prstGeom prst="rect">
            <a:avLst/>
          </a:prstGeom>
        </p:spPr>
      </p:pic>
      <p:sp>
        <p:nvSpPr>
          <p:cNvPr id="14" name="Text 10"/>
          <p:cNvSpPr txBox="1"/>
          <p:nvPr/>
        </p:nvSpPr>
        <p:spPr>
          <a:xfrm>
            <a:off x="6263640" y="2103120"/>
            <a:ext cx="9034272" cy="457200"/>
          </a:xfrm>
          <a:prstGeom prst="rect">
            <a:avLst/>
          </a:prstGeom>
          <a:noFill/>
          <a:ln/>
        </p:spPr>
        <p:txBody>
          <a:bodyPr wrap="square" lIns="0" tIns="0" rIns="0" bIns="0" rtlCol="0" anchor="t"/>
          <a:lstStyle/>
          <a:p>
            <a:pPr indent="0" marL="0">
              <a:buNone/>
            </a:pPr>
            <a:r>
              <a:rPr lang="en-US" sz="1900" b="1" dirty="0">
                <a:solidFill>
                  <a:srgbClr val="E09B00"/>
                </a:solidFill>
              </a:rPr>
              <a:t>M3  </a:t>
            </a:r>
            <a:pPr indent="0" marL="0">
              <a:buNone/>
            </a:pPr>
            <a:r>
              <a:rPr lang="en-US" sz="1900" b="1" dirty="0">
                <a:solidFill>
                  <a:srgbClr val="263238"/>
                </a:solidFill>
              </a:rPr>
              <a:t>Attack Detection &amp; Forensic Logging</a:t>
            </a:r>
            <a:endParaRPr lang="en-US" sz="1900" dirty="0"/>
          </a:p>
        </p:txBody>
      </p:sp>
      <p:sp>
        <p:nvSpPr>
          <p:cNvPr id="15" name="Text 11"/>
          <p:cNvSpPr txBox="1"/>
          <p:nvPr/>
        </p:nvSpPr>
        <p:spPr>
          <a:xfrm>
            <a:off x="6263640" y="2606040"/>
            <a:ext cx="9034272" cy="502920"/>
          </a:xfrm>
          <a:prstGeom prst="rect">
            <a:avLst/>
          </a:prstGeom>
          <a:noFill/>
          <a:ln/>
        </p:spPr>
        <p:txBody>
          <a:bodyPr wrap="square" lIns="0" tIns="0" rIns="0" bIns="0" rtlCol="0" anchor="t"/>
          <a:lstStyle/>
          <a:p>
            <a:pPr indent="0" marL="0">
              <a:buNone/>
            </a:pPr>
            <a:r>
              <a:rPr lang="en-US" sz="1500" dirty="0">
                <a:solidFill>
                  <a:srgbClr val="37474F"/>
                </a:solidFill>
              </a:rPr>
              <a:t>Unified PostgreSQL event store fed by one asynchronous writer; command and URL capture (never fetched); malware quarantine (read-only, SHA-256, ELF architecture) with YARA; full-text search.</a:t>
            </a:r>
            <a:endParaRPr lang="en-US" sz="1500" dirty="0"/>
          </a:p>
        </p:txBody>
      </p:sp>
      <p:sp>
        <p:nvSpPr>
          <p:cNvPr id="16" name="M4 card"/>
          <p:cNvSpPr/>
          <p:nvPr/>
        </p:nvSpPr>
        <p:spPr>
          <a:xfrm>
            <a:off x="5166360" y="3520440"/>
            <a:ext cx="10405872" cy="1417320"/>
          </a:xfrm>
          <a:prstGeom prst="roundRect">
            <a:avLst>
              <a:gd name="adj" fmla="val 5161"/>
            </a:avLst>
          </a:prstGeom>
          <a:solidFill>
            <a:srgbClr val="FFFFFF"/>
          </a:solidFill>
          <a:ln w="9525">
            <a:solidFill>
              <a:srgbClr val="CFD8DC"/>
            </a:solidFill>
            <a:prstDash val="solid"/>
          </a:ln>
        </p:spPr>
      </p:sp>
      <p:sp>
        <p:nvSpPr>
          <p:cNvPr id="17" name="M4 circle"/>
          <p:cNvSpPr/>
          <p:nvPr/>
        </p:nvSpPr>
        <p:spPr>
          <a:xfrm>
            <a:off x="5440680" y="3794760"/>
            <a:ext cx="640080" cy="640080"/>
          </a:xfrm>
          <a:prstGeom prst="ellipse">
            <a:avLst/>
          </a:prstGeom>
          <a:solidFill>
            <a:srgbClr val="455A64"/>
          </a:solidFill>
          <a:ln w="12700">
            <a:solidFill>
              <a:srgbClr val="455A64"/>
            </a:solidFill>
            <a:prstDash val="solid"/>
          </a:ln>
        </p:spPr>
      </p:sp>
      <p:pic>
        <p:nvPicPr>
          <p:cNvPr id="18" name="M4 icon" descr="preencoded.png">    </p:cNvPr>
          <p:cNvPicPr>
            <a:picLocks noChangeAspect="1"/>
          </p:cNvPicPr>
          <p:nvPr/>
        </p:nvPicPr>
        <p:blipFill>
          <a:blip r:embed="rId2"/>
          <a:stretch>
            <a:fillRect/>
          </a:stretch>
        </p:blipFill>
        <p:spPr>
          <a:xfrm>
            <a:off x="5613502" y="3967582"/>
            <a:ext cx="294437" cy="294437"/>
          </a:xfrm>
          <a:prstGeom prst="rect">
            <a:avLst/>
          </a:prstGeom>
        </p:spPr>
      </p:pic>
      <p:sp>
        <p:nvSpPr>
          <p:cNvPr id="19" name="Text 14"/>
          <p:cNvSpPr txBox="1"/>
          <p:nvPr/>
        </p:nvSpPr>
        <p:spPr>
          <a:xfrm>
            <a:off x="6263640" y="3794760"/>
            <a:ext cx="9034272" cy="457200"/>
          </a:xfrm>
          <a:prstGeom prst="rect">
            <a:avLst/>
          </a:prstGeom>
          <a:noFill/>
          <a:ln/>
        </p:spPr>
        <p:txBody>
          <a:bodyPr wrap="square" lIns="0" tIns="0" rIns="0" bIns="0" rtlCol="0" anchor="t"/>
          <a:lstStyle/>
          <a:p>
            <a:pPr indent="0" marL="0">
              <a:buNone/>
            </a:pPr>
            <a:r>
              <a:rPr lang="en-US" sz="1900" b="1" dirty="0">
                <a:solidFill>
                  <a:srgbClr val="E09B00"/>
                </a:solidFill>
              </a:rPr>
              <a:t>M4  </a:t>
            </a:r>
            <a:pPr indent="0" marL="0">
              <a:buNone/>
            </a:pPr>
            <a:r>
              <a:rPr lang="en-US" sz="1900" b="1" dirty="0">
                <a:solidFill>
                  <a:srgbClr val="263238"/>
                </a:solidFill>
              </a:rPr>
              <a:t>Threat Intelligence Engine</a:t>
            </a:r>
            <a:endParaRPr lang="en-US" sz="1900" dirty="0"/>
          </a:p>
        </p:txBody>
      </p:sp>
      <p:sp>
        <p:nvSpPr>
          <p:cNvPr id="20" name="Text 15"/>
          <p:cNvSpPr txBox="1"/>
          <p:nvPr/>
        </p:nvSpPr>
        <p:spPr>
          <a:xfrm>
            <a:off x="6263640" y="4297680"/>
            <a:ext cx="9034272" cy="502920"/>
          </a:xfrm>
          <a:prstGeom prst="rect">
            <a:avLst/>
          </a:prstGeom>
          <a:noFill/>
          <a:ln/>
        </p:spPr>
        <p:txBody>
          <a:bodyPr wrap="square" lIns="0" tIns="0" rIns="0" bIns="0" rtlCol="0" anchor="t"/>
          <a:lstStyle/>
          <a:p>
            <a:pPr indent="0" marL="0">
              <a:buNone/>
            </a:pPr>
            <a:r>
              <a:rPr lang="en-US" sz="1500" dirty="0">
                <a:solidFill>
                  <a:srgbClr val="37474F"/>
                </a:solidFill>
              </a:rPr>
              <a:t>16 time-windowed detection classes tagged with MITRE ATT&amp;CK (Enterprise + ICS); attacker correlation, threat score, offline GeoIP, credential campaigns, IOC store, STIX 2.1 export, PDF reports.</a:t>
            </a:r>
            <a:endParaRPr lang="en-US" sz="1500" dirty="0"/>
          </a:p>
        </p:txBody>
      </p:sp>
      <p:sp>
        <p:nvSpPr>
          <p:cNvPr id="21" name="M5 card"/>
          <p:cNvSpPr/>
          <p:nvPr/>
        </p:nvSpPr>
        <p:spPr>
          <a:xfrm>
            <a:off x="5166360" y="5212080"/>
            <a:ext cx="10405872" cy="1417320"/>
          </a:xfrm>
          <a:prstGeom prst="roundRect">
            <a:avLst>
              <a:gd name="adj" fmla="val 5161"/>
            </a:avLst>
          </a:prstGeom>
          <a:solidFill>
            <a:srgbClr val="FFFFFF"/>
          </a:solidFill>
          <a:ln w="9525">
            <a:solidFill>
              <a:srgbClr val="CFD8DC"/>
            </a:solidFill>
            <a:prstDash val="solid"/>
          </a:ln>
        </p:spPr>
      </p:sp>
      <p:sp>
        <p:nvSpPr>
          <p:cNvPr id="22" name="M5 circle"/>
          <p:cNvSpPr/>
          <p:nvPr/>
        </p:nvSpPr>
        <p:spPr>
          <a:xfrm>
            <a:off x="5440680" y="5486400"/>
            <a:ext cx="640080" cy="640080"/>
          </a:xfrm>
          <a:prstGeom prst="ellipse">
            <a:avLst/>
          </a:prstGeom>
          <a:solidFill>
            <a:srgbClr val="455A64"/>
          </a:solidFill>
          <a:ln w="12700">
            <a:solidFill>
              <a:srgbClr val="455A64"/>
            </a:solidFill>
            <a:prstDash val="solid"/>
          </a:ln>
        </p:spPr>
      </p:sp>
      <p:pic>
        <p:nvPicPr>
          <p:cNvPr id="23" name="M5 icon" descr="preencoded.png">    </p:cNvPr>
          <p:cNvPicPr>
            <a:picLocks noChangeAspect="1"/>
          </p:cNvPicPr>
          <p:nvPr/>
        </p:nvPicPr>
        <p:blipFill>
          <a:blip r:embed="rId3"/>
          <a:stretch>
            <a:fillRect/>
          </a:stretch>
        </p:blipFill>
        <p:spPr>
          <a:xfrm>
            <a:off x="5613502" y="5659222"/>
            <a:ext cx="294437" cy="294437"/>
          </a:xfrm>
          <a:prstGeom prst="rect">
            <a:avLst/>
          </a:prstGeom>
        </p:spPr>
      </p:pic>
      <p:sp>
        <p:nvSpPr>
          <p:cNvPr id="24" name="Text 18"/>
          <p:cNvSpPr txBox="1"/>
          <p:nvPr/>
        </p:nvSpPr>
        <p:spPr>
          <a:xfrm>
            <a:off x="6263640" y="5486400"/>
            <a:ext cx="9034272" cy="457200"/>
          </a:xfrm>
          <a:prstGeom prst="rect">
            <a:avLst/>
          </a:prstGeom>
          <a:noFill/>
          <a:ln/>
        </p:spPr>
        <p:txBody>
          <a:bodyPr wrap="square" lIns="0" tIns="0" rIns="0" bIns="0" rtlCol="0" anchor="t"/>
          <a:lstStyle/>
          <a:p>
            <a:pPr indent="0" marL="0">
              <a:buNone/>
            </a:pPr>
            <a:r>
              <a:rPr lang="en-US" sz="1900" b="1" dirty="0">
                <a:solidFill>
                  <a:srgbClr val="E09B00"/>
                </a:solidFill>
              </a:rPr>
              <a:t>M5  </a:t>
            </a:r>
            <a:pPr indent="0" marL="0">
              <a:buNone/>
            </a:pPr>
            <a:r>
              <a:rPr lang="en-US" sz="1900" b="1" dirty="0">
                <a:solidFill>
                  <a:srgbClr val="263238"/>
                </a:solidFill>
              </a:rPr>
              <a:t>Real-Time Monitoring Dashboard</a:t>
            </a:r>
            <a:endParaRPr lang="en-US" sz="1900" dirty="0"/>
          </a:p>
        </p:txBody>
      </p:sp>
      <p:sp>
        <p:nvSpPr>
          <p:cNvPr id="25" name="Text 19"/>
          <p:cNvSpPr txBox="1"/>
          <p:nvPr/>
        </p:nvSpPr>
        <p:spPr>
          <a:xfrm>
            <a:off x="6263640" y="5989320"/>
            <a:ext cx="9034272" cy="502920"/>
          </a:xfrm>
          <a:prstGeom prst="rect">
            <a:avLst/>
          </a:prstGeom>
          <a:noFill/>
          <a:ln/>
        </p:spPr>
        <p:txBody>
          <a:bodyPr wrap="square" lIns="0" tIns="0" rIns="0" bIns="0" rtlCol="0" anchor="t"/>
          <a:lstStyle/>
          <a:p>
            <a:pPr indent="0" marL="0">
              <a:buNone/>
            </a:pPr>
            <a:r>
              <a:rPr lang="en-US" sz="1500" dirty="0">
                <a:solidFill>
                  <a:srgbClr val="37474F"/>
                </a:solidFill>
              </a:rPr>
              <a:t>React 19 + TypeScript SPA: overview with offline world map, attackers, detections, devices, session replay, malware, IOCs, reports; WebSocket live push behind Nginx.</a:t>
            </a:r>
            <a:endParaRPr lang="en-US" sz="1500" dirty="0"/>
          </a:p>
        </p:txBody>
      </p:sp>
      <p:sp>
        <p:nvSpPr>
          <p:cNvPr id="26" name="M6 card"/>
          <p:cNvSpPr/>
          <p:nvPr/>
        </p:nvSpPr>
        <p:spPr>
          <a:xfrm>
            <a:off x="5166360" y="6903720"/>
            <a:ext cx="10405872" cy="1417320"/>
          </a:xfrm>
          <a:prstGeom prst="roundRect">
            <a:avLst>
              <a:gd name="adj" fmla="val 5161"/>
            </a:avLst>
          </a:prstGeom>
          <a:solidFill>
            <a:srgbClr val="FFFFFF"/>
          </a:solidFill>
          <a:ln w="9525">
            <a:solidFill>
              <a:srgbClr val="CFD8DC"/>
            </a:solidFill>
            <a:prstDash val="solid"/>
          </a:ln>
        </p:spPr>
      </p:sp>
      <p:sp>
        <p:nvSpPr>
          <p:cNvPr id="27" name="M6 circle"/>
          <p:cNvSpPr/>
          <p:nvPr/>
        </p:nvSpPr>
        <p:spPr>
          <a:xfrm>
            <a:off x="5440680" y="7178040"/>
            <a:ext cx="640080" cy="640080"/>
          </a:xfrm>
          <a:prstGeom prst="ellipse">
            <a:avLst/>
          </a:prstGeom>
          <a:solidFill>
            <a:srgbClr val="455A64"/>
          </a:solidFill>
          <a:ln w="12700">
            <a:solidFill>
              <a:srgbClr val="455A64"/>
            </a:solidFill>
            <a:prstDash val="solid"/>
          </a:ln>
        </p:spPr>
      </p:sp>
      <p:pic>
        <p:nvPicPr>
          <p:cNvPr id="28" name="M6 icon" descr="preencoded.png">    </p:cNvPr>
          <p:cNvPicPr>
            <a:picLocks noChangeAspect="1"/>
          </p:cNvPicPr>
          <p:nvPr/>
        </p:nvPicPr>
        <p:blipFill>
          <a:blip r:embed="rId4"/>
          <a:stretch>
            <a:fillRect/>
          </a:stretch>
        </p:blipFill>
        <p:spPr>
          <a:xfrm>
            <a:off x="5613502" y="7350862"/>
            <a:ext cx="294437" cy="294437"/>
          </a:xfrm>
          <a:prstGeom prst="rect">
            <a:avLst/>
          </a:prstGeom>
        </p:spPr>
      </p:pic>
      <p:sp>
        <p:nvSpPr>
          <p:cNvPr id="29" name="Text 22"/>
          <p:cNvSpPr txBox="1"/>
          <p:nvPr/>
        </p:nvSpPr>
        <p:spPr>
          <a:xfrm>
            <a:off x="6263640" y="7178040"/>
            <a:ext cx="9034272" cy="457200"/>
          </a:xfrm>
          <a:prstGeom prst="rect">
            <a:avLst/>
          </a:prstGeom>
          <a:noFill/>
          <a:ln/>
        </p:spPr>
        <p:txBody>
          <a:bodyPr wrap="square" lIns="0" tIns="0" rIns="0" bIns="0" rtlCol="0" anchor="t"/>
          <a:lstStyle/>
          <a:p>
            <a:pPr indent="0" marL="0">
              <a:buNone/>
            </a:pPr>
            <a:r>
              <a:rPr lang="en-US" sz="1900" b="1" dirty="0">
                <a:solidFill>
                  <a:srgbClr val="E09B00"/>
                </a:solidFill>
              </a:rPr>
              <a:t>M6  </a:t>
            </a:r>
            <a:pPr indent="0" marL="0">
              <a:buNone/>
            </a:pPr>
            <a:r>
              <a:rPr lang="en-US" sz="1900" b="1" dirty="0">
                <a:solidFill>
                  <a:srgbClr val="263238"/>
                </a:solidFill>
              </a:rPr>
              <a:t>Alert &amp; Notification System</a:t>
            </a:r>
            <a:endParaRPr lang="en-US" sz="1900" dirty="0"/>
          </a:p>
        </p:txBody>
      </p:sp>
      <p:sp>
        <p:nvSpPr>
          <p:cNvPr id="30" name="Text 23"/>
          <p:cNvSpPr txBox="1"/>
          <p:nvPr/>
        </p:nvSpPr>
        <p:spPr>
          <a:xfrm>
            <a:off x="6263640" y="7680960"/>
            <a:ext cx="9034272" cy="502920"/>
          </a:xfrm>
          <a:prstGeom prst="rect">
            <a:avLst/>
          </a:prstGeom>
          <a:noFill/>
          <a:ln/>
        </p:spPr>
        <p:txBody>
          <a:bodyPr wrap="square" lIns="0" tIns="0" rIns="0" bIns="0" rtlCol="0" anchor="t"/>
          <a:lstStyle/>
          <a:p>
            <a:pPr indent="0" marL="0">
              <a:buNone/>
            </a:pPr>
            <a:r>
              <a:rPr lang="en-US" sz="1500" dirty="0">
                <a:solidFill>
                  <a:srgbClr val="37474F"/>
                </a:solidFill>
              </a:rPr>
              <a:t>Telegram and e-mail with per-type thresholds, 10-minute de-duplication, escalation and a complete alert log.</a:t>
            </a:r>
            <a:endParaRPr lang="en-US" sz="1500" dirty="0"/>
          </a:p>
        </p:txBody>
      </p:sp>
      <p:sp>
        <p:nvSpPr>
          <p:cNvPr id="25" name="Slide Number Placeholder 0"/>
          <p:cNvSpPr>
            <a:spLocks noGrp="1"/>
          </p:cNvSpPr>
          <p:nvPr>
            <p:ph type="sldNum" sz="quarter" idx="4294967295"/>
          </p:nvPr>
        </p:nvSpPr>
        <p:spPr>
          <a:xfrm>
            <a:off x="14794992" y="8549640"/>
            <a:ext cx="91440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3"/>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685800" y="365760"/>
            <a:ext cx="10972800" cy="365760"/>
          </a:xfrm>
          <a:prstGeom prst="rect">
            <a:avLst/>
          </a:prstGeom>
          <a:noFill/>
          <a:ln/>
        </p:spPr>
        <p:txBody>
          <a:bodyPr wrap="square" lIns="0" tIns="0" rIns="0" bIns="0" rtlCol="0"/>
          <a:lstStyle/>
          <a:p>
            <a:pPr indent="0" marL="0">
              <a:buNone/>
            </a:pPr>
            <a:r>
              <a:rPr lang="en-US" sz="1200" b="1" spc="200" kern="0" dirty="0">
                <a:solidFill>
                  <a:schemeClr val="accent3"/>
                </a:solidFill>
              </a:rPr>
              <a:t>03 — IMPLEMENTED MODULES · ABDUL RAHMAN</a:t>
            </a:r>
            <a:endParaRPr lang="en-US" sz="1200" dirty="0"/>
          </a:p>
        </p:txBody>
      </p:sp>
      <p:sp>
        <p:nvSpPr>
          <p:cNvPr id="3" name="Text 0"/>
          <p:cNvSpPr/>
          <p:nvPr>
            <p:ph idx="101" type="title" hasCustomPrompt="1"/>
          </p:nvPr>
        </p:nvSpPr>
        <p:spPr>
          <a:xfrm>
            <a:off x="685800" y="731520"/>
            <a:ext cx="14886432" cy="822960"/>
          </a:xfrm>
          <a:prstGeom prst="rect">
            <a:avLst/>
          </a:prstGeom>
          <a:noFill/>
          <a:ln/>
        </p:spPr>
        <p:txBody>
          <a:bodyPr wrap="square" lIns="0" tIns="0" rIns="0" bIns="0" rtlCol="0" anchor="t"/>
          <a:lstStyle/>
          <a:p>
            <a:pPr algn="l" indent="0" marL="0">
              <a:buNone/>
            </a:pPr>
            <a:r>
              <a:rPr lang="en-US" sz="3600" b="1" dirty="0">
                <a:solidFill>
                  <a:schemeClr val="tx1"/>
                </a:solidFill>
              </a:rPr>
              <a:t>Rahman — Technical Implementation</a:t>
            </a:r>
            <a:endParaRPr lang="en-US" sz="3600" dirty="0"/>
          </a:p>
        </p:txBody>
      </p:sp>
      <p:pic>
        <p:nvPicPr>
          <p:cNvPr id="5" name="event and intelligence pipeline" descr="/tmp/claude-0/-home-claude/20c42fea-0b24-5b6e-95a5-e2a8cb74a1e4/scratchpad/sds2/un/word/media/image20.png">    </p:cNvPr>
          <p:cNvPicPr>
            <a:picLocks noChangeAspect="1"/>
          </p:cNvPicPr>
          <p:nvPr/>
        </p:nvPicPr>
        <p:blipFill>
          <a:blip r:embed="rId1"/>
          <a:stretch>
            <a:fillRect/>
          </a:stretch>
        </p:blipFill>
        <p:spPr>
          <a:xfrm>
            <a:off x="685800" y="2035846"/>
            <a:ext cx="9052560" cy="6078147"/>
          </a:xfrm>
          <a:prstGeom prst="rect">
            <a:avLst/>
          </a:prstGeom>
        </p:spPr>
      </p:pic>
      <p:sp>
        <p:nvSpPr>
          <p:cNvPr id="6" name="event and intelligence pipeline frame"/>
          <p:cNvSpPr/>
          <p:nvPr/>
        </p:nvSpPr>
        <p:spPr>
          <a:xfrm>
            <a:off x="685800" y="2035846"/>
            <a:ext cx="9052560" cy="6078147"/>
          </a:xfrm>
          <a:prstGeom prst="rect">
            <a:avLst/>
          </a:prstGeom>
          <a:ln w="9525">
            <a:solidFill>
              <a:srgbClr val="CFD8DC"/>
            </a:solidFill>
            <a:prstDash val="solid"/>
          </a:ln>
        </p:spPr>
      </p:sp>
      <p:sp>
        <p:nvSpPr>
          <p:cNvPr id="7" name="point r0"/>
          <p:cNvSpPr/>
          <p:nvPr/>
        </p:nvSpPr>
        <p:spPr>
          <a:xfrm>
            <a:off x="10058400" y="1783080"/>
            <a:ext cx="5513832" cy="1188720"/>
          </a:xfrm>
          <a:prstGeom prst="roundRect">
            <a:avLst>
              <a:gd name="adj" fmla="val 6154"/>
            </a:avLst>
          </a:prstGeom>
          <a:solidFill>
            <a:srgbClr val="FFFFFF"/>
          </a:solidFill>
          <a:ln w="9525">
            <a:solidFill>
              <a:srgbClr val="CFD8DC"/>
            </a:solidFill>
            <a:prstDash val="solid"/>
          </a:ln>
        </p:spPr>
      </p:sp>
      <p:sp>
        <p:nvSpPr>
          <p:cNvPr id="8" name="Text 4"/>
          <p:cNvSpPr txBox="1"/>
          <p:nvPr/>
        </p:nvSpPr>
        <p:spPr>
          <a:xfrm>
            <a:off x="10287000" y="1901952"/>
            <a:ext cx="5120640" cy="365760"/>
          </a:xfrm>
          <a:prstGeom prst="rect">
            <a:avLst/>
          </a:prstGeom>
          <a:noFill/>
          <a:ln/>
        </p:spPr>
        <p:txBody>
          <a:bodyPr wrap="square" lIns="0" tIns="0" rIns="0" bIns="0" rtlCol="0" anchor="t"/>
          <a:lstStyle/>
          <a:p>
            <a:pPr indent="0" marL="0">
              <a:buNone/>
            </a:pPr>
            <a:r>
              <a:rPr lang="en-US" sz="1700" b="1" dirty="0">
                <a:solidFill>
                  <a:srgbClr val="263238"/>
                </a:solidFill>
              </a:rPr>
              <a:t>Single writer</a:t>
            </a:r>
            <a:endParaRPr lang="en-US" sz="1700" dirty="0"/>
          </a:p>
        </p:txBody>
      </p:sp>
      <p:sp>
        <p:nvSpPr>
          <p:cNvPr id="9" name="Text 5"/>
          <p:cNvSpPr txBox="1"/>
          <p:nvPr/>
        </p:nvSpPr>
        <p:spPr>
          <a:xfrm>
            <a:off x="10287000" y="2258568"/>
            <a:ext cx="5120640" cy="685800"/>
          </a:xfrm>
          <a:prstGeom prst="rect">
            <a:avLst/>
          </a:prstGeom>
          <a:noFill/>
          <a:ln/>
        </p:spPr>
        <p:txBody>
          <a:bodyPr wrap="square" lIns="0" tIns="0" rIns="0" bIns="0" rtlCol="0" anchor="t"/>
          <a:lstStyle/>
          <a:p>
            <a:pPr indent="0" marL="0">
              <a:buNone/>
            </a:pPr>
            <a:r>
              <a:rPr lang="en-US" sz="1400" dirty="0">
                <a:solidFill>
                  <a:srgbClr val="37474F"/>
                </a:solidFill>
              </a:rPr>
              <a:t>Honeypots never touch the database; one background thread writes, so a slow DB never blocks an attacker</a:t>
            </a:r>
            <a:endParaRPr lang="en-US" sz="1400" dirty="0"/>
          </a:p>
        </p:txBody>
      </p:sp>
      <p:sp>
        <p:nvSpPr>
          <p:cNvPr id="10" name="point r1"/>
          <p:cNvSpPr/>
          <p:nvPr/>
        </p:nvSpPr>
        <p:spPr>
          <a:xfrm>
            <a:off x="10058400" y="3108960"/>
            <a:ext cx="5513832" cy="1188720"/>
          </a:xfrm>
          <a:prstGeom prst="roundRect">
            <a:avLst>
              <a:gd name="adj" fmla="val 6154"/>
            </a:avLst>
          </a:prstGeom>
          <a:solidFill>
            <a:srgbClr val="FFFFFF"/>
          </a:solidFill>
          <a:ln w="9525">
            <a:solidFill>
              <a:srgbClr val="CFD8DC"/>
            </a:solidFill>
            <a:prstDash val="solid"/>
          </a:ln>
        </p:spPr>
      </p:sp>
      <p:sp>
        <p:nvSpPr>
          <p:cNvPr id="11" name="Text 7"/>
          <p:cNvSpPr txBox="1"/>
          <p:nvPr/>
        </p:nvSpPr>
        <p:spPr>
          <a:xfrm>
            <a:off x="10287000" y="3227832"/>
            <a:ext cx="5120640" cy="365760"/>
          </a:xfrm>
          <a:prstGeom prst="rect">
            <a:avLst/>
          </a:prstGeom>
          <a:noFill/>
          <a:ln/>
        </p:spPr>
        <p:txBody>
          <a:bodyPr wrap="square" lIns="0" tIns="0" rIns="0" bIns="0" rtlCol="0" anchor="t"/>
          <a:lstStyle/>
          <a:p>
            <a:pPr indent="0" marL="0">
              <a:buNone/>
            </a:pPr>
            <a:r>
              <a:rPr lang="en-US" sz="1700" b="1" dirty="0">
                <a:solidFill>
                  <a:srgbClr val="263238"/>
                </a:solidFill>
              </a:rPr>
              <a:t>Rules</a:t>
            </a:r>
            <a:endParaRPr lang="en-US" sz="1700" dirty="0"/>
          </a:p>
        </p:txBody>
      </p:sp>
      <p:sp>
        <p:nvSpPr>
          <p:cNvPr id="12" name="Text 8"/>
          <p:cNvSpPr txBox="1"/>
          <p:nvPr/>
        </p:nvSpPr>
        <p:spPr>
          <a:xfrm>
            <a:off x="10287000" y="3584448"/>
            <a:ext cx="5120640" cy="685800"/>
          </a:xfrm>
          <a:prstGeom prst="rect">
            <a:avLst/>
          </a:prstGeom>
          <a:noFill/>
          <a:ln/>
        </p:spPr>
        <p:txBody>
          <a:bodyPr wrap="square" lIns="0" tIns="0" rIns="0" bIns="0" rtlCol="0" anchor="t"/>
          <a:lstStyle/>
          <a:p>
            <a:pPr indent="0" marL="0">
              <a:buNone/>
            </a:pPr>
            <a:r>
              <a:rPr lang="en-US" sz="1400" dirty="0">
                <a:solidFill>
                  <a:srgbClr val="37474F"/>
                </a:solidFill>
              </a:rPr>
              <a:t>16 classes over time windows; UNIQUE dedupe_key gives one row per attack, not per pass</a:t>
            </a:r>
            <a:endParaRPr lang="en-US" sz="1400" dirty="0"/>
          </a:p>
        </p:txBody>
      </p:sp>
      <p:sp>
        <p:nvSpPr>
          <p:cNvPr id="13" name="point r2"/>
          <p:cNvSpPr/>
          <p:nvPr/>
        </p:nvSpPr>
        <p:spPr>
          <a:xfrm>
            <a:off x="10058400" y="4434840"/>
            <a:ext cx="5513832" cy="1188720"/>
          </a:xfrm>
          <a:prstGeom prst="roundRect">
            <a:avLst>
              <a:gd name="adj" fmla="val 6154"/>
            </a:avLst>
          </a:prstGeom>
          <a:solidFill>
            <a:srgbClr val="FFFFFF"/>
          </a:solidFill>
          <a:ln w="9525">
            <a:solidFill>
              <a:srgbClr val="CFD8DC"/>
            </a:solidFill>
            <a:prstDash val="solid"/>
          </a:ln>
        </p:spPr>
      </p:sp>
      <p:sp>
        <p:nvSpPr>
          <p:cNvPr id="14" name="Text 10"/>
          <p:cNvSpPr txBox="1"/>
          <p:nvPr/>
        </p:nvSpPr>
        <p:spPr>
          <a:xfrm>
            <a:off x="10287000" y="4553712"/>
            <a:ext cx="5120640" cy="365760"/>
          </a:xfrm>
          <a:prstGeom prst="rect">
            <a:avLst/>
          </a:prstGeom>
          <a:noFill/>
          <a:ln/>
        </p:spPr>
        <p:txBody>
          <a:bodyPr wrap="square" lIns="0" tIns="0" rIns="0" bIns="0" rtlCol="0" anchor="t"/>
          <a:lstStyle/>
          <a:p>
            <a:pPr indent="0" marL="0">
              <a:buNone/>
            </a:pPr>
            <a:r>
              <a:rPr lang="en-US" sz="1700" b="1" dirty="0">
                <a:solidFill>
                  <a:srgbClr val="263238"/>
                </a:solidFill>
              </a:rPr>
              <a:t>Intelligence</a:t>
            </a:r>
            <a:endParaRPr lang="en-US" sz="1700" dirty="0"/>
          </a:p>
        </p:txBody>
      </p:sp>
      <p:sp>
        <p:nvSpPr>
          <p:cNvPr id="15" name="Text 11"/>
          <p:cNvSpPr txBox="1"/>
          <p:nvPr/>
        </p:nvSpPr>
        <p:spPr>
          <a:xfrm>
            <a:off x="10287000" y="4910328"/>
            <a:ext cx="5120640" cy="685800"/>
          </a:xfrm>
          <a:prstGeom prst="rect">
            <a:avLst/>
          </a:prstGeom>
          <a:noFill/>
          <a:ln/>
        </p:spPr>
        <p:txBody>
          <a:bodyPr wrap="square" lIns="0" tIns="0" rIns="0" bIns="0" rtlCol="0" anchor="t"/>
          <a:lstStyle/>
          <a:p>
            <a:pPr indent="0" marL="0">
              <a:buNone/>
            </a:pPr>
            <a:r>
              <a:rPr lang="en-US" sz="1400" dirty="0">
                <a:solidFill>
                  <a:srgbClr val="37474F"/>
                </a:solidFill>
              </a:rPr>
              <a:t>MITRE IDs, Jaccard credential campaigns, GeoIP, IOCs with idempotent sightings</a:t>
            </a:r>
            <a:endParaRPr lang="en-US" sz="1400" dirty="0"/>
          </a:p>
        </p:txBody>
      </p:sp>
      <p:sp>
        <p:nvSpPr>
          <p:cNvPr id="16" name="point r3"/>
          <p:cNvSpPr/>
          <p:nvPr/>
        </p:nvSpPr>
        <p:spPr>
          <a:xfrm>
            <a:off x="10058400" y="5760720"/>
            <a:ext cx="5513832" cy="1188720"/>
          </a:xfrm>
          <a:prstGeom prst="roundRect">
            <a:avLst>
              <a:gd name="adj" fmla="val 6154"/>
            </a:avLst>
          </a:prstGeom>
          <a:solidFill>
            <a:srgbClr val="FFFFFF"/>
          </a:solidFill>
          <a:ln w="9525">
            <a:solidFill>
              <a:srgbClr val="CFD8DC"/>
            </a:solidFill>
            <a:prstDash val="solid"/>
          </a:ln>
        </p:spPr>
      </p:sp>
      <p:sp>
        <p:nvSpPr>
          <p:cNvPr id="17" name="Text 13"/>
          <p:cNvSpPr txBox="1"/>
          <p:nvPr/>
        </p:nvSpPr>
        <p:spPr>
          <a:xfrm>
            <a:off x="10287000" y="5879592"/>
            <a:ext cx="5120640" cy="365760"/>
          </a:xfrm>
          <a:prstGeom prst="rect">
            <a:avLst/>
          </a:prstGeom>
          <a:noFill/>
          <a:ln/>
        </p:spPr>
        <p:txBody>
          <a:bodyPr wrap="square" lIns="0" tIns="0" rIns="0" bIns="0" rtlCol="0" anchor="t"/>
          <a:lstStyle/>
          <a:p>
            <a:pPr indent="0" marL="0">
              <a:buNone/>
            </a:pPr>
            <a:r>
              <a:rPr lang="en-US" sz="1700" b="1" dirty="0">
                <a:solidFill>
                  <a:srgbClr val="263238"/>
                </a:solidFill>
              </a:rPr>
              <a:t>Malware</a:t>
            </a:r>
            <a:endParaRPr lang="en-US" sz="1700" dirty="0"/>
          </a:p>
        </p:txBody>
      </p:sp>
      <p:sp>
        <p:nvSpPr>
          <p:cNvPr id="18" name="Text 14"/>
          <p:cNvSpPr txBox="1"/>
          <p:nvPr/>
        </p:nvSpPr>
        <p:spPr>
          <a:xfrm>
            <a:off x="10287000" y="6236208"/>
            <a:ext cx="5120640" cy="685800"/>
          </a:xfrm>
          <a:prstGeom prst="rect">
            <a:avLst/>
          </a:prstGeom>
          <a:noFill/>
          <a:ln/>
        </p:spPr>
        <p:txBody>
          <a:bodyPr wrap="square" lIns="0" tIns="0" rIns="0" bIns="0" rtlCol="0" anchor="t"/>
          <a:lstStyle/>
          <a:p>
            <a:pPr indent="0" marL="0">
              <a:buNone/>
            </a:pPr>
            <a:r>
              <a:rPr lang="en-US" sz="1400" dirty="0">
                <a:solidFill>
                  <a:srgbClr val="37474F"/>
                </a:solidFill>
              </a:rPr>
              <a:t>Read-only quarantine (0400), YARA family match → CRITICAL MALWARE_FAMILY</a:t>
            </a:r>
            <a:endParaRPr lang="en-US" sz="1400" dirty="0"/>
          </a:p>
        </p:txBody>
      </p:sp>
      <p:sp>
        <p:nvSpPr>
          <p:cNvPr id="19" name="point r4"/>
          <p:cNvSpPr/>
          <p:nvPr/>
        </p:nvSpPr>
        <p:spPr>
          <a:xfrm>
            <a:off x="10058400" y="7086600"/>
            <a:ext cx="5513832" cy="1188720"/>
          </a:xfrm>
          <a:prstGeom prst="roundRect">
            <a:avLst>
              <a:gd name="adj" fmla="val 6154"/>
            </a:avLst>
          </a:prstGeom>
          <a:solidFill>
            <a:srgbClr val="FFFFFF"/>
          </a:solidFill>
          <a:ln w="9525">
            <a:solidFill>
              <a:srgbClr val="CFD8DC"/>
            </a:solidFill>
            <a:prstDash val="solid"/>
          </a:ln>
        </p:spPr>
      </p:sp>
      <p:sp>
        <p:nvSpPr>
          <p:cNvPr id="20" name="Text 16"/>
          <p:cNvSpPr txBox="1"/>
          <p:nvPr/>
        </p:nvSpPr>
        <p:spPr>
          <a:xfrm>
            <a:off x="10287000" y="7205472"/>
            <a:ext cx="5120640" cy="365760"/>
          </a:xfrm>
          <a:prstGeom prst="rect">
            <a:avLst/>
          </a:prstGeom>
          <a:noFill/>
          <a:ln/>
        </p:spPr>
        <p:txBody>
          <a:bodyPr wrap="square" lIns="0" tIns="0" rIns="0" bIns="0" rtlCol="0" anchor="t"/>
          <a:lstStyle/>
          <a:p>
            <a:pPr indent="0" marL="0">
              <a:buNone/>
            </a:pPr>
            <a:r>
              <a:rPr lang="en-US" sz="1700" b="1" dirty="0">
                <a:solidFill>
                  <a:srgbClr val="263238"/>
                </a:solidFill>
              </a:rPr>
              <a:t>Live UI</a:t>
            </a:r>
            <a:endParaRPr lang="en-US" sz="1700" dirty="0"/>
          </a:p>
        </p:txBody>
      </p:sp>
      <p:sp>
        <p:nvSpPr>
          <p:cNvPr id="21" name="Text 17"/>
          <p:cNvSpPr txBox="1"/>
          <p:nvPr/>
        </p:nvSpPr>
        <p:spPr>
          <a:xfrm>
            <a:off x="10287000" y="7562088"/>
            <a:ext cx="5120640" cy="685800"/>
          </a:xfrm>
          <a:prstGeom prst="rect">
            <a:avLst/>
          </a:prstGeom>
          <a:noFill/>
          <a:ln/>
        </p:spPr>
        <p:txBody>
          <a:bodyPr wrap="square" lIns="0" tIns="0" rIns="0" bIns="0" rtlCol="0" anchor="t"/>
          <a:lstStyle/>
          <a:p>
            <a:pPr indent="0" marL="0">
              <a:buNone/>
            </a:pPr>
            <a:r>
              <a:rPr lang="en-US" sz="1400" dirty="0">
                <a:solidFill>
                  <a:srgbClr val="37474F"/>
                </a:solidFill>
              </a:rPr>
              <a:t>API relays Redis pub/sub to the browser over /api/ws</a:t>
            </a:r>
            <a:endParaRPr lang="en-US" sz="1400" dirty="0"/>
          </a:p>
        </p:txBody>
      </p:sp>
      <p:sp>
        <p:nvSpPr>
          <p:cNvPr id="25" name="Slide Number Placeholder 0"/>
          <p:cNvSpPr>
            <a:spLocks noGrp="1"/>
          </p:cNvSpPr>
          <p:nvPr>
            <p:ph type="sldNum" sz="quarter" idx="4294967295"/>
          </p:nvPr>
        </p:nvSpPr>
        <p:spPr>
          <a:xfrm>
            <a:off x="14794992" y="8549640"/>
            <a:ext cx="91440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3"/>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685800" y="365760"/>
            <a:ext cx="10972800" cy="365760"/>
          </a:xfrm>
          <a:prstGeom prst="rect">
            <a:avLst/>
          </a:prstGeom>
          <a:noFill/>
          <a:ln/>
        </p:spPr>
        <p:txBody>
          <a:bodyPr wrap="square" lIns="0" tIns="0" rIns="0" bIns="0" rtlCol="0"/>
          <a:lstStyle/>
          <a:p>
            <a:pPr indent="0" marL="0">
              <a:buNone/>
            </a:pPr>
            <a:r>
              <a:rPr lang="en-US" sz="1200" b="1" spc="200" kern="0" dirty="0">
                <a:solidFill>
                  <a:schemeClr val="accent3"/>
                </a:solidFill>
              </a:rPr>
              <a:t>03 — IMPLEMENTED MODULES · ABDUL RAHMAN</a:t>
            </a:r>
            <a:endParaRPr lang="en-US" sz="1200" dirty="0"/>
          </a:p>
        </p:txBody>
      </p:sp>
      <p:sp>
        <p:nvSpPr>
          <p:cNvPr id="3" name="Text 0"/>
          <p:cNvSpPr/>
          <p:nvPr>
            <p:ph idx="101" type="title" hasCustomPrompt="1"/>
          </p:nvPr>
        </p:nvSpPr>
        <p:spPr>
          <a:xfrm>
            <a:off x="685800" y="731520"/>
            <a:ext cx="14886432" cy="822960"/>
          </a:xfrm>
          <a:prstGeom prst="rect">
            <a:avLst/>
          </a:prstGeom>
          <a:noFill/>
          <a:ln/>
        </p:spPr>
        <p:txBody>
          <a:bodyPr wrap="square" lIns="0" tIns="0" rIns="0" bIns="0" rtlCol="0" anchor="t"/>
          <a:lstStyle/>
          <a:p>
            <a:pPr algn="l" indent="0" marL="0">
              <a:buNone/>
            </a:pPr>
            <a:r>
              <a:rPr lang="en-US" sz="3600" b="1" dirty="0">
                <a:solidFill>
                  <a:schemeClr val="tx1"/>
                </a:solidFill>
              </a:rPr>
              <a:t>Rahman — Live Demo Plan</a:t>
            </a:r>
            <a:endParaRPr lang="en-US" sz="3600" dirty="0"/>
          </a:p>
        </p:txBody>
      </p:sp>
      <p:sp>
        <p:nvSpPr>
          <p:cNvPr id="5" name="demo steps card r"/>
          <p:cNvSpPr/>
          <p:nvPr/>
        </p:nvSpPr>
        <p:spPr>
          <a:xfrm>
            <a:off x="685800" y="1828800"/>
            <a:ext cx="6035040" cy="6492240"/>
          </a:xfrm>
          <a:prstGeom prst="roundRect">
            <a:avLst>
              <a:gd name="adj" fmla="val 1212"/>
            </a:avLst>
          </a:prstGeom>
          <a:solidFill>
            <a:srgbClr val="FFFFFF"/>
          </a:solidFill>
          <a:ln w="9525">
            <a:solidFill>
              <a:srgbClr val="CFD8DC"/>
            </a:solidFill>
            <a:prstDash val="solid"/>
          </a:ln>
        </p:spPr>
      </p:sp>
      <p:sp>
        <p:nvSpPr>
          <p:cNvPr id="6" name="Text 3"/>
          <p:cNvSpPr txBox="1"/>
          <p:nvPr/>
        </p:nvSpPr>
        <p:spPr>
          <a:xfrm>
            <a:off x="1005840" y="2057400"/>
            <a:ext cx="4572000" cy="457200"/>
          </a:xfrm>
          <a:prstGeom prst="rect">
            <a:avLst/>
          </a:prstGeom>
          <a:noFill/>
          <a:ln/>
        </p:spPr>
        <p:txBody>
          <a:bodyPr wrap="square" lIns="0" tIns="0" rIns="0" bIns="0" rtlCol="0" anchor="t"/>
          <a:lstStyle/>
          <a:p>
            <a:pPr indent="0" marL="0">
              <a:buNone/>
            </a:pPr>
            <a:r>
              <a:rPr lang="en-US" sz="2100" b="1" dirty="0">
                <a:solidFill>
                  <a:srgbClr val="263238"/>
                </a:solidFill>
              </a:rPr>
              <a:t>Demo steps</a:t>
            </a:r>
            <a:endParaRPr lang="en-US" sz="2100" dirty="0"/>
          </a:p>
        </p:txBody>
      </p:sp>
      <p:sp>
        <p:nvSpPr>
          <p:cNvPr id="7" name="rstep 1"/>
          <p:cNvSpPr/>
          <p:nvPr/>
        </p:nvSpPr>
        <p:spPr>
          <a:xfrm>
            <a:off x="1005840" y="2697480"/>
            <a:ext cx="457200" cy="457200"/>
          </a:xfrm>
          <a:prstGeom prst="ellipse">
            <a:avLst/>
          </a:prstGeom>
          <a:solidFill>
            <a:srgbClr val="E09B00"/>
          </a:solidFill>
          <a:ln w="12700">
            <a:solidFill>
              <a:srgbClr val="E09B00"/>
            </a:solidFill>
            <a:prstDash val="solid"/>
          </a:ln>
        </p:spPr>
      </p:sp>
      <p:sp>
        <p:nvSpPr>
          <p:cNvPr id="8" name="Text 5"/>
          <p:cNvSpPr txBox="1"/>
          <p:nvPr/>
        </p:nvSpPr>
        <p:spPr>
          <a:xfrm>
            <a:off x="1005840" y="2697480"/>
            <a:ext cx="457200" cy="457200"/>
          </a:xfrm>
          <a:prstGeom prst="rect">
            <a:avLst/>
          </a:prstGeom>
          <a:noFill/>
          <a:ln/>
        </p:spPr>
        <p:txBody>
          <a:bodyPr wrap="square" lIns="0" tIns="0" rIns="0" bIns="0" rtlCol="0" anchor="ctr"/>
          <a:lstStyle/>
          <a:p>
            <a:pPr algn="ctr" indent="0" marL="0">
              <a:buNone/>
            </a:pPr>
            <a:r>
              <a:rPr lang="en-US" sz="1600" b="1" dirty="0">
                <a:solidFill>
                  <a:srgbClr val="263238"/>
                </a:solidFill>
              </a:rPr>
              <a:t>1</a:t>
            </a:r>
            <a:endParaRPr lang="en-US" sz="1600" dirty="0"/>
          </a:p>
        </p:txBody>
      </p:sp>
      <p:sp>
        <p:nvSpPr>
          <p:cNvPr id="9" name="Text 6"/>
          <p:cNvSpPr txBox="1"/>
          <p:nvPr/>
        </p:nvSpPr>
        <p:spPr>
          <a:xfrm>
            <a:off x="1645920" y="2660904"/>
            <a:ext cx="4846320" cy="365760"/>
          </a:xfrm>
          <a:prstGeom prst="rect">
            <a:avLst/>
          </a:prstGeom>
          <a:noFill/>
          <a:ln/>
        </p:spPr>
        <p:txBody>
          <a:bodyPr wrap="square" lIns="0" tIns="0" rIns="0" bIns="0" rtlCol="0" anchor="t"/>
          <a:lstStyle/>
          <a:p>
            <a:pPr indent="0" marL="0">
              <a:buNone/>
            </a:pPr>
            <a:r>
              <a:rPr lang="en-US" sz="1600" b="1" dirty="0">
                <a:solidFill>
                  <a:srgbClr val="263238"/>
                </a:solidFill>
              </a:rPr>
              <a:t>Log in at http://host/</a:t>
            </a:r>
            <a:endParaRPr lang="en-US" sz="1600" dirty="0"/>
          </a:p>
        </p:txBody>
      </p:sp>
      <p:sp>
        <p:nvSpPr>
          <p:cNvPr id="10" name="Text 7"/>
          <p:cNvSpPr txBox="1"/>
          <p:nvPr/>
        </p:nvSpPr>
        <p:spPr>
          <a:xfrm>
            <a:off x="1645920" y="3026664"/>
            <a:ext cx="4846320" cy="365760"/>
          </a:xfrm>
          <a:prstGeom prst="rect">
            <a:avLst/>
          </a:prstGeom>
          <a:noFill/>
          <a:ln/>
        </p:spPr>
        <p:txBody>
          <a:bodyPr wrap="square" lIns="0" tIns="0" rIns="0" bIns="0" rtlCol="0" anchor="t"/>
          <a:lstStyle/>
          <a:p>
            <a:pPr indent="0" marL="0">
              <a:buNone/>
            </a:pPr>
            <a:r>
              <a:rPr lang="en-US" sz="1400" dirty="0">
                <a:solidFill>
                  <a:srgbClr val="78909C"/>
                </a:solidFill>
              </a:rPr>
              <a:t>bcrypt basic auth; 401 with a wrong password</a:t>
            </a:r>
            <a:endParaRPr lang="en-US" sz="1400" dirty="0"/>
          </a:p>
        </p:txBody>
      </p:sp>
      <p:sp>
        <p:nvSpPr>
          <p:cNvPr id="11" name="rstep 2"/>
          <p:cNvSpPr/>
          <p:nvPr/>
        </p:nvSpPr>
        <p:spPr>
          <a:xfrm>
            <a:off x="1005840" y="3611880"/>
            <a:ext cx="457200" cy="457200"/>
          </a:xfrm>
          <a:prstGeom prst="ellipse">
            <a:avLst/>
          </a:prstGeom>
          <a:solidFill>
            <a:srgbClr val="E09B00"/>
          </a:solidFill>
          <a:ln w="12700">
            <a:solidFill>
              <a:srgbClr val="E09B00"/>
            </a:solidFill>
            <a:prstDash val="solid"/>
          </a:ln>
        </p:spPr>
      </p:sp>
      <p:sp>
        <p:nvSpPr>
          <p:cNvPr id="12" name="Text 9"/>
          <p:cNvSpPr txBox="1"/>
          <p:nvPr/>
        </p:nvSpPr>
        <p:spPr>
          <a:xfrm>
            <a:off x="1005840" y="3611880"/>
            <a:ext cx="457200" cy="457200"/>
          </a:xfrm>
          <a:prstGeom prst="rect">
            <a:avLst/>
          </a:prstGeom>
          <a:noFill/>
          <a:ln/>
        </p:spPr>
        <p:txBody>
          <a:bodyPr wrap="square" lIns="0" tIns="0" rIns="0" bIns="0" rtlCol="0" anchor="ctr"/>
          <a:lstStyle/>
          <a:p>
            <a:pPr algn="ctr" indent="0" marL="0">
              <a:buNone/>
            </a:pPr>
            <a:r>
              <a:rPr lang="en-US" sz="1600" b="1" dirty="0">
                <a:solidFill>
                  <a:srgbClr val="263238"/>
                </a:solidFill>
              </a:rPr>
              <a:t>2</a:t>
            </a:r>
            <a:endParaRPr lang="en-US" sz="1600" dirty="0"/>
          </a:p>
        </p:txBody>
      </p:sp>
      <p:sp>
        <p:nvSpPr>
          <p:cNvPr id="13" name="Text 10"/>
          <p:cNvSpPr txBox="1"/>
          <p:nvPr/>
        </p:nvSpPr>
        <p:spPr>
          <a:xfrm>
            <a:off x="1645920" y="3575304"/>
            <a:ext cx="4846320" cy="365760"/>
          </a:xfrm>
          <a:prstGeom prst="rect">
            <a:avLst/>
          </a:prstGeom>
          <a:noFill/>
          <a:ln/>
        </p:spPr>
        <p:txBody>
          <a:bodyPr wrap="square" lIns="0" tIns="0" rIns="0" bIns="0" rtlCol="0" anchor="t"/>
          <a:lstStyle/>
          <a:p>
            <a:pPr indent="0" marL="0">
              <a:buNone/>
            </a:pPr>
            <a:r>
              <a:rPr lang="en-US" sz="1600" b="1" dirty="0">
                <a:solidFill>
                  <a:srgbClr val="263238"/>
                </a:solidFill>
              </a:rPr>
              <a:t>Overview</a:t>
            </a:r>
            <a:endParaRPr lang="en-US" sz="1600" dirty="0"/>
          </a:p>
        </p:txBody>
      </p:sp>
      <p:sp>
        <p:nvSpPr>
          <p:cNvPr id="14" name="Text 11"/>
          <p:cNvSpPr txBox="1"/>
          <p:nvPr/>
        </p:nvSpPr>
        <p:spPr>
          <a:xfrm>
            <a:off x="1645920" y="3941064"/>
            <a:ext cx="4846320" cy="365760"/>
          </a:xfrm>
          <a:prstGeom prst="rect">
            <a:avLst/>
          </a:prstGeom>
          <a:noFill/>
          <a:ln/>
        </p:spPr>
        <p:txBody>
          <a:bodyPr wrap="square" lIns="0" tIns="0" rIns="0" bIns="0" rtlCol="0" anchor="t"/>
          <a:lstStyle/>
          <a:p>
            <a:pPr indent="0" marL="0">
              <a:buNone/>
            </a:pPr>
            <a:r>
              <a:rPr lang="en-US" sz="1400" dirty="0">
                <a:solidFill>
                  <a:srgbClr val="78909C"/>
                </a:solidFill>
              </a:rPr>
              <a:t>live feed updates over WebSocket during the attack</a:t>
            </a:r>
            <a:endParaRPr lang="en-US" sz="1400" dirty="0"/>
          </a:p>
        </p:txBody>
      </p:sp>
      <p:sp>
        <p:nvSpPr>
          <p:cNvPr id="15" name="rstep 3"/>
          <p:cNvSpPr/>
          <p:nvPr/>
        </p:nvSpPr>
        <p:spPr>
          <a:xfrm>
            <a:off x="1005840" y="4526280"/>
            <a:ext cx="457200" cy="457200"/>
          </a:xfrm>
          <a:prstGeom prst="ellipse">
            <a:avLst/>
          </a:prstGeom>
          <a:solidFill>
            <a:srgbClr val="E09B00"/>
          </a:solidFill>
          <a:ln w="12700">
            <a:solidFill>
              <a:srgbClr val="E09B00"/>
            </a:solidFill>
            <a:prstDash val="solid"/>
          </a:ln>
        </p:spPr>
      </p:sp>
      <p:sp>
        <p:nvSpPr>
          <p:cNvPr id="16" name="Text 13"/>
          <p:cNvSpPr txBox="1"/>
          <p:nvPr/>
        </p:nvSpPr>
        <p:spPr>
          <a:xfrm>
            <a:off x="1005840" y="4526280"/>
            <a:ext cx="457200" cy="457200"/>
          </a:xfrm>
          <a:prstGeom prst="rect">
            <a:avLst/>
          </a:prstGeom>
          <a:noFill/>
          <a:ln/>
        </p:spPr>
        <p:txBody>
          <a:bodyPr wrap="square" lIns="0" tIns="0" rIns="0" bIns="0" rtlCol="0" anchor="ctr"/>
          <a:lstStyle/>
          <a:p>
            <a:pPr algn="ctr" indent="0" marL="0">
              <a:buNone/>
            </a:pPr>
            <a:r>
              <a:rPr lang="en-US" sz="1600" b="1" dirty="0">
                <a:solidFill>
                  <a:srgbClr val="263238"/>
                </a:solidFill>
              </a:rPr>
              <a:t>3</a:t>
            </a:r>
            <a:endParaRPr lang="en-US" sz="1600" dirty="0"/>
          </a:p>
        </p:txBody>
      </p:sp>
      <p:sp>
        <p:nvSpPr>
          <p:cNvPr id="17" name="Text 14"/>
          <p:cNvSpPr txBox="1"/>
          <p:nvPr/>
        </p:nvSpPr>
        <p:spPr>
          <a:xfrm>
            <a:off x="1645920" y="4489704"/>
            <a:ext cx="4846320" cy="365760"/>
          </a:xfrm>
          <a:prstGeom prst="rect">
            <a:avLst/>
          </a:prstGeom>
          <a:noFill/>
          <a:ln/>
        </p:spPr>
        <p:txBody>
          <a:bodyPr wrap="square" lIns="0" tIns="0" rIns="0" bIns="0" rtlCol="0" anchor="t"/>
          <a:lstStyle/>
          <a:p>
            <a:pPr indent="0" marL="0">
              <a:buNone/>
            </a:pPr>
            <a:r>
              <a:rPr lang="en-US" sz="1600" b="1" dirty="0">
                <a:solidFill>
                  <a:srgbClr val="263238"/>
                </a:solidFill>
              </a:rPr>
              <a:t>Detect now → Detections</a:t>
            </a:r>
            <a:endParaRPr lang="en-US" sz="1600" dirty="0"/>
          </a:p>
        </p:txBody>
      </p:sp>
      <p:sp>
        <p:nvSpPr>
          <p:cNvPr id="18" name="Text 15"/>
          <p:cNvSpPr txBox="1"/>
          <p:nvPr/>
        </p:nvSpPr>
        <p:spPr>
          <a:xfrm>
            <a:off x="1645920" y="4855464"/>
            <a:ext cx="4846320" cy="365760"/>
          </a:xfrm>
          <a:prstGeom prst="rect">
            <a:avLst/>
          </a:prstGeom>
          <a:noFill/>
          <a:ln/>
        </p:spPr>
        <p:txBody>
          <a:bodyPr wrap="square" lIns="0" tIns="0" rIns="0" bIns="0" rtlCol="0" anchor="t"/>
          <a:lstStyle/>
          <a:p>
            <a:pPr indent="0" marL="0">
              <a:buNone/>
            </a:pPr>
            <a:r>
              <a:rPr lang="en-US" sz="1400" dirty="0">
                <a:solidFill>
                  <a:srgbClr val="78909C"/>
                </a:solidFill>
              </a:rPr>
              <a:t>classes with MITRE technique IDs</a:t>
            </a:r>
            <a:endParaRPr lang="en-US" sz="1400" dirty="0"/>
          </a:p>
        </p:txBody>
      </p:sp>
      <p:sp>
        <p:nvSpPr>
          <p:cNvPr id="19" name="rstep 4"/>
          <p:cNvSpPr/>
          <p:nvPr/>
        </p:nvSpPr>
        <p:spPr>
          <a:xfrm>
            <a:off x="1005840" y="5440680"/>
            <a:ext cx="457200" cy="457200"/>
          </a:xfrm>
          <a:prstGeom prst="ellipse">
            <a:avLst/>
          </a:prstGeom>
          <a:solidFill>
            <a:srgbClr val="E09B00"/>
          </a:solidFill>
          <a:ln w="12700">
            <a:solidFill>
              <a:srgbClr val="E09B00"/>
            </a:solidFill>
            <a:prstDash val="solid"/>
          </a:ln>
        </p:spPr>
      </p:sp>
      <p:sp>
        <p:nvSpPr>
          <p:cNvPr id="20" name="Text 17"/>
          <p:cNvSpPr txBox="1"/>
          <p:nvPr/>
        </p:nvSpPr>
        <p:spPr>
          <a:xfrm>
            <a:off x="1005840" y="5440680"/>
            <a:ext cx="457200" cy="457200"/>
          </a:xfrm>
          <a:prstGeom prst="rect">
            <a:avLst/>
          </a:prstGeom>
          <a:noFill/>
          <a:ln/>
        </p:spPr>
        <p:txBody>
          <a:bodyPr wrap="square" lIns="0" tIns="0" rIns="0" bIns="0" rtlCol="0" anchor="ctr"/>
          <a:lstStyle/>
          <a:p>
            <a:pPr algn="ctr" indent="0" marL="0">
              <a:buNone/>
            </a:pPr>
            <a:r>
              <a:rPr lang="en-US" sz="1600" b="1" dirty="0">
                <a:solidFill>
                  <a:srgbClr val="263238"/>
                </a:solidFill>
              </a:rPr>
              <a:t>4</a:t>
            </a:r>
            <a:endParaRPr lang="en-US" sz="1600" dirty="0"/>
          </a:p>
        </p:txBody>
      </p:sp>
      <p:sp>
        <p:nvSpPr>
          <p:cNvPr id="21" name="Text 18"/>
          <p:cNvSpPr txBox="1"/>
          <p:nvPr/>
        </p:nvSpPr>
        <p:spPr>
          <a:xfrm>
            <a:off x="1645920" y="5404104"/>
            <a:ext cx="4846320" cy="365760"/>
          </a:xfrm>
          <a:prstGeom prst="rect">
            <a:avLst/>
          </a:prstGeom>
          <a:noFill/>
          <a:ln/>
        </p:spPr>
        <p:txBody>
          <a:bodyPr wrap="square" lIns="0" tIns="0" rIns="0" bIns="0" rtlCol="0" anchor="t"/>
          <a:lstStyle/>
          <a:p>
            <a:pPr indent="0" marL="0">
              <a:buNone/>
            </a:pPr>
            <a:r>
              <a:rPr lang="en-US" sz="1600" b="1" dirty="0">
                <a:solidFill>
                  <a:srgbClr val="263238"/>
                </a:solidFill>
              </a:rPr>
              <a:t>Attacker → session replay</a:t>
            </a:r>
            <a:endParaRPr lang="en-US" sz="1600" dirty="0"/>
          </a:p>
        </p:txBody>
      </p:sp>
      <p:sp>
        <p:nvSpPr>
          <p:cNvPr id="22" name="Text 19"/>
          <p:cNvSpPr txBox="1"/>
          <p:nvPr/>
        </p:nvSpPr>
        <p:spPr>
          <a:xfrm>
            <a:off x="1645920" y="5769864"/>
            <a:ext cx="4846320" cy="365760"/>
          </a:xfrm>
          <a:prstGeom prst="rect">
            <a:avLst/>
          </a:prstGeom>
          <a:noFill/>
          <a:ln/>
        </p:spPr>
        <p:txBody>
          <a:bodyPr wrap="square" lIns="0" tIns="0" rIns="0" bIns="0" rtlCol="0" anchor="t"/>
          <a:lstStyle/>
          <a:p>
            <a:pPr indent="0" marL="0">
              <a:buNone/>
            </a:pPr>
            <a:r>
              <a:rPr lang="en-US" sz="1400" dirty="0">
                <a:solidFill>
                  <a:srgbClr val="78909C"/>
                </a:solidFill>
              </a:rPr>
              <a:t>input vs output, step by step</a:t>
            </a:r>
            <a:endParaRPr lang="en-US" sz="1400" dirty="0"/>
          </a:p>
        </p:txBody>
      </p:sp>
      <p:sp>
        <p:nvSpPr>
          <p:cNvPr id="23" name="rstep 5"/>
          <p:cNvSpPr/>
          <p:nvPr/>
        </p:nvSpPr>
        <p:spPr>
          <a:xfrm>
            <a:off x="1005840" y="6355080"/>
            <a:ext cx="457200" cy="457200"/>
          </a:xfrm>
          <a:prstGeom prst="ellipse">
            <a:avLst/>
          </a:prstGeom>
          <a:solidFill>
            <a:srgbClr val="E09B00"/>
          </a:solidFill>
          <a:ln w="12700">
            <a:solidFill>
              <a:srgbClr val="E09B00"/>
            </a:solidFill>
            <a:prstDash val="solid"/>
          </a:ln>
        </p:spPr>
      </p:sp>
      <p:sp>
        <p:nvSpPr>
          <p:cNvPr id="24" name="Text 21"/>
          <p:cNvSpPr txBox="1"/>
          <p:nvPr/>
        </p:nvSpPr>
        <p:spPr>
          <a:xfrm>
            <a:off x="1005840" y="6355080"/>
            <a:ext cx="457200" cy="457200"/>
          </a:xfrm>
          <a:prstGeom prst="rect">
            <a:avLst/>
          </a:prstGeom>
          <a:noFill/>
          <a:ln/>
        </p:spPr>
        <p:txBody>
          <a:bodyPr wrap="square" lIns="0" tIns="0" rIns="0" bIns="0" rtlCol="0" anchor="ctr"/>
          <a:lstStyle/>
          <a:p>
            <a:pPr algn="ctr" indent="0" marL="0">
              <a:buNone/>
            </a:pPr>
            <a:r>
              <a:rPr lang="en-US" sz="1600" b="1" dirty="0">
                <a:solidFill>
                  <a:srgbClr val="263238"/>
                </a:solidFill>
              </a:rPr>
              <a:t>5</a:t>
            </a:r>
            <a:endParaRPr lang="en-US" sz="1600" dirty="0"/>
          </a:p>
        </p:txBody>
      </p:sp>
      <p:sp>
        <p:nvSpPr>
          <p:cNvPr id="25" name="Text 22"/>
          <p:cNvSpPr txBox="1"/>
          <p:nvPr/>
        </p:nvSpPr>
        <p:spPr>
          <a:xfrm>
            <a:off x="1645920" y="6318504"/>
            <a:ext cx="4846320" cy="365760"/>
          </a:xfrm>
          <a:prstGeom prst="rect">
            <a:avLst/>
          </a:prstGeom>
          <a:noFill/>
          <a:ln/>
        </p:spPr>
        <p:txBody>
          <a:bodyPr wrap="square" lIns="0" tIns="0" rIns="0" bIns="0" rtlCol="0" anchor="t"/>
          <a:lstStyle/>
          <a:p>
            <a:pPr indent="0" marL="0">
              <a:buNone/>
            </a:pPr>
            <a:r>
              <a:rPr lang="en-US" sz="1600" b="1" dirty="0">
                <a:solidFill>
                  <a:srgbClr val="263238"/>
                </a:solidFill>
              </a:rPr>
              <a:t>Upload on camera panel</a:t>
            </a:r>
            <a:endParaRPr lang="en-US" sz="1600" dirty="0"/>
          </a:p>
        </p:txBody>
      </p:sp>
      <p:sp>
        <p:nvSpPr>
          <p:cNvPr id="26" name="Text 23"/>
          <p:cNvSpPr txBox="1"/>
          <p:nvPr/>
        </p:nvSpPr>
        <p:spPr>
          <a:xfrm>
            <a:off x="1645920" y="6684264"/>
            <a:ext cx="4846320" cy="365760"/>
          </a:xfrm>
          <a:prstGeom prst="rect">
            <a:avLst/>
          </a:prstGeom>
          <a:noFill/>
          <a:ln/>
        </p:spPr>
        <p:txBody>
          <a:bodyPr wrap="square" lIns="0" tIns="0" rIns="0" bIns="0" rtlCol="0" anchor="t"/>
          <a:lstStyle/>
          <a:p>
            <a:pPr indent="0" marL="0">
              <a:buNone/>
            </a:pPr>
            <a:r>
              <a:rPr lang="en-US" sz="1400" dirty="0">
                <a:solidFill>
                  <a:srgbClr val="78909C"/>
                </a:solidFill>
              </a:rPr>
              <a:t>Malware page: SHA-256, quarantined, YARA</a:t>
            </a:r>
            <a:endParaRPr lang="en-US" sz="1400" dirty="0"/>
          </a:p>
        </p:txBody>
      </p:sp>
      <p:sp>
        <p:nvSpPr>
          <p:cNvPr id="27" name="rstep 6"/>
          <p:cNvSpPr/>
          <p:nvPr/>
        </p:nvSpPr>
        <p:spPr>
          <a:xfrm>
            <a:off x="1005840" y="7269480"/>
            <a:ext cx="457200" cy="457200"/>
          </a:xfrm>
          <a:prstGeom prst="ellipse">
            <a:avLst/>
          </a:prstGeom>
          <a:solidFill>
            <a:srgbClr val="E09B00"/>
          </a:solidFill>
          <a:ln w="12700">
            <a:solidFill>
              <a:srgbClr val="E09B00"/>
            </a:solidFill>
            <a:prstDash val="solid"/>
          </a:ln>
        </p:spPr>
      </p:sp>
      <p:sp>
        <p:nvSpPr>
          <p:cNvPr id="28" name="Text 25"/>
          <p:cNvSpPr txBox="1"/>
          <p:nvPr/>
        </p:nvSpPr>
        <p:spPr>
          <a:xfrm>
            <a:off x="1005840" y="7269480"/>
            <a:ext cx="457200" cy="457200"/>
          </a:xfrm>
          <a:prstGeom prst="rect">
            <a:avLst/>
          </a:prstGeom>
          <a:noFill/>
          <a:ln/>
        </p:spPr>
        <p:txBody>
          <a:bodyPr wrap="square" lIns="0" tIns="0" rIns="0" bIns="0" rtlCol="0" anchor="ctr"/>
          <a:lstStyle/>
          <a:p>
            <a:pPr algn="ctr" indent="0" marL="0">
              <a:buNone/>
            </a:pPr>
            <a:r>
              <a:rPr lang="en-US" sz="1600" b="1" dirty="0">
                <a:solidFill>
                  <a:srgbClr val="263238"/>
                </a:solidFill>
              </a:rPr>
              <a:t>6</a:t>
            </a:r>
            <a:endParaRPr lang="en-US" sz="1600" dirty="0"/>
          </a:p>
        </p:txBody>
      </p:sp>
      <p:sp>
        <p:nvSpPr>
          <p:cNvPr id="29" name="Text 26"/>
          <p:cNvSpPr txBox="1"/>
          <p:nvPr/>
        </p:nvSpPr>
        <p:spPr>
          <a:xfrm>
            <a:off x="1645920" y="7232904"/>
            <a:ext cx="4846320" cy="365760"/>
          </a:xfrm>
          <a:prstGeom prst="rect">
            <a:avLst/>
          </a:prstGeom>
          <a:noFill/>
          <a:ln/>
        </p:spPr>
        <p:txBody>
          <a:bodyPr wrap="square" lIns="0" tIns="0" rIns="0" bIns="0" rtlCol="0" anchor="t"/>
          <a:lstStyle/>
          <a:p>
            <a:pPr indent="0" marL="0">
              <a:buNone/>
            </a:pPr>
            <a:r>
              <a:rPr lang="en-US" sz="1600" b="1" dirty="0">
                <a:solidFill>
                  <a:srgbClr val="263238"/>
                </a:solidFill>
              </a:rPr>
              <a:t>Reports &amp; Alerts</a:t>
            </a:r>
            <a:endParaRPr lang="en-US" sz="1600" dirty="0"/>
          </a:p>
        </p:txBody>
      </p:sp>
      <p:sp>
        <p:nvSpPr>
          <p:cNvPr id="30" name="Text 27"/>
          <p:cNvSpPr txBox="1"/>
          <p:nvPr/>
        </p:nvSpPr>
        <p:spPr>
          <a:xfrm>
            <a:off x="1645920" y="7598664"/>
            <a:ext cx="4846320" cy="365760"/>
          </a:xfrm>
          <a:prstGeom prst="rect">
            <a:avLst/>
          </a:prstGeom>
          <a:noFill/>
          <a:ln/>
        </p:spPr>
        <p:txBody>
          <a:bodyPr wrap="square" lIns="0" tIns="0" rIns="0" bIns="0" rtlCol="0" anchor="t"/>
          <a:lstStyle/>
          <a:p>
            <a:pPr indent="0" marL="0">
              <a:buNone/>
            </a:pPr>
            <a:r>
              <a:rPr lang="en-US" sz="1400" dirty="0">
                <a:solidFill>
                  <a:srgbClr val="78909C"/>
                </a:solidFill>
              </a:rPr>
              <a:t>PDF report, STIX 2.1 bundle, alert log</a:t>
            </a:r>
            <a:endParaRPr lang="en-US" sz="1400" dirty="0"/>
          </a:p>
        </p:txBody>
      </p:sp>
      <p:pic>
        <p:nvPicPr>
          <p:cNvPr id="31" name="Threat overview" descr="/tmp/claude-0/-home-claude/20c42fea-0b24-5b6e-95a5-e2a8cb74a1e4/scratchpad/shots/overview.png">    </p:cNvPr>
          <p:cNvPicPr>
            <a:picLocks noChangeAspect="1"/>
          </p:cNvPicPr>
          <p:nvPr/>
        </p:nvPicPr>
        <p:blipFill>
          <a:blip r:embed="rId1"/>
          <a:stretch>
            <a:fillRect/>
          </a:stretch>
        </p:blipFill>
        <p:spPr>
          <a:xfrm>
            <a:off x="7095744" y="1828800"/>
            <a:ext cx="3950208" cy="2743200"/>
          </a:xfrm>
          <a:prstGeom prst="rect">
            <a:avLst/>
          </a:prstGeom>
        </p:spPr>
      </p:pic>
      <p:sp>
        <p:nvSpPr>
          <p:cNvPr id="32" name="Threat overview frame"/>
          <p:cNvSpPr/>
          <p:nvPr/>
        </p:nvSpPr>
        <p:spPr>
          <a:xfrm>
            <a:off x="7095744" y="1828800"/>
            <a:ext cx="3950208" cy="2743200"/>
          </a:xfrm>
          <a:prstGeom prst="rect">
            <a:avLst/>
          </a:prstGeom>
          <a:ln w="9525">
            <a:solidFill>
              <a:srgbClr val="CFD8DC"/>
            </a:solidFill>
            <a:prstDash val="solid"/>
          </a:ln>
        </p:spPr>
      </p:sp>
      <p:sp>
        <p:nvSpPr>
          <p:cNvPr id="33" name="Text 29"/>
          <p:cNvSpPr txBox="1"/>
          <p:nvPr/>
        </p:nvSpPr>
        <p:spPr>
          <a:xfrm>
            <a:off x="6995160" y="4617720"/>
            <a:ext cx="4151376" cy="274320"/>
          </a:xfrm>
          <a:prstGeom prst="rect">
            <a:avLst/>
          </a:prstGeom>
          <a:noFill/>
          <a:ln/>
        </p:spPr>
        <p:txBody>
          <a:bodyPr wrap="square" lIns="0" tIns="0" rIns="0" bIns="0" rtlCol="0" anchor="t"/>
          <a:lstStyle/>
          <a:p>
            <a:pPr algn="ctr" indent="0" marL="0">
              <a:buNone/>
            </a:pPr>
            <a:r>
              <a:rPr lang="en-US" sz="1200" i="1" dirty="0">
                <a:solidFill>
                  <a:srgbClr val="78909C"/>
                </a:solidFill>
              </a:rPr>
              <a:t>Threat overview</a:t>
            </a:r>
            <a:endParaRPr lang="en-US" sz="1200" dirty="0"/>
          </a:p>
        </p:txBody>
      </p:sp>
      <p:pic>
        <p:nvPicPr>
          <p:cNvPr id="34" name="Detections + MITRE ranking" descr="/tmp/claude-0/-home-claude/20c42fea-0b24-5b6e-95a5-e2a8cb74a1e4/scratchpad/shots/detections.png">    </p:cNvPr>
          <p:cNvPicPr>
            <a:picLocks noChangeAspect="1"/>
          </p:cNvPicPr>
          <p:nvPr/>
        </p:nvPicPr>
        <p:blipFill>
          <a:blip r:embed="rId2"/>
          <a:stretch>
            <a:fillRect/>
          </a:stretch>
        </p:blipFill>
        <p:spPr>
          <a:xfrm>
            <a:off x="11521440" y="1828800"/>
            <a:ext cx="3950208" cy="2743200"/>
          </a:xfrm>
          <a:prstGeom prst="rect">
            <a:avLst/>
          </a:prstGeom>
        </p:spPr>
      </p:pic>
      <p:sp>
        <p:nvSpPr>
          <p:cNvPr id="35" name="Detections + MITRE ranking frame"/>
          <p:cNvSpPr/>
          <p:nvPr/>
        </p:nvSpPr>
        <p:spPr>
          <a:xfrm>
            <a:off x="11521440" y="1828800"/>
            <a:ext cx="3950208" cy="2743200"/>
          </a:xfrm>
          <a:prstGeom prst="rect">
            <a:avLst/>
          </a:prstGeom>
          <a:ln w="9525">
            <a:solidFill>
              <a:srgbClr val="CFD8DC"/>
            </a:solidFill>
            <a:prstDash val="solid"/>
          </a:ln>
        </p:spPr>
      </p:sp>
      <p:sp>
        <p:nvSpPr>
          <p:cNvPr id="36" name="Text 31"/>
          <p:cNvSpPr txBox="1"/>
          <p:nvPr/>
        </p:nvSpPr>
        <p:spPr>
          <a:xfrm>
            <a:off x="11420856" y="4617720"/>
            <a:ext cx="4151376" cy="274320"/>
          </a:xfrm>
          <a:prstGeom prst="rect">
            <a:avLst/>
          </a:prstGeom>
          <a:noFill/>
          <a:ln/>
        </p:spPr>
        <p:txBody>
          <a:bodyPr wrap="square" lIns="0" tIns="0" rIns="0" bIns="0" rtlCol="0" anchor="t"/>
          <a:lstStyle/>
          <a:p>
            <a:pPr algn="ctr" indent="0" marL="0">
              <a:buNone/>
            </a:pPr>
            <a:r>
              <a:rPr lang="en-US" sz="1200" i="1" dirty="0">
                <a:solidFill>
                  <a:srgbClr val="78909C"/>
                </a:solidFill>
              </a:rPr>
              <a:t>Detections + MITRE ranking</a:t>
            </a:r>
            <a:endParaRPr lang="en-US" sz="1200" dirty="0"/>
          </a:p>
        </p:txBody>
      </p:sp>
      <p:pic>
        <p:nvPicPr>
          <p:cNvPr id="37" name="Session replay" descr="/tmp/claude-0/-home-claude/20c42fea-0b24-5b6e-95a5-e2a8cb74a1e4/scratchpad/shots/session.png">    </p:cNvPr>
          <p:cNvPicPr>
            <a:picLocks noChangeAspect="1"/>
          </p:cNvPicPr>
          <p:nvPr/>
        </p:nvPicPr>
        <p:blipFill>
          <a:blip r:embed="rId3"/>
          <a:stretch>
            <a:fillRect/>
          </a:stretch>
        </p:blipFill>
        <p:spPr>
          <a:xfrm>
            <a:off x="7095744" y="5212080"/>
            <a:ext cx="3950208" cy="2743200"/>
          </a:xfrm>
          <a:prstGeom prst="rect">
            <a:avLst/>
          </a:prstGeom>
        </p:spPr>
      </p:pic>
      <p:sp>
        <p:nvSpPr>
          <p:cNvPr id="38" name="Session replay frame"/>
          <p:cNvSpPr/>
          <p:nvPr/>
        </p:nvSpPr>
        <p:spPr>
          <a:xfrm>
            <a:off x="7095744" y="5212080"/>
            <a:ext cx="3950208" cy="2743200"/>
          </a:xfrm>
          <a:prstGeom prst="rect">
            <a:avLst/>
          </a:prstGeom>
          <a:ln w="9525">
            <a:solidFill>
              <a:srgbClr val="CFD8DC"/>
            </a:solidFill>
            <a:prstDash val="solid"/>
          </a:ln>
        </p:spPr>
      </p:sp>
      <p:sp>
        <p:nvSpPr>
          <p:cNvPr id="39" name="Text 33"/>
          <p:cNvSpPr txBox="1"/>
          <p:nvPr/>
        </p:nvSpPr>
        <p:spPr>
          <a:xfrm>
            <a:off x="6995160" y="8001000"/>
            <a:ext cx="4151376" cy="274320"/>
          </a:xfrm>
          <a:prstGeom prst="rect">
            <a:avLst/>
          </a:prstGeom>
          <a:noFill/>
          <a:ln/>
        </p:spPr>
        <p:txBody>
          <a:bodyPr wrap="square" lIns="0" tIns="0" rIns="0" bIns="0" rtlCol="0" anchor="t"/>
          <a:lstStyle/>
          <a:p>
            <a:pPr algn="ctr" indent="0" marL="0">
              <a:buNone/>
            </a:pPr>
            <a:r>
              <a:rPr lang="en-US" sz="1200" i="1" dirty="0">
                <a:solidFill>
                  <a:srgbClr val="78909C"/>
                </a:solidFill>
              </a:rPr>
              <a:t>Session replay</a:t>
            </a:r>
            <a:endParaRPr lang="en-US" sz="1200" dirty="0"/>
          </a:p>
        </p:txBody>
      </p:sp>
      <p:pic>
        <p:nvPicPr>
          <p:cNvPr id="40" name="Reports, exports, alert log" descr="/tmp/claude-0/-home-claude/20c42fea-0b24-5b6e-95a5-e2a8cb74a1e4/scratchpad/shots/reports.png">    </p:cNvPr>
          <p:cNvPicPr>
            <a:picLocks noChangeAspect="1"/>
          </p:cNvPicPr>
          <p:nvPr/>
        </p:nvPicPr>
        <p:blipFill>
          <a:blip r:embed="rId4"/>
          <a:stretch>
            <a:fillRect/>
          </a:stretch>
        </p:blipFill>
        <p:spPr>
          <a:xfrm>
            <a:off x="11521440" y="5212080"/>
            <a:ext cx="3950208" cy="2743200"/>
          </a:xfrm>
          <a:prstGeom prst="rect">
            <a:avLst/>
          </a:prstGeom>
        </p:spPr>
      </p:pic>
      <p:sp>
        <p:nvSpPr>
          <p:cNvPr id="41" name="Reports, exports, alert log frame"/>
          <p:cNvSpPr/>
          <p:nvPr/>
        </p:nvSpPr>
        <p:spPr>
          <a:xfrm>
            <a:off x="11521440" y="5212080"/>
            <a:ext cx="3950208" cy="2743200"/>
          </a:xfrm>
          <a:prstGeom prst="rect">
            <a:avLst/>
          </a:prstGeom>
          <a:ln w="9525">
            <a:solidFill>
              <a:srgbClr val="CFD8DC"/>
            </a:solidFill>
            <a:prstDash val="solid"/>
          </a:ln>
        </p:spPr>
      </p:sp>
      <p:sp>
        <p:nvSpPr>
          <p:cNvPr id="42" name="Text 35"/>
          <p:cNvSpPr txBox="1"/>
          <p:nvPr/>
        </p:nvSpPr>
        <p:spPr>
          <a:xfrm>
            <a:off x="11420856" y="8001000"/>
            <a:ext cx="4151376" cy="274320"/>
          </a:xfrm>
          <a:prstGeom prst="rect">
            <a:avLst/>
          </a:prstGeom>
          <a:noFill/>
          <a:ln/>
        </p:spPr>
        <p:txBody>
          <a:bodyPr wrap="square" lIns="0" tIns="0" rIns="0" bIns="0" rtlCol="0" anchor="t"/>
          <a:lstStyle/>
          <a:p>
            <a:pPr algn="ctr" indent="0" marL="0">
              <a:buNone/>
            </a:pPr>
            <a:r>
              <a:rPr lang="en-US" sz="1200" i="1" dirty="0">
                <a:solidFill>
                  <a:srgbClr val="78909C"/>
                </a:solidFill>
              </a:rPr>
              <a:t>Reports, exports, alert log</a:t>
            </a:r>
            <a:endParaRPr lang="en-US" sz="1200" dirty="0"/>
          </a:p>
        </p:txBody>
      </p:sp>
      <p:sp>
        <p:nvSpPr>
          <p:cNvPr id="25" name="Slide Number Placeholder 0"/>
          <p:cNvSpPr>
            <a:spLocks noGrp="1"/>
          </p:cNvSpPr>
          <p:nvPr>
            <p:ph type="sldNum" sz="quarter" idx="4294967295"/>
          </p:nvPr>
        </p:nvSpPr>
        <p:spPr>
          <a:xfrm>
            <a:off x="14794992" y="8549640"/>
            <a:ext cx="91440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3"/>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685800" y="2743200"/>
            <a:ext cx="5486400" cy="1371600"/>
          </a:xfrm>
          <a:prstGeom prst="rect">
            <a:avLst/>
          </a:prstGeom>
          <a:noFill/>
          <a:ln/>
        </p:spPr>
        <p:txBody>
          <a:bodyPr wrap="square" lIns="0" tIns="0" rIns="0" bIns="0" rtlCol="0"/>
          <a:lstStyle/>
          <a:p>
            <a:pPr indent="0" marL="0">
              <a:buNone/>
            </a:pPr>
            <a:r>
              <a:rPr lang="en-US" sz="8000" b="1" dirty="0">
                <a:solidFill>
                  <a:schemeClr val="accent2"/>
                </a:solidFill>
              </a:rPr>
              <a:t>04</a:t>
            </a:r>
            <a:endParaRPr lang="en-US" sz="8000" dirty="0"/>
          </a:p>
        </p:txBody>
      </p:sp>
      <p:sp>
        <p:nvSpPr>
          <p:cNvPr id="3" name="Text 0"/>
          <p:cNvSpPr/>
          <p:nvPr>
            <p:ph idx="101" type="title" hasCustomPrompt="1"/>
          </p:nvPr>
        </p:nvSpPr>
        <p:spPr>
          <a:xfrm>
            <a:off x="685800" y="4206240"/>
            <a:ext cx="12801600" cy="1097280"/>
          </a:xfrm>
          <a:prstGeom prst="rect">
            <a:avLst/>
          </a:prstGeom>
          <a:noFill/>
          <a:ln/>
        </p:spPr>
        <p:txBody>
          <a:bodyPr wrap="square" lIns="0" tIns="0" rIns="0" bIns="0" rtlCol="0"/>
          <a:lstStyle/>
          <a:p>
            <a:pPr algn="l" indent="0" marL="0">
              <a:buNone/>
            </a:pPr>
            <a:r>
              <a:rPr lang="en-US" sz="4800" b="1" dirty="0">
                <a:solidFill>
                  <a:schemeClr val="bg1"/>
                </a:solidFill>
              </a:rPr>
              <a:t>Testing Techniques</a:t>
            </a:r>
            <a:endParaRPr lang="en-US" sz="4800" dirty="0"/>
          </a:p>
        </p:txBody>
      </p:sp>
      <p:sp>
        <p:nvSpPr>
          <p:cNvPr id="4" name="Text 0"/>
          <p:cNvSpPr/>
          <p:nvPr>
            <p:ph idx="102" type="body" hasCustomPrompt="1"/>
          </p:nvPr>
        </p:nvSpPr>
        <p:spPr>
          <a:xfrm>
            <a:off x="685800" y="5349240"/>
            <a:ext cx="12801600" cy="731520"/>
          </a:xfrm>
          <a:prstGeom prst="rect">
            <a:avLst/>
          </a:prstGeom>
          <a:noFill/>
          <a:ln/>
        </p:spPr>
        <p:txBody>
          <a:bodyPr wrap="square" lIns="0" tIns="0" rIns="0" bIns="0" rtlCol="0"/>
          <a:lstStyle/>
          <a:p>
            <a:pPr indent="0" marL="0">
              <a:buNone/>
            </a:pPr>
            <a:r>
              <a:rPr lang="en-US" sz="2000" dirty="0">
                <a:solidFill>
                  <a:schemeClr val="accent6"/>
                </a:solidFill>
              </a:rPr>
              <a:t>What we tested, how, and why that technique fits</a:t>
            </a:r>
            <a:endParaRPr lang="en-US" sz="2000" dirty="0"/>
          </a:p>
        </p:txBody>
      </p:sp>
      <p:sp>
        <p:nvSpPr>
          <p:cNvPr id="25" name="Slide Number Placeholder 0"/>
          <p:cNvSpPr>
            <a:spLocks noGrp="1"/>
          </p:cNvSpPr>
          <p:nvPr>
            <p:ph type="sldNum" sz="quarter" idx="4294967295"/>
          </p:nvPr>
        </p:nvSpPr>
        <p:spPr>
          <a:xfrm>
            <a:off x="14794992" y="8549640"/>
            <a:ext cx="91440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3"/>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685800" y="365760"/>
            <a:ext cx="10972800" cy="365760"/>
          </a:xfrm>
          <a:prstGeom prst="rect">
            <a:avLst/>
          </a:prstGeom>
          <a:noFill/>
          <a:ln/>
        </p:spPr>
        <p:txBody>
          <a:bodyPr wrap="square" lIns="0" tIns="0" rIns="0" bIns="0" rtlCol="0"/>
          <a:lstStyle/>
          <a:p>
            <a:pPr indent="0" marL="0">
              <a:buNone/>
            </a:pPr>
            <a:r>
              <a:rPr lang="en-US" sz="1200" b="1" spc="200" kern="0" dirty="0">
                <a:solidFill>
                  <a:schemeClr val="accent3"/>
                </a:solidFill>
              </a:rPr>
              <a:t>04 — TESTING TECHNIQUES</a:t>
            </a:r>
            <a:endParaRPr lang="en-US" sz="1200" dirty="0"/>
          </a:p>
        </p:txBody>
      </p:sp>
      <p:sp>
        <p:nvSpPr>
          <p:cNvPr id="3" name="Text 0"/>
          <p:cNvSpPr/>
          <p:nvPr>
            <p:ph idx="101" type="title" hasCustomPrompt="1"/>
          </p:nvPr>
        </p:nvSpPr>
        <p:spPr>
          <a:xfrm>
            <a:off x="685800" y="731520"/>
            <a:ext cx="14886432" cy="822960"/>
          </a:xfrm>
          <a:prstGeom prst="rect">
            <a:avLst/>
          </a:prstGeom>
          <a:noFill/>
          <a:ln/>
        </p:spPr>
        <p:txBody>
          <a:bodyPr wrap="square" lIns="0" tIns="0" rIns="0" bIns="0" rtlCol="0" anchor="t"/>
          <a:lstStyle/>
          <a:p>
            <a:pPr algn="l" indent="0" marL="0">
              <a:buNone/>
            </a:pPr>
            <a:r>
              <a:rPr lang="en-US" sz="3600" b="1" dirty="0">
                <a:solidFill>
                  <a:schemeClr val="tx1"/>
                </a:solidFill>
              </a:rPr>
              <a:t>Testing Techniques and Why We Chose Them</a:t>
            </a:r>
            <a:endParaRPr lang="en-US" sz="3600" dirty="0"/>
          </a:p>
        </p:txBody>
      </p:sp>
      <p:sp>
        <p:nvSpPr>
          <p:cNvPr id="5" name="Unit testing"/>
          <p:cNvSpPr/>
          <p:nvPr/>
        </p:nvSpPr>
        <p:spPr>
          <a:xfrm>
            <a:off x="685800" y="1828800"/>
            <a:ext cx="3515868" cy="6492240"/>
          </a:xfrm>
          <a:prstGeom prst="roundRect">
            <a:avLst>
              <a:gd name="adj" fmla="val 2081"/>
            </a:avLst>
          </a:prstGeom>
          <a:solidFill>
            <a:srgbClr val="FFFFFF"/>
          </a:solidFill>
          <a:ln w="9525">
            <a:solidFill>
              <a:srgbClr val="CFD8DC"/>
            </a:solidFill>
            <a:prstDash val="solid"/>
          </a:ln>
        </p:spPr>
      </p:sp>
      <p:sp>
        <p:nvSpPr>
          <p:cNvPr id="6" name="Unit testing circle"/>
          <p:cNvSpPr/>
          <p:nvPr/>
        </p:nvSpPr>
        <p:spPr>
          <a:xfrm>
            <a:off x="1005840" y="2148840"/>
            <a:ext cx="731520" cy="731520"/>
          </a:xfrm>
          <a:prstGeom prst="ellipse">
            <a:avLst/>
          </a:prstGeom>
          <a:solidFill>
            <a:srgbClr val="455A64"/>
          </a:solidFill>
          <a:ln w="12700">
            <a:solidFill>
              <a:srgbClr val="455A64"/>
            </a:solidFill>
            <a:prstDash val="solid"/>
          </a:ln>
        </p:spPr>
      </p:sp>
      <p:pic>
        <p:nvPicPr>
          <p:cNvPr id="7" name="Unit testing icon" descr="preencoded.png">    </p:cNvPr>
          <p:cNvPicPr>
            <a:picLocks noChangeAspect="1"/>
          </p:cNvPicPr>
          <p:nvPr/>
        </p:nvPicPr>
        <p:blipFill>
          <a:blip r:embed="rId1"/>
          <a:stretch>
            <a:fillRect/>
          </a:stretch>
        </p:blipFill>
        <p:spPr>
          <a:xfrm>
            <a:off x="1203350" y="2346350"/>
            <a:ext cx="336499" cy="336499"/>
          </a:xfrm>
          <a:prstGeom prst="rect">
            <a:avLst/>
          </a:prstGeom>
        </p:spPr>
      </p:pic>
      <p:sp>
        <p:nvSpPr>
          <p:cNvPr id="8" name="Text 4"/>
          <p:cNvSpPr txBox="1"/>
          <p:nvPr/>
        </p:nvSpPr>
        <p:spPr>
          <a:xfrm>
            <a:off x="1005840" y="3063240"/>
            <a:ext cx="2875788" cy="457200"/>
          </a:xfrm>
          <a:prstGeom prst="rect">
            <a:avLst/>
          </a:prstGeom>
          <a:noFill/>
          <a:ln/>
        </p:spPr>
        <p:txBody>
          <a:bodyPr wrap="square" lIns="0" tIns="0" rIns="0" bIns="0" rtlCol="0" anchor="t"/>
          <a:lstStyle/>
          <a:p>
            <a:pPr indent="0" marL="0">
              <a:buNone/>
            </a:pPr>
            <a:r>
              <a:rPr lang="en-US" sz="2100" b="1" dirty="0">
                <a:solidFill>
                  <a:srgbClr val="263238"/>
                </a:solidFill>
              </a:rPr>
              <a:t>Unit testing</a:t>
            </a:r>
            <a:endParaRPr lang="en-US" sz="2100" dirty="0"/>
          </a:p>
        </p:txBody>
      </p:sp>
      <p:sp>
        <p:nvSpPr>
          <p:cNvPr id="9" name="Text 5"/>
          <p:cNvSpPr txBox="1"/>
          <p:nvPr/>
        </p:nvSpPr>
        <p:spPr>
          <a:xfrm>
            <a:off x="1005840" y="3520440"/>
            <a:ext cx="2875788" cy="365760"/>
          </a:xfrm>
          <a:prstGeom prst="rect">
            <a:avLst/>
          </a:prstGeom>
          <a:noFill/>
          <a:ln/>
        </p:spPr>
        <p:txBody>
          <a:bodyPr wrap="square" lIns="0" tIns="0" rIns="0" bIns="0" rtlCol="0" anchor="t"/>
          <a:lstStyle/>
          <a:p>
            <a:pPr indent="0" marL="0">
              <a:buNone/>
            </a:pPr>
            <a:r>
              <a:rPr lang="en-US" sz="1400" b="1" dirty="0">
                <a:solidFill>
                  <a:srgbClr val="E09B00"/>
                </a:solidFill>
              </a:rPr>
              <a:t>White-box · pytest</a:t>
            </a:r>
            <a:endParaRPr lang="en-US" sz="1400" dirty="0"/>
          </a:p>
        </p:txBody>
      </p:sp>
      <p:sp>
        <p:nvSpPr>
          <p:cNvPr id="10" name="Text 6"/>
          <p:cNvSpPr txBox="1"/>
          <p:nvPr/>
        </p:nvSpPr>
        <p:spPr>
          <a:xfrm>
            <a:off x="1005840" y="4069080"/>
            <a:ext cx="2875788" cy="1920240"/>
          </a:xfrm>
          <a:prstGeom prst="rect">
            <a:avLst/>
          </a:prstGeom>
          <a:noFill/>
          <a:ln/>
        </p:spPr>
        <p:txBody>
          <a:bodyPr wrap="square" lIns="0" tIns="0" rIns="0" bIns="0" rtlCol="0" anchor="t"/>
          <a:lstStyle/>
          <a:p>
            <a:pPr indent="0" marL="0">
              <a:buNone/>
            </a:pPr>
            <a:r>
              <a:rPr lang="en-US" sz="1500" b="1" dirty="0">
                <a:solidFill>
                  <a:srgbClr val="263238"/>
                </a:solidFill>
              </a:rPr>
              <a:t>What</a:t>
            </a:r>
            <a:endParaRPr lang="en-US" sz="1500" dirty="0"/>
          </a:p>
          <a:p>
            <a:pPr indent="0" marL="0">
              <a:buNone/>
            </a:pPr>
            <a:r>
              <a:rPr lang="en-US" sz="1500" dirty="0">
                <a:solidFill>
                  <a:srgbClr val="37474F"/>
                </a:solidFill>
              </a:rPr>
              <a:t>Parsers (MQTT, RTSP Digest, Telnet IAC), fake shell, credential profiles, MITRE mapping, YARA, STIX.</a:t>
            </a:r>
            <a:endParaRPr lang="en-US" sz="1500" dirty="0"/>
          </a:p>
        </p:txBody>
      </p:sp>
      <p:sp>
        <p:nvSpPr>
          <p:cNvPr id="11" name="Text 7"/>
          <p:cNvSpPr txBox="1"/>
          <p:nvPr/>
        </p:nvSpPr>
        <p:spPr>
          <a:xfrm>
            <a:off x="1005840" y="6035040"/>
            <a:ext cx="2875788" cy="2103120"/>
          </a:xfrm>
          <a:prstGeom prst="rect">
            <a:avLst/>
          </a:prstGeom>
          <a:noFill/>
          <a:ln/>
        </p:spPr>
        <p:txBody>
          <a:bodyPr wrap="square" lIns="0" tIns="0" rIns="0" bIns="0" rtlCol="0" anchor="t"/>
          <a:lstStyle/>
          <a:p>
            <a:pPr indent="0" marL="0">
              <a:buNone/>
            </a:pPr>
            <a:r>
              <a:rPr lang="en-US" sz="1500" b="1" dirty="0">
                <a:solidFill>
                  <a:srgbClr val="263238"/>
                </a:solidFill>
              </a:rPr>
              <a:t>Why</a:t>
            </a:r>
            <a:endParaRPr lang="en-US" sz="1500" dirty="0"/>
          </a:p>
          <a:p>
            <a:pPr indent="0" marL="0">
              <a:buNone/>
            </a:pPr>
            <a:r>
              <a:rPr lang="en-US" sz="1500" dirty="0">
                <a:solidFill>
                  <a:srgbClr val="37474F"/>
                </a:solidFill>
              </a:rPr>
              <a:t>Protocol parsing and security checks are exact rules — small, fast tests catch regressions on every change.</a:t>
            </a:r>
            <a:endParaRPr lang="en-US" sz="1500" dirty="0"/>
          </a:p>
        </p:txBody>
      </p:sp>
      <p:sp>
        <p:nvSpPr>
          <p:cNvPr id="12" name="Functional testing"/>
          <p:cNvSpPr/>
          <p:nvPr/>
        </p:nvSpPr>
        <p:spPr>
          <a:xfrm>
            <a:off x="4475988" y="1828800"/>
            <a:ext cx="3515868" cy="6492240"/>
          </a:xfrm>
          <a:prstGeom prst="roundRect">
            <a:avLst>
              <a:gd name="adj" fmla="val 2081"/>
            </a:avLst>
          </a:prstGeom>
          <a:solidFill>
            <a:srgbClr val="FFFFFF"/>
          </a:solidFill>
          <a:ln w="9525">
            <a:solidFill>
              <a:srgbClr val="CFD8DC"/>
            </a:solidFill>
            <a:prstDash val="solid"/>
          </a:ln>
        </p:spPr>
      </p:sp>
      <p:sp>
        <p:nvSpPr>
          <p:cNvPr id="13" name="Functional testing circle"/>
          <p:cNvSpPr/>
          <p:nvPr/>
        </p:nvSpPr>
        <p:spPr>
          <a:xfrm>
            <a:off x="4796028" y="2148840"/>
            <a:ext cx="731520" cy="731520"/>
          </a:xfrm>
          <a:prstGeom prst="ellipse">
            <a:avLst/>
          </a:prstGeom>
          <a:solidFill>
            <a:srgbClr val="455A64"/>
          </a:solidFill>
          <a:ln w="12700">
            <a:solidFill>
              <a:srgbClr val="455A64"/>
            </a:solidFill>
            <a:prstDash val="solid"/>
          </a:ln>
        </p:spPr>
      </p:sp>
      <p:pic>
        <p:nvPicPr>
          <p:cNvPr id="14" name="Functional testing icon" descr="preencoded.png">    </p:cNvPr>
          <p:cNvPicPr>
            <a:picLocks noChangeAspect="1"/>
          </p:cNvPicPr>
          <p:nvPr/>
        </p:nvPicPr>
        <p:blipFill>
          <a:blip r:embed="rId2"/>
          <a:stretch>
            <a:fillRect/>
          </a:stretch>
        </p:blipFill>
        <p:spPr>
          <a:xfrm>
            <a:off x="4993538" y="2346350"/>
            <a:ext cx="336499" cy="336499"/>
          </a:xfrm>
          <a:prstGeom prst="rect">
            <a:avLst/>
          </a:prstGeom>
        </p:spPr>
      </p:pic>
      <p:sp>
        <p:nvSpPr>
          <p:cNvPr id="15" name="Text 10"/>
          <p:cNvSpPr txBox="1"/>
          <p:nvPr/>
        </p:nvSpPr>
        <p:spPr>
          <a:xfrm>
            <a:off x="4796028" y="3063240"/>
            <a:ext cx="2875788" cy="457200"/>
          </a:xfrm>
          <a:prstGeom prst="rect">
            <a:avLst/>
          </a:prstGeom>
          <a:noFill/>
          <a:ln/>
        </p:spPr>
        <p:txBody>
          <a:bodyPr wrap="square" lIns="0" tIns="0" rIns="0" bIns="0" rtlCol="0" anchor="t"/>
          <a:lstStyle/>
          <a:p>
            <a:pPr indent="0" marL="0">
              <a:buNone/>
            </a:pPr>
            <a:r>
              <a:rPr lang="en-US" sz="2100" b="1" dirty="0">
                <a:solidFill>
                  <a:srgbClr val="263238"/>
                </a:solidFill>
              </a:rPr>
              <a:t>Functional testing</a:t>
            </a:r>
            <a:endParaRPr lang="en-US" sz="2100" dirty="0"/>
          </a:p>
        </p:txBody>
      </p:sp>
      <p:sp>
        <p:nvSpPr>
          <p:cNvPr id="16" name="Text 11"/>
          <p:cNvSpPr txBox="1"/>
          <p:nvPr/>
        </p:nvSpPr>
        <p:spPr>
          <a:xfrm>
            <a:off x="4796028" y="3520440"/>
            <a:ext cx="2875788" cy="365760"/>
          </a:xfrm>
          <a:prstGeom prst="rect">
            <a:avLst/>
          </a:prstGeom>
          <a:noFill/>
          <a:ln/>
        </p:spPr>
        <p:txBody>
          <a:bodyPr wrap="square" lIns="0" tIns="0" rIns="0" bIns="0" rtlCol="0" anchor="t"/>
          <a:lstStyle/>
          <a:p>
            <a:pPr indent="0" marL="0">
              <a:buNone/>
            </a:pPr>
            <a:r>
              <a:rPr lang="en-US" sz="1400" b="1" dirty="0">
                <a:solidFill>
                  <a:srgbClr val="E09B00"/>
                </a:solidFill>
              </a:rPr>
              <a:t>Black-box</a:t>
            </a:r>
            <a:endParaRPr lang="en-US" sz="1400" dirty="0"/>
          </a:p>
        </p:txBody>
      </p:sp>
      <p:sp>
        <p:nvSpPr>
          <p:cNvPr id="17" name="Text 12"/>
          <p:cNvSpPr txBox="1"/>
          <p:nvPr/>
        </p:nvSpPr>
        <p:spPr>
          <a:xfrm>
            <a:off x="4796028" y="4069080"/>
            <a:ext cx="2875788" cy="1920240"/>
          </a:xfrm>
          <a:prstGeom prst="rect">
            <a:avLst/>
          </a:prstGeom>
          <a:noFill/>
          <a:ln/>
        </p:spPr>
        <p:txBody>
          <a:bodyPr wrap="square" lIns="0" tIns="0" rIns="0" bIns="0" rtlCol="0" anchor="t"/>
          <a:lstStyle/>
          <a:p>
            <a:pPr indent="0" marL="0">
              <a:buNone/>
            </a:pPr>
            <a:r>
              <a:rPr lang="en-US" sz="1500" b="1" dirty="0">
                <a:solidFill>
                  <a:srgbClr val="263238"/>
                </a:solidFill>
              </a:rPr>
              <a:t>What</a:t>
            </a:r>
            <a:endParaRPr lang="en-US" sz="1500" dirty="0"/>
          </a:p>
          <a:p>
            <a:pPr indent="0" marL="0">
              <a:buNone/>
            </a:pPr>
            <a:r>
              <a:rPr lang="en-US" sz="1500" dirty="0">
                <a:solidFill>
                  <a:srgbClr val="37474F"/>
                </a:solidFill>
              </a:rPr>
              <a:t>Each honeypot as an attacker sees it; engine classifications; every dashboard page.</a:t>
            </a:r>
            <a:endParaRPr lang="en-US" sz="1500" dirty="0"/>
          </a:p>
        </p:txBody>
      </p:sp>
      <p:sp>
        <p:nvSpPr>
          <p:cNvPr id="18" name="Text 13"/>
          <p:cNvSpPr txBox="1"/>
          <p:nvPr/>
        </p:nvSpPr>
        <p:spPr>
          <a:xfrm>
            <a:off x="4796028" y="6035040"/>
            <a:ext cx="2875788" cy="2103120"/>
          </a:xfrm>
          <a:prstGeom prst="rect">
            <a:avLst/>
          </a:prstGeom>
          <a:noFill/>
          <a:ln/>
        </p:spPr>
        <p:txBody>
          <a:bodyPr wrap="square" lIns="0" tIns="0" rIns="0" bIns="0" rtlCol="0" anchor="t"/>
          <a:lstStyle/>
          <a:p>
            <a:pPr indent="0" marL="0">
              <a:buNone/>
            </a:pPr>
            <a:r>
              <a:rPr lang="en-US" sz="1500" b="1" dirty="0">
                <a:solidFill>
                  <a:srgbClr val="263238"/>
                </a:solidFill>
              </a:rPr>
              <a:t>Why</a:t>
            </a:r>
            <a:endParaRPr lang="en-US" sz="1500" dirty="0"/>
          </a:p>
          <a:p>
            <a:pPr indent="0" marL="0">
              <a:buNone/>
            </a:pPr>
            <a:r>
              <a:rPr lang="en-US" sz="1500" dirty="0">
                <a:solidFill>
                  <a:srgbClr val="37474F"/>
                </a:solidFill>
              </a:rPr>
              <a:t>The attacker never sees our code, so features are judged only by inputs and outputs.</a:t>
            </a:r>
            <a:endParaRPr lang="en-US" sz="1500" dirty="0"/>
          </a:p>
        </p:txBody>
      </p:sp>
      <p:sp>
        <p:nvSpPr>
          <p:cNvPr id="19" name="Business rules"/>
          <p:cNvSpPr/>
          <p:nvPr/>
        </p:nvSpPr>
        <p:spPr>
          <a:xfrm>
            <a:off x="8266176" y="1828800"/>
            <a:ext cx="3515868" cy="6492240"/>
          </a:xfrm>
          <a:prstGeom prst="roundRect">
            <a:avLst>
              <a:gd name="adj" fmla="val 2081"/>
            </a:avLst>
          </a:prstGeom>
          <a:solidFill>
            <a:srgbClr val="FFFFFF"/>
          </a:solidFill>
          <a:ln w="9525">
            <a:solidFill>
              <a:srgbClr val="CFD8DC"/>
            </a:solidFill>
            <a:prstDash val="solid"/>
          </a:ln>
        </p:spPr>
      </p:sp>
      <p:sp>
        <p:nvSpPr>
          <p:cNvPr id="20" name="Business rules circle"/>
          <p:cNvSpPr/>
          <p:nvPr/>
        </p:nvSpPr>
        <p:spPr>
          <a:xfrm>
            <a:off x="8586216" y="2148840"/>
            <a:ext cx="731520" cy="731520"/>
          </a:xfrm>
          <a:prstGeom prst="ellipse">
            <a:avLst/>
          </a:prstGeom>
          <a:solidFill>
            <a:srgbClr val="455A64"/>
          </a:solidFill>
          <a:ln w="12700">
            <a:solidFill>
              <a:srgbClr val="455A64"/>
            </a:solidFill>
            <a:prstDash val="solid"/>
          </a:ln>
        </p:spPr>
      </p:sp>
      <p:pic>
        <p:nvPicPr>
          <p:cNvPr id="21" name="Business rules icon" descr="preencoded.png">    </p:cNvPr>
          <p:cNvPicPr>
            <a:picLocks noChangeAspect="1"/>
          </p:cNvPicPr>
          <p:nvPr/>
        </p:nvPicPr>
        <p:blipFill>
          <a:blip r:embed="rId3"/>
          <a:stretch>
            <a:fillRect/>
          </a:stretch>
        </p:blipFill>
        <p:spPr>
          <a:xfrm>
            <a:off x="8783726" y="2346350"/>
            <a:ext cx="336499" cy="336499"/>
          </a:xfrm>
          <a:prstGeom prst="rect">
            <a:avLst/>
          </a:prstGeom>
        </p:spPr>
      </p:pic>
      <p:sp>
        <p:nvSpPr>
          <p:cNvPr id="22" name="Text 16"/>
          <p:cNvSpPr txBox="1"/>
          <p:nvPr/>
        </p:nvSpPr>
        <p:spPr>
          <a:xfrm>
            <a:off x="8586216" y="3063240"/>
            <a:ext cx="2875788" cy="457200"/>
          </a:xfrm>
          <a:prstGeom prst="rect">
            <a:avLst/>
          </a:prstGeom>
          <a:noFill/>
          <a:ln/>
        </p:spPr>
        <p:txBody>
          <a:bodyPr wrap="square" lIns="0" tIns="0" rIns="0" bIns="0" rtlCol="0" anchor="t"/>
          <a:lstStyle/>
          <a:p>
            <a:pPr indent="0" marL="0">
              <a:buNone/>
            </a:pPr>
            <a:r>
              <a:rPr lang="en-US" sz="2100" b="1" dirty="0">
                <a:solidFill>
                  <a:srgbClr val="263238"/>
                </a:solidFill>
              </a:rPr>
              <a:t>Business rules</a:t>
            </a:r>
            <a:endParaRPr lang="en-US" sz="2100" dirty="0"/>
          </a:p>
        </p:txBody>
      </p:sp>
      <p:sp>
        <p:nvSpPr>
          <p:cNvPr id="23" name="Text 17"/>
          <p:cNvSpPr txBox="1"/>
          <p:nvPr/>
        </p:nvSpPr>
        <p:spPr>
          <a:xfrm>
            <a:off x="8586216" y="3520440"/>
            <a:ext cx="2875788" cy="365760"/>
          </a:xfrm>
          <a:prstGeom prst="rect">
            <a:avLst/>
          </a:prstGeom>
          <a:noFill/>
          <a:ln/>
        </p:spPr>
        <p:txBody>
          <a:bodyPr wrap="square" lIns="0" tIns="0" rIns="0" bIns="0" rtlCol="0" anchor="t"/>
          <a:lstStyle/>
          <a:p>
            <a:pPr indent="0" marL="0">
              <a:buNone/>
            </a:pPr>
            <a:r>
              <a:rPr lang="en-US" sz="1400" b="1" dirty="0">
                <a:solidFill>
                  <a:srgbClr val="E09B00"/>
                </a:solidFill>
              </a:rPr>
              <a:t>Decision tables</a:t>
            </a:r>
            <a:endParaRPr lang="en-US" sz="1400" dirty="0"/>
          </a:p>
        </p:txBody>
      </p:sp>
      <p:sp>
        <p:nvSpPr>
          <p:cNvPr id="24" name="Text 18"/>
          <p:cNvSpPr txBox="1"/>
          <p:nvPr/>
        </p:nvSpPr>
        <p:spPr>
          <a:xfrm>
            <a:off x="8586216" y="4069080"/>
            <a:ext cx="2875788" cy="1920240"/>
          </a:xfrm>
          <a:prstGeom prst="rect">
            <a:avLst/>
          </a:prstGeom>
          <a:noFill/>
          <a:ln/>
        </p:spPr>
        <p:txBody>
          <a:bodyPr wrap="square" lIns="0" tIns="0" rIns="0" bIns="0" rtlCol="0" anchor="t"/>
          <a:lstStyle/>
          <a:p>
            <a:pPr indent="0" marL="0">
              <a:buNone/>
            </a:pPr>
            <a:r>
              <a:rPr lang="en-US" sz="1500" b="1" dirty="0">
                <a:solidFill>
                  <a:srgbClr val="263238"/>
                </a:solidFill>
              </a:rPr>
              <a:t>What</a:t>
            </a:r>
            <a:endParaRPr lang="en-US" sz="1500" dirty="0"/>
          </a:p>
          <a:p>
            <a:pPr indent="0" marL="0">
              <a:buNone/>
            </a:pPr>
            <a:r>
              <a:rPr lang="en-US" sz="1500" dirty="0">
                <a:solidFill>
                  <a:srgbClr val="37474F"/>
                </a:solidFill>
              </a:rPr>
              <a:t>Brute force, multi-protocol, credential stuffing, alert threshold / dedupe / escalation.</a:t>
            </a:r>
            <a:endParaRPr lang="en-US" sz="1500" dirty="0"/>
          </a:p>
        </p:txBody>
      </p:sp>
      <p:sp>
        <p:nvSpPr>
          <p:cNvPr id="25" name="Text 19"/>
          <p:cNvSpPr txBox="1"/>
          <p:nvPr/>
        </p:nvSpPr>
        <p:spPr>
          <a:xfrm>
            <a:off x="8586216" y="6035040"/>
            <a:ext cx="2875788" cy="2103120"/>
          </a:xfrm>
          <a:prstGeom prst="rect">
            <a:avLst/>
          </a:prstGeom>
          <a:noFill/>
          <a:ln/>
        </p:spPr>
        <p:txBody>
          <a:bodyPr wrap="square" lIns="0" tIns="0" rIns="0" bIns="0" rtlCol="0" anchor="t"/>
          <a:lstStyle/>
          <a:p>
            <a:pPr indent="0" marL="0">
              <a:buNone/>
            </a:pPr>
            <a:r>
              <a:rPr lang="en-US" sz="1500" b="1" dirty="0">
                <a:solidFill>
                  <a:srgbClr val="263238"/>
                </a:solidFill>
              </a:rPr>
              <a:t>Why</a:t>
            </a:r>
            <a:endParaRPr lang="en-US" sz="1500" dirty="0"/>
          </a:p>
          <a:p>
            <a:pPr indent="0" marL="0">
              <a:buNone/>
            </a:pPr>
            <a:r>
              <a:rPr lang="en-US" sz="1500" dirty="0">
                <a:solidFill>
                  <a:srgbClr val="37474F"/>
                </a:solidFill>
              </a:rPr>
              <a:t>Detection depends on combinations of conditions; a decision table makes every combination explicit.</a:t>
            </a:r>
            <a:endParaRPr lang="en-US" sz="1500" dirty="0"/>
          </a:p>
        </p:txBody>
      </p:sp>
      <p:sp>
        <p:nvSpPr>
          <p:cNvPr id="26" name="Integration testing"/>
          <p:cNvSpPr/>
          <p:nvPr/>
        </p:nvSpPr>
        <p:spPr>
          <a:xfrm>
            <a:off x="12056364" y="1828800"/>
            <a:ext cx="3515868" cy="6492240"/>
          </a:xfrm>
          <a:prstGeom prst="roundRect">
            <a:avLst>
              <a:gd name="adj" fmla="val 2081"/>
            </a:avLst>
          </a:prstGeom>
          <a:solidFill>
            <a:srgbClr val="FFFFFF"/>
          </a:solidFill>
          <a:ln w="9525">
            <a:solidFill>
              <a:srgbClr val="CFD8DC"/>
            </a:solidFill>
            <a:prstDash val="solid"/>
          </a:ln>
        </p:spPr>
      </p:sp>
      <p:sp>
        <p:nvSpPr>
          <p:cNvPr id="27" name="Integration testing circle"/>
          <p:cNvSpPr/>
          <p:nvPr/>
        </p:nvSpPr>
        <p:spPr>
          <a:xfrm>
            <a:off x="12376404" y="2148840"/>
            <a:ext cx="731520" cy="731520"/>
          </a:xfrm>
          <a:prstGeom prst="ellipse">
            <a:avLst/>
          </a:prstGeom>
          <a:solidFill>
            <a:srgbClr val="455A64"/>
          </a:solidFill>
          <a:ln w="12700">
            <a:solidFill>
              <a:srgbClr val="455A64"/>
            </a:solidFill>
            <a:prstDash val="solid"/>
          </a:ln>
        </p:spPr>
      </p:sp>
      <p:pic>
        <p:nvPicPr>
          <p:cNvPr id="28" name="Integration testing icon" descr="preencoded.png">    </p:cNvPr>
          <p:cNvPicPr>
            <a:picLocks noChangeAspect="1"/>
          </p:cNvPicPr>
          <p:nvPr/>
        </p:nvPicPr>
        <p:blipFill>
          <a:blip r:embed="rId4"/>
          <a:stretch>
            <a:fillRect/>
          </a:stretch>
        </p:blipFill>
        <p:spPr>
          <a:xfrm>
            <a:off x="12573914" y="2346350"/>
            <a:ext cx="336499" cy="336499"/>
          </a:xfrm>
          <a:prstGeom prst="rect">
            <a:avLst/>
          </a:prstGeom>
        </p:spPr>
      </p:pic>
      <p:sp>
        <p:nvSpPr>
          <p:cNvPr id="29" name="Text 22"/>
          <p:cNvSpPr txBox="1"/>
          <p:nvPr/>
        </p:nvSpPr>
        <p:spPr>
          <a:xfrm>
            <a:off x="12376404" y="3063240"/>
            <a:ext cx="2875788" cy="457200"/>
          </a:xfrm>
          <a:prstGeom prst="rect">
            <a:avLst/>
          </a:prstGeom>
          <a:noFill/>
          <a:ln/>
        </p:spPr>
        <p:txBody>
          <a:bodyPr wrap="square" lIns="0" tIns="0" rIns="0" bIns="0" rtlCol="0" anchor="t"/>
          <a:lstStyle/>
          <a:p>
            <a:pPr indent="0" marL="0">
              <a:buNone/>
            </a:pPr>
            <a:r>
              <a:rPr lang="en-US" sz="2100" b="1" dirty="0">
                <a:solidFill>
                  <a:srgbClr val="263238"/>
                </a:solidFill>
              </a:rPr>
              <a:t>Integration testing</a:t>
            </a:r>
            <a:endParaRPr lang="en-US" sz="2100" dirty="0"/>
          </a:p>
        </p:txBody>
      </p:sp>
      <p:sp>
        <p:nvSpPr>
          <p:cNvPr id="30" name="Text 23"/>
          <p:cNvSpPr txBox="1"/>
          <p:nvPr/>
        </p:nvSpPr>
        <p:spPr>
          <a:xfrm>
            <a:off x="12376404" y="3520440"/>
            <a:ext cx="2875788" cy="365760"/>
          </a:xfrm>
          <a:prstGeom prst="rect">
            <a:avLst/>
          </a:prstGeom>
          <a:noFill/>
          <a:ln/>
        </p:spPr>
        <p:txBody>
          <a:bodyPr wrap="square" lIns="0" tIns="0" rIns="0" bIns="0" rtlCol="0" anchor="t"/>
          <a:lstStyle/>
          <a:p>
            <a:pPr indent="0" marL="0">
              <a:buNone/>
            </a:pPr>
            <a:r>
              <a:rPr lang="en-US" sz="1400" b="1" dirty="0">
                <a:solidFill>
                  <a:srgbClr val="E09B00"/>
                </a:solidFill>
              </a:rPr>
              <a:t>Grey-box</a:t>
            </a:r>
            <a:endParaRPr lang="en-US" sz="1400" dirty="0"/>
          </a:p>
        </p:txBody>
      </p:sp>
      <p:sp>
        <p:nvSpPr>
          <p:cNvPr id="31" name="Text 24"/>
          <p:cNvSpPr txBox="1"/>
          <p:nvPr/>
        </p:nvSpPr>
        <p:spPr>
          <a:xfrm>
            <a:off x="12376404" y="4069080"/>
            <a:ext cx="2875788" cy="1920240"/>
          </a:xfrm>
          <a:prstGeom prst="rect">
            <a:avLst/>
          </a:prstGeom>
          <a:noFill/>
          <a:ln/>
        </p:spPr>
        <p:txBody>
          <a:bodyPr wrap="square" lIns="0" tIns="0" rIns="0" bIns="0" rtlCol="0" anchor="t"/>
          <a:lstStyle/>
          <a:p>
            <a:pPr indent="0" marL="0">
              <a:buNone/>
            </a:pPr>
            <a:r>
              <a:rPr lang="en-US" sz="1500" b="1" dirty="0">
                <a:solidFill>
                  <a:srgbClr val="263238"/>
                </a:solidFill>
              </a:rPr>
              <a:t>What</a:t>
            </a:r>
            <a:endParaRPr lang="en-US" sz="1500" dirty="0"/>
          </a:p>
          <a:p>
            <a:pPr indent="0" marL="0">
              <a:buNone/>
            </a:pPr>
            <a:r>
              <a:rPr lang="en-US" sz="1500" dirty="0">
                <a:solidFill>
                  <a:srgbClr val="37474F"/>
                </a:solidFill>
              </a:rPr>
              <a:t>Honeypot → PostgreSQL → engine → alerts → API → dashboard, in Docker.</a:t>
            </a:r>
            <a:endParaRPr lang="en-US" sz="1500" dirty="0"/>
          </a:p>
        </p:txBody>
      </p:sp>
      <p:sp>
        <p:nvSpPr>
          <p:cNvPr id="32" name="Text 25"/>
          <p:cNvSpPr txBox="1"/>
          <p:nvPr/>
        </p:nvSpPr>
        <p:spPr>
          <a:xfrm>
            <a:off x="12376404" y="6035040"/>
            <a:ext cx="2875788" cy="2103120"/>
          </a:xfrm>
          <a:prstGeom prst="rect">
            <a:avLst/>
          </a:prstGeom>
          <a:noFill/>
          <a:ln/>
        </p:spPr>
        <p:txBody>
          <a:bodyPr wrap="square" lIns="0" tIns="0" rIns="0" bIns="0" rtlCol="0" anchor="t"/>
          <a:lstStyle/>
          <a:p>
            <a:pPr indent="0" marL="0">
              <a:buNone/>
            </a:pPr>
            <a:r>
              <a:rPr lang="en-US" sz="1500" b="1" dirty="0">
                <a:solidFill>
                  <a:srgbClr val="263238"/>
                </a:solidFill>
              </a:rPr>
              <a:t>Why</a:t>
            </a:r>
            <a:endParaRPr lang="en-US" sz="1500" dirty="0"/>
          </a:p>
          <a:p>
            <a:pPr indent="0" marL="0">
              <a:buNone/>
            </a:pPr>
            <a:r>
              <a:rPr lang="en-US" sz="1500" dirty="0">
                <a:solidFill>
                  <a:srgbClr val="37474F"/>
                </a:solidFill>
              </a:rPr>
              <a:t>Most failures happen between services (networks, auth, schema), so we test the whole path.</a:t>
            </a:r>
            <a:endParaRPr lang="en-US" sz="1500" dirty="0"/>
          </a:p>
        </p:txBody>
      </p:sp>
      <p:sp>
        <p:nvSpPr>
          <p:cNvPr id="25" name="Slide Number Placeholder 0"/>
          <p:cNvSpPr>
            <a:spLocks noGrp="1"/>
          </p:cNvSpPr>
          <p:nvPr>
            <p:ph type="sldNum" sz="quarter" idx="4294967295"/>
          </p:nvPr>
        </p:nvSpPr>
        <p:spPr>
          <a:xfrm>
            <a:off x="14794992" y="8549640"/>
            <a:ext cx="91440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3"/>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685800" y="365760"/>
            <a:ext cx="10972800" cy="365760"/>
          </a:xfrm>
          <a:prstGeom prst="rect">
            <a:avLst/>
          </a:prstGeom>
          <a:noFill/>
          <a:ln/>
        </p:spPr>
        <p:txBody>
          <a:bodyPr wrap="square" lIns="0" tIns="0" rIns="0" bIns="0" rtlCol="0"/>
          <a:lstStyle/>
          <a:p>
            <a:pPr indent="0" marL="0">
              <a:buNone/>
            </a:pPr>
            <a:r>
              <a:rPr lang="en-US" sz="1200" b="1" spc="200" kern="0" dirty="0">
                <a:solidFill>
                  <a:schemeClr val="accent3"/>
                </a:solidFill>
              </a:rPr>
              <a:t>04 — TESTING TECHNIQUES</a:t>
            </a:r>
            <a:endParaRPr lang="en-US" sz="1200" dirty="0"/>
          </a:p>
        </p:txBody>
      </p:sp>
      <p:sp>
        <p:nvSpPr>
          <p:cNvPr id="3" name="Text 0"/>
          <p:cNvSpPr/>
          <p:nvPr>
            <p:ph idx="101" type="title" hasCustomPrompt="1"/>
          </p:nvPr>
        </p:nvSpPr>
        <p:spPr>
          <a:xfrm>
            <a:off x="685800" y="731520"/>
            <a:ext cx="14886432" cy="822960"/>
          </a:xfrm>
          <a:prstGeom prst="rect">
            <a:avLst/>
          </a:prstGeom>
          <a:noFill/>
          <a:ln/>
        </p:spPr>
        <p:txBody>
          <a:bodyPr wrap="square" lIns="0" tIns="0" rIns="0" bIns="0" rtlCol="0" anchor="t"/>
          <a:lstStyle/>
          <a:p>
            <a:pPr algn="l" indent="0" marL="0">
              <a:buNone/>
            </a:pPr>
            <a:r>
              <a:rPr lang="en-US" sz="3600" b="1" dirty="0">
                <a:solidFill>
                  <a:schemeClr val="tx1"/>
                </a:solidFill>
              </a:rPr>
              <a:t>Test Cases and Results</a:t>
            </a:r>
            <a:endParaRPr lang="en-US" sz="36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685800" y="1828800"/>
          <a:ext cx="9509760" cy="914400"/>
        </p:xfrm>
        <a:graphic>
          <a:graphicData uri="http://schemas.openxmlformats.org/drawingml/2006/table">
            <a:tbl>
              <a:tblPr/>
              <a:tblGrid>
                <a:gridCol w="1463040"/>
                <a:gridCol w="1417320"/>
                <a:gridCol w="3108960"/>
                <a:gridCol w="2788920"/>
                <a:gridCol w="731520"/>
              </a:tblGrid>
              <a:tr h="804672">
                <a:tc>
                  <a:txBody>
                    <a:bodyPr/>
                    <a:lstStyle/>
                    <a:p>
                      <a:pPr indent="0" marL="0">
                        <a:buNone/>
                      </a:pPr>
                      <a:r>
                        <a:rPr lang="en-US" sz="1400" b="1" dirty="0">
                          <a:solidFill>
                            <a:srgbClr val="FFFFFF"/>
                          </a:solidFill>
                        </a:rPr>
                        <a:t>ID</a:t>
                      </a:r>
                      <a:endParaRPr lang="en-US" sz="14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37474F"/>
                    </a:solidFill>
                  </a:tcPr>
                </a:tc>
                <a:tc>
                  <a:txBody>
                    <a:bodyPr/>
                    <a:lstStyle/>
                    <a:p>
                      <a:pPr indent="0" marL="0">
                        <a:buNone/>
                      </a:pPr>
                      <a:r>
                        <a:rPr lang="en-US" sz="1400" b="1" dirty="0">
                          <a:solidFill>
                            <a:srgbClr val="FFFFFF"/>
                          </a:solidFill>
                        </a:rPr>
                        <a:t>Technique</a:t>
                      </a:r>
                      <a:endParaRPr lang="en-US" sz="14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37474F"/>
                    </a:solidFill>
                  </a:tcPr>
                </a:tc>
                <a:tc>
                  <a:txBody>
                    <a:bodyPr/>
                    <a:lstStyle/>
                    <a:p>
                      <a:pPr indent="0" marL="0">
                        <a:buNone/>
                      </a:pPr>
                      <a:r>
                        <a:rPr lang="en-US" sz="1400" b="1" dirty="0">
                          <a:solidFill>
                            <a:srgbClr val="FFFFFF"/>
                          </a:solidFill>
                        </a:rPr>
                        <a:t>Test case</a:t>
                      </a:r>
                      <a:endParaRPr lang="en-US" sz="14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37474F"/>
                    </a:solidFill>
                  </a:tcPr>
                </a:tc>
                <a:tc>
                  <a:txBody>
                    <a:bodyPr/>
                    <a:lstStyle/>
                    <a:p>
                      <a:pPr indent="0" marL="0">
                        <a:buNone/>
                      </a:pPr>
                      <a:r>
                        <a:rPr lang="en-US" sz="1400" b="1" dirty="0">
                          <a:solidFill>
                            <a:srgbClr val="FFFFFF"/>
                          </a:solidFill>
                        </a:rPr>
                        <a:t>Expected</a:t>
                      </a:r>
                      <a:endParaRPr lang="en-US" sz="14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37474F"/>
                    </a:solidFill>
                  </a:tcPr>
                </a:tc>
                <a:tc>
                  <a:txBody>
                    <a:bodyPr/>
                    <a:lstStyle/>
                    <a:p>
                      <a:pPr indent="0" marL="0">
                        <a:buNone/>
                      </a:pPr>
                      <a:r>
                        <a:rPr lang="en-US" sz="1400" b="1" dirty="0">
                          <a:solidFill>
                            <a:srgbClr val="FFFFFF"/>
                          </a:solidFill>
                        </a:rPr>
                        <a:t>Result</a:t>
                      </a:r>
                      <a:endParaRPr lang="en-US" sz="14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37474F"/>
                    </a:solidFill>
                  </a:tcPr>
                </a:tc>
              </a:tr>
              <a:tr h="804672">
                <a:tc>
                  <a:txBody>
                    <a:bodyPr/>
                    <a:lstStyle/>
                    <a:p>
                      <a:pPr indent="0" marL="0">
                        <a:buNone/>
                      </a:pPr>
                      <a:r>
                        <a:rPr lang="en-US" sz="1500" dirty="0">
                          <a:solidFill>
                            <a:srgbClr val="37474F"/>
                          </a:solidFill>
                        </a:rPr>
                        <a:t>HB-SSH-001</a:t>
                      </a:r>
                      <a:endParaRPr lang="en-US" sz="15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FFFFF"/>
                    </a:solidFill>
                  </a:tcPr>
                </a:tc>
                <a:tc>
                  <a:txBody>
                    <a:bodyPr/>
                    <a:lstStyle/>
                    <a:p>
                      <a:pPr indent="0" marL="0">
                        <a:buNone/>
                      </a:pPr>
                      <a:r>
                        <a:rPr lang="en-US" sz="1500" dirty="0">
                          <a:solidFill>
                            <a:srgbClr val="37474F"/>
                          </a:solidFill>
                        </a:rPr>
                        <a:t>Functional</a:t>
                      </a:r>
                      <a:endParaRPr lang="en-US" sz="15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FFFFF"/>
                    </a:solidFill>
                  </a:tcPr>
                </a:tc>
                <a:tc>
                  <a:txBody>
                    <a:bodyPr/>
                    <a:lstStyle/>
                    <a:p>
                      <a:pPr indent="0" marL="0">
                        <a:buNone/>
                      </a:pPr>
                      <a:r>
                        <a:rPr lang="en-US" sz="1500" dirty="0">
                          <a:solidFill>
                            <a:srgbClr val="37474F"/>
                          </a:solidFill>
                        </a:rPr>
                        <a:t>SSH login root/root on the smart lock</a:t>
                      </a:r>
                      <a:endParaRPr lang="en-US" sz="15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FFFFF"/>
                    </a:solidFill>
                  </a:tcPr>
                </a:tc>
                <a:tc>
                  <a:txBody>
                    <a:bodyPr/>
                    <a:lstStyle/>
                    <a:p>
                      <a:pPr indent="0" marL="0">
                        <a:buNone/>
                      </a:pPr>
                      <a:r>
                        <a:rPr lang="en-US" sz="1500" dirty="0">
                          <a:solidFill>
                            <a:srgbClr val="37474F"/>
                          </a:solidFill>
                        </a:rPr>
                        <a:t>Banner, root shell</a:t>
                      </a:r>
                      <a:endParaRPr lang="en-US" sz="15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FFFFF"/>
                    </a:solidFill>
                  </a:tcPr>
                </a:tc>
                <a:tc>
                  <a:txBody>
                    <a:bodyPr/>
                    <a:lstStyle/>
                    <a:p>
                      <a:pPr indent="0" marL="0">
                        <a:buNone/>
                      </a:pPr>
                      <a:r>
                        <a:rPr lang="en-US" sz="1500" b="1" dirty="0">
                          <a:solidFill>
                            <a:srgbClr val="2E7D32"/>
                          </a:solidFill>
                        </a:rPr>
                        <a:t>Pass</a:t>
                      </a:r>
                      <a:endParaRPr lang="en-US" sz="15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FFFFF"/>
                    </a:solidFill>
                  </a:tcPr>
                </a:tc>
              </a:tr>
              <a:tr h="804672">
                <a:tc>
                  <a:txBody>
                    <a:bodyPr/>
                    <a:lstStyle/>
                    <a:p>
                      <a:pPr indent="0" marL="0">
                        <a:buNone/>
                      </a:pPr>
                      <a:r>
                        <a:rPr lang="en-US" sz="1500" dirty="0">
                          <a:solidFill>
                            <a:srgbClr val="37474F"/>
                          </a:solidFill>
                        </a:rPr>
                        <a:t>HB-RTSP-002</a:t>
                      </a:r>
                      <a:endParaRPr lang="en-US" sz="15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AFBFB"/>
                    </a:solidFill>
                  </a:tcPr>
                </a:tc>
                <a:tc>
                  <a:txBody>
                    <a:bodyPr/>
                    <a:lstStyle/>
                    <a:p>
                      <a:pPr indent="0" marL="0">
                        <a:buNone/>
                      </a:pPr>
                      <a:r>
                        <a:rPr lang="en-US" sz="1500" dirty="0">
                          <a:solidFill>
                            <a:srgbClr val="37474F"/>
                          </a:solidFill>
                        </a:rPr>
                        <a:t>Unit</a:t>
                      </a:r>
                      <a:endParaRPr lang="en-US" sz="15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AFBFB"/>
                    </a:solidFill>
                  </a:tcPr>
                </a:tc>
                <a:tc>
                  <a:txBody>
                    <a:bodyPr/>
                    <a:lstStyle/>
                    <a:p>
                      <a:pPr indent="0" marL="0">
                        <a:buNone/>
                      </a:pPr>
                      <a:r>
                        <a:rPr lang="en-US" sz="1500" dirty="0">
                          <a:solidFill>
                            <a:srgbClr val="37474F"/>
                          </a:solidFill>
                        </a:rPr>
                        <a:t>RTSP DESCRIBE with wrong Digest response</a:t>
                      </a:r>
                      <a:endParaRPr lang="en-US" sz="15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AFBFB"/>
                    </a:solidFill>
                  </a:tcPr>
                </a:tc>
                <a:tc>
                  <a:txBody>
                    <a:bodyPr/>
                    <a:lstStyle/>
                    <a:p>
                      <a:pPr indent="0" marL="0">
                        <a:buNone/>
                      </a:pPr>
                      <a:r>
                        <a:rPr lang="en-US" sz="1500" dirty="0">
                          <a:solidFill>
                            <a:srgbClr val="37474F"/>
                          </a:solidFill>
                        </a:rPr>
                        <a:t>401, attempt logged</a:t>
                      </a:r>
                      <a:endParaRPr lang="en-US" sz="15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AFBFB"/>
                    </a:solidFill>
                  </a:tcPr>
                </a:tc>
                <a:tc>
                  <a:txBody>
                    <a:bodyPr/>
                    <a:lstStyle/>
                    <a:p>
                      <a:pPr indent="0" marL="0">
                        <a:buNone/>
                      </a:pPr>
                      <a:r>
                        <a:rPr lang="en-US" sz="1500" b="1" dirty="0">
                          <a:solidFill>
                            <a:srgbClr val="2E7D32"/>
                          </a:solidFill>
                        </a:rPr>
                        <a:t>Pass</a:t>
                      </a:r>
                      <a:endParaRPr lang="en-US" sz="15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FFFFF"/>
                    </a:solidFill>
                  </a:tcPr>
                </a:tc>
              </a:tr>
              <a:tr h="804672">
                <a:tc>
                  <a:txBody>
                    <a:bodyPr/>
                    <a:lstStyle/>
                    <a:p>
                      <a:pPr indent="0" marL="0">
                        <a:buNone/>
                      </a:pPr>
                      <a:r>
                        <a:rPr lang="en-US" sz="1500" dirty="0">
                          <a:solidFill>
                            <a:srgbClr val="37474F"/>
                          </a:solidFill>
                        </a:rPr>
                        <a:t>HB-INTEL-004</a:t>
                      </a:r>
                      <a:endParaRPr lang="en-US" sz="15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FFFFF"/>
                    </a:solidFill>
                  </a:tcPr>
                </a:tc>
                <a:tc>
                  <a:txBody>
                    <a:bodyPr/>
                    <a:lstStyle/>
                    <a:p>
                      <a:pPr indent="0" marL="0">
                        <a:buNone/>
                      </a:pPr>
                      <a:r>
                        <a:rPr lang="en-US" sz="1500" dirty="0">
                          <a:solidFill>
                            <a:srgbClr val="37474F"/>
                          </a:solidFill>
                        </a:rPr>
                        <a:t>Functional</a:t>
                      </a:r>
                      <a:endParaRPr lang="en-US" sz="15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FFFFF"/>
                    </a:solidFill>
                  </a:tcPr>
                </a:tc>
                <a:tc>
                  <a:txBody>
                    <a:bodyPr/>
                    <a:lstStyle/>
                    <a:p>
                      <a:pPr indent="0" marL="0">
                        <a:buNone/>
                      </a:pPr>
                      <a:r>
                        <a:rPr lang="en-US" sz="1500" dirty="0">
                          <a:solidFill>
                            <a:srgbClr val="37474F"/>
                          </a:solidFill>
                        </a:rPr>
                        <a:t>25 failed SSH logins in 10 minutes</a:t>
                      </a:r>
                      <a:endParaRPr lang="en-US" sz="15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FFFFF"/>
                    </a:solidFill>
                  </a:tcPr>
                </a:tc>
                <a:tc>
                  <a:txBody>
                    <a:bodyPr/>
                    <a:lstStyle/>
                    <a:p>
                      <a:pPr indent="0" marL="0">
                        <a:buNone/>
                      </a:pPr>
                      <a:r>
                        <a:rPr lang="en-US" sz="1500" dirty="0">
                          <a:solidFill>
                            <a:srgbClr val="37474F"/>
                          </a:solidFill>
                        </a:rPr>
                        <a:t>BRUTE_FORCE, MITRE T1110</a:t>
                      </a:r>
                      <a:endParaRPr lang="en-US" sz="15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FFFFF"/>
                    </a:solidFill>
                  </a:tcPr>
                </a:tc>
                <a:tc>
                  <a:txBody>
                    <a:bodyPr/>
                    <a:lstStyle/>
                    <a:p>
                      <a:pPr indent="0" marL="0">
                        <a:buNone/>
                      </a:pPr>
                      <a:r>
                        <a:rPr lang="en-US" sz="1500" b="1" dirty="0">
                          <a:solidFill>
                            <a:srgbClr val="2E7D32"/>
                          </a:solidFill>
                        </a:rPr>
                        <a:t>Pass</a:t>
                      </a:r>
                      <a:endParaRPr lang="en-US" sz="15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FFFFF"/>
                    </a:solidFill>
                  </a:tcPr>
                </a:tc>
              </a:tr>
              <a:tr h="804672">
                <a:tc>
                  <a:txBody>
                    <a:bodyPr/>
                    <a:lstStyle/>
                    <a:p>
                      <a:pPr indent="0" marL="0">
                        <a:buNone/>
                      </a:pPr>
                      <a:r>
                        <a:rPr lang="en-US" sz="1500" dirty="0">
                          <a:solidFill>
                            <a:srgbClr val="37474F"/>
                          </a:solidFill>
                        </a:rPr>
                        <a:t>BR-MPA-03</a:t>
                      </a:r>
                      <a:endParaRPr lang="en-US" sz="15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AFBFB"/>
                    </a:solidFill>
                  </a:tcPr>
                </a:tc>
                <a:tc>
                  <a:txBody>
                    <a:bodyPr/>
                    <a:lstStyle/>
                    <a:p>
                      <a:pPr indent="0" marL="0">
                        <a:buNone/>
                      </a:pPr>
                      <a:r>
                        <a:rPr lang="en-US" sz="1500" dirty="0">
                          <a:solidFill>
                            <a:srgbClr val="37474F"/>
                          </a:solidFill>
                        </a:rPr>
                        <a:t>Business rule</a:t>
                      </a:r>
                      <a:endParaRPr lang="en-US" sz="15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AFBFB"/>
                    </a:solidFill>
                  </a:tcPr>
                </a:tc>
                <a:tc>
                  <a:txBody>
                    <a:bodyPr/>
                    <a:lstStyle/>
                    <a:p>
                      <a:pPr indent="0" marL="0">
                        <a:buNone/>
                      </a:pPr>
                      <a:r>
                        <a:rPr lang="en-US" sz="1500" dirty="0">
                          <a:solidFill>
                            <a:srgbClr val="37474F"/>
                          </a:solidFill>
                        </a:rPr>
                        <a:t>Same IP on 3 protocols within 1 hour</a:t>
                      </a:r>
                      <a:endParaRPr lang="en-US" sz="15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AFBFB"/>
                    </a:solidFill>
                  </a:tcPr>
                </a:tc>
                <a:tc>
                  <a:txBody>
                    <a:bodyPr/>
                    <a:lstStyle/>
                    <a:p>
                      <a:pPr indent="0" marL="0">
                        <a:buNone/>
                      </a:pPr>
                      <a:r>
                        <a:rPr lang="en-US" sz="1500" dirty="0">
                          <a:solidFill>
                            <a:srgbClr val="37474F"/>
                          </a:solidFill>
                        </a:rPr>
                        <a:t>MULTI_PROTOCOL_ATTACK</a:t>
                      </a:r>
                      <a:endParaRPr lang="en-US" sz="15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AFBFB"/>
                    </a:solidFill>
                  </a:tcPr>
                </a:tc>
                <a:tc>
                  <a:txBody>
                    <a:bodyPr/>
                    <a:lstStyle/>
                    <a:p>
                      <a:pPr indent="0" marL="0">
                        <a:buNone/>
                      </a:pPr>
                      <a:r>
                        <a:rPr lang="en-US" sz="1500" b="1" dirty="0">
                          <a:solidFill>
                            <a:srgbClr val="2E7D32"/>
                          </a:solidFill>
                        </a:rPr>
                        <a:t>Pass</a:t>
                      </a:r>
                      <a:endParaRPr lang="en-US" sz="15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FFFFF"/>
                    </a:solidFill>
                  </a:tcPr>
                </a:tc>
              </a:tr>
              <a:tr h="804672">
                <a:tc>
                  <a:txBody>
                    <a:bodyPr/>
                    <a:lstStyle/>
                    <a:p>
                      <a:pPr indent="0" marL="0">
                        <a:buNone/>
                      </a:pPr>
                      <a:r>
                        <a:rPr lang="en-US" sz="1500" dirty="0">
                          <a:solidFill>
                            <a:srgbClr val="37474F"/>
                          </a:solidFill>
                        </a:rPr>
                        <a:t>BR-ALERT-03</a:t>
                      </a:r>
                      <a:endParaRPr lang="en-US" sz="15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FFFFF"/>
                    </a:solidFill>
                  </a:tcPr>
                </a:tc>
                <a:tc>
                  <a:txBody>
                    <a:bodyPr/>
                    <a:lstStyle/>
                    <a:p>
                      <a:pPr indent="0" marL="0">
                        <a:buNone/>
                      </a:pPr>
                      <a:r>
                        <a:rPr lang="en-US" sz="1500" dirty="0">
                          <a:solidFill>
                            <a:srgbClr val="37474F"/>
                          </a:solidFill>
                        </a:rPr>
                        <a:t>Business rule</a:t>
                      </a:r>
                      <a:endParaRPr lang="en-US" sz="15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FFFFF"/>
                    </a:solidFill>
                  </a:tcPr>
                </a:tc>
                <a:tc>
                  <a:txBody>
                    <a:bodyPr/>
                    <a:lstStyle/>
                    <a:p>
                      <a:pPr indent="0" marL="0">
                        <a:buNone/>
                      </a:pPr>
                      <a:r>
                        <a:rPr lang="en-US" sz="1500" dirty="0">
                          <a:solidFill>
                            <a:srgbClr val="37474F"/>
                          </a:solidFill>
                        </a:rPr>
                        <a:t>Second HIGH alert for one IP in 10 min</a:t>
                      </a:r>
                      <a:endParaRPr lang="en-US" sz="15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FFFFF"/>
                    </a:solidFill>
                  </a:tcPr>
                </a:tc>
                <a:tc>
                  <a:txBody>
                    <a:bodyPr/>
                    <a:lstStyle/>
                    <a:p>
                      <a:pPr indent="0" marL="0">
                        <a:buNone/>
                      </a:pPr>
                      <a:r>
                        <a:rPr lang="en-US" sz="1500" dirty="0">
                          <a:solidFill>
                            <a:srgbClr val="37474F"/>
                          </a:solidFill>
                        </a:rPr>
                        <a:t>Suppressed, not sent</a:t>
                      </a:r>
                      <a:endParaRPr lang="en-US" sz="15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FFFFF"/>
                    </a:solidFill>
                  </a:tcPr>
                </a:tc>
                <a:tc>
                  <a:txBody>
                    <a:bodyPr/>
                    <a:lstStyle/>
                    <a:p>
                      <a:pPr indent="0" marL="0">
                        <a:buNone/>
                      </a:pPr>
                      <a:r>
                        <a:rPr lang="en-US" sz="1500" b="1" dirty="0">
                          <a:solidFill>
                            <a:srgbClr val="2E7D32"/>
                          </a:solidFill>
                        </a:rPr>
                        <a:t>Pass</a:t>
                      </a:r>
                      <a:endParaRPr lang="en-US" sz="15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FFFFF"/>
                    </a:solidFill>
                  </a:tcPr>
                </a:tc>
              </a:tr>
              <a:tr h="804672">
                <a:tc>
                  <a:txBody>
                    <a:bodyPr/>
                    <a:lstStyle/>
                    <a:p>
                      <a:pPr indent="0" marL="0">
                        <a:buNone/>
                      </a:pPr>
                      <a:r>
                        <a:rPr lang="en-US" sz="1500" dirty="0">
                          <a:solidFill>
                            <a:srgbClr val="37474F"/>
                          </a:solidFill>
                        </a:rPr>
                        <a:t>HB-INT-002</a:t>
                      </a:r>
                      <a:endParaRPr lang="en-US" sz="15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AFBFB"/>
                    </a:solidFill>
                  </a:tcPr>
                </a:tc>
                <a:tc>
                  <a:txBody>
                    <a:bodyPr/>
                    <a:lstStyle/>
                    <a:p>
                      <a:pPr indent="0" marL="0">
                        <a:buNone/>
                      </a:pPr>
                      <a:r>
                        <a:rPr lang="en-US" sz="1500" dirty="0">
                          <a:solidFill>
                            <a:srgbClr val="37474F"/>
                          </a:solidFill>
                        </a:rPr>
                        <a:t>Integration</a:t>
                      </a:r>
                      <a:endParaRPr lang="en-US" sz="15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AFBFB"/>
                    </a:solidFill>
                  </a:tcPr>
                </a:tc>
                <a:tc>
                  <a:txBody>
                    <a:bodyPr/>
                    <a:lstStyle/>
                    <a:p>
                      <a:pPr indent="0" marL="0">
                        <a:buNone/>
                      </a:pPr>
                      <a:r>
                        <a:rPr lang="en-US" sz="1500" dirty="0">
                          <a:solidFill>
                            <a:srgbClr val="37474F"/>
                          </a:solidFill>
                        </a:rPr>
                        <a:t>Unlock over REST, read over MQTT and SSH</a:t>
                      </a:r>
                      <a:endParaRPr lang="en-US" sz="15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AFBFB"/>
                    </a:solidFill>
                  </a:tcPr>
                </a:tc>
                <a:tc>
                  <a:txBody>
                    <a:bodyPr/>
                    <a:lstStyle/>
                    <a:p>
                      <a:pPr indent="0" marL="0">
                        <a:buNone/>
                      </a:pPr>
                      <a:r>
                        <a:rPr lang="en-US" sz="1500" dirty="0">
                          <a:solidFill>
                            <a:srgbClr val="37474F"/>
                          </a:solidFill>
                        </a:rPr>
                        <a:t>All report unlocked</a:t>
                      </a:r>
                      <a:endParaRPr lang="en-US" sz="15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AFBFB"/>
                    </a:solidFill>
                  </a:tcPr>
                </a:tc>
                <a:tc>
                  <a:txBody>
                    <a:bodyPr/>
                    <a:lstStyle/>
                    <a:p>
                      <a:pPr indent="0" marL="0">
                        <a:buNone/>
                      </a:pPr>
                      <a:r>
                        <a:rPr lang="en-US" sz="1500" b="1" dirty="0">
                          <a:solidFill>
                            <a:srgbClr val="2E7D32"/>
                          </a:solidFill>
                        </a:rPr>
                        <a:t>Pass</a:t>
                      </a:r>
                      <a:endParaRPr lang="en-US" sz="15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FFFFF"/>
                    </a:solidFill>
                  </a:tcPr>
                </a:tc>
              </a:tr>
              <a:tr h="804672">
                <a:tc>
                  <a:txBody>
                    <a:bodyPr/>
                    <a:lstStyle/>
                    <a:p>
                      <a:pPr indent="0" marL="0">
                        <a:buNone/>
                      </a:pPr>
                      <a:r>
                        <a:rPr lang="en-US" sz="1500" dirty="0">
                          <a:solidFill>
                            <a:srgbClr val="37474F"/>
                          </a:solidFill>
                        </a:rPr>
                        <a:t>HB-INT-008</a:t>
                      </a:r>
                      <a:endParaRPr lang="en-US" sz="15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FFFFF"/>
                    </a:solidFill>
                  </a:tcPr>
                </a:tc>
                <a:tc>
                  <a:txBody>
                    <a:bodyPr/>
                    <a:lstStyle/>
                    <a:p>
                      <a:pPr indent="0" marL="0">
                        <a:buNone/>
                      </a:pPr>
                      <a:r>
                        <a:rPr lang="en-US" sz="1500" dirty="0">
                          <a:solidFill>
                            <a:srgbClr val="37474F"/>
                          </a:solidFill>
                        </a:rPr>
                        <a:t>Integration</a:t>
                      </a:r>
                      <a:endParaRPr lang="en-US" sz="15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FFFFF"/>
                    </a:solidFill>
                  </a:tcPr>
                </a:tc>
                <a:tc>
                  <a:txBody>
                    <a:bodyPr/>
                    <a:lstStyle/>
                    <a:p>
                      <a:pPr indent="0" marL="0">
                        <a:buNone/>
                      </a:pPr>
                      <a:r>
                        <a:rPr lang="en-US" sz="1500" dirty="0">
                          <a:solidFill>
                            <a:srgbClr val="37474F"/>
                          </a:solidFill>
                        </a:rPr>
                        <a:t>Honeypot connects out to the internet</a:t>
                      </a:r>
                      <a:endParaRPr lang="en-US" sz="15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FFFFF"/>
                    </a:solidFill>
                  </a:tcPr>
                </a:tc>
                <a:tc>
                  <a:txBody>
                    <a:bodyPr/>
                    <a:lstStyle/>
                    <a:p>
                      <a:pPr indent="0" marL="0">
                        <a:buNone/>
                      </a:pPr>
                      <a:r>
                        <a:rPr lang="en-US" sz="1500" dirty="0">
                          <a:solidFill>
                            <a:srgbClr val="37474F"/>
                          </a:solidFill>
                        </a:rPr>
                        <a:t>Dropped by the firewall</a:t>
                      </a:r>
                      <a:endParaRPr lang="en-US" sz="15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FFFFF"/>
                    </a:solidFill>
                  </a:tcPr>
                </a:tc>
                <a:tc>
                  <a:txBody>
                    <a:bodyPr/>
                    <a:lstStyle/>
                    <a:p>
                      <a:pPr indent="0" marL="0">
                        <a:buNone/>
                      </a:pPr>
                      <a:r>
                        <a:rPr lang="en-US" sz="1500" b="1" dirty="0">
                          <a:solidFill>
                            <a:srgbClr val="2E7D32"/>
                          </a:solidFill>
                        </a:rPr>
                        <a:t>Pass</a:t>
                      </a:r>
                      <a:endParaRPr lang="en-US" sz="15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FFFFF"/>
                    </a:solidFill>
                  </a:tcPr>
                </a:tc>
              </a:tr>
            </a:tbl>
          </a:graphicData>
        </a:graphic>
      </p:graphicFrame>
      <p:graphicFrame>
        <p:nvGraphicFramePr>
          <p:cNvPr id="6" name="Chart 0" descr=""/>
          <p:cNvGraphicFramePr/>
          <p:nvPr/>
        </p:nvGraphicFramePr>
        <p:xfrm>
          <a:off x="10469880" y="1828800"/>
          <a:ext cx="5102352" cy="4754880"/>
        </p:xfrm>
        <a:graphic xmlns:a="http://schemas.openxmlformats.org/drawingml/2006/main">
          <a:graphicData uri="http://schemas.openxmlformats.org/drawingml/2006/chart">
            <c:chart xmlns:c="http://schemas.openxmlformats.org/drawingml/2006/chart" r:id="rId1"/>
          </a:graphicData>
        </a:graphic>
      </p:graphicFrame>
      <p:sp>
        <p:nvSpPr>
          <p:cNvPr id="7" name="totals"/>
          <p:cNvSpPr/>
          <p:nvPr/>
        </p:nvSpPr>
        <p:spPr>
          <a:xfrm>
            <a:off x="10469880" y="6812280"/>
            <a:ext cx="5102352" cy="1508760"/>
          </a:xfrm>
          <a:prstGeom prst="roundRect">
            <a:avLst>
              <a:gd name="adj" fmla="val 4848"/>
            </a:avLst>
          </a:prstGeom>
          <a:solidFill>
            <a:srgbClr val="263238"/>
          </a:solidFill>
          <a:ln w="9525">
            <a:solidFill>
              <a:srgbClr val="CFD8DC"/>
            </a:solidFill>
            <a:prstDash val="solid"/>
          </a:ln>
        </p:spPr>
      </p:sp>
      <p:sp>
        <p:nvSpPr>
          <p:cNvPr id="8" name="Text 3"/>
          <p:cNvSpPr txBox="1"/>
          <p:nvPr/>
        </p:nvSpPr>
        <p:spPr>
          <a:xfrm>
            <a:off x="10744200" y="6949440"/>
            <a:ext cx="2743200" cy="731520"/>
          </a:xfrm>
          <a:prstGeom prst="rect">
            <a:avLst/>
          </a:prstGeom>
          <a:noFill/>
          <a:ln/>
        </p:spPr>
        <p:txBody>
          <a:bodyPr wrap="square" lIns="0" tIns="0" rIns="0" bIns="0" rtlCol="0" anchor="t"/>
          <a:lstStyle/>
          <a:p>
            <a:pPr indent="0" marL="0">
              <a:buNone/>
            </a:pPr>
            <a:r>
              <a:rPr lang="en-US" sz="3600" b="1" dirty="0">
                <a:solidFill>
                  <a:srgbClr val="E09B00"/>
                </a:solidFill>
              </a:rPr>
              <a:t>163 / 163</a:t>
            </a:r>
            <a:endParaRPr lang="en-US" sz="3600" dirty="0"/>
          </a:p>
        </p:txBody>
      </p:sp>
      <p:sp>
        <p:nvSpPr>
          <p:cNvPr id="9" name="Text 4"/>
          <p:cNvSpPr txBox="1"/>
          <p:nvPr/>
        </p:nvSpPr>
        <p:spPr>
          <a:xfrm>
            <a:off x="10744200" y="7680960"/>
            <a:ext cx="4572000" cy="457200"/>
          </a:xfrm>
          <a:prstGeom prst="rect">
            <a:avLst/>
          </a:prstGeom>
          <a:noFill/>
          <a:ln/>
        </p:spPr>
        <p:txBody>
          <a:bodyPr wrap="square" lIns="0" tIns="0" rIns="0" bIns="0" rtlCol="0" anchor="t"/>
          <a:lstStyle/>
          <a:p>
            <a:pPr indent="0" marL="0">
              <a:buNone/>
            </a:pPr>
            <a:r>
              <a:rPr lang="en-US" sz="1600" dirty="0">
                <a:solidFill>
                  <a:srgbClr val="CFD8DC"/>
                </a:solidFill>
              </a:rPr>
              <a:t>test cases passed · 0 failing</a:t>
            </a:r>
            <a:endParaRPr lang="en-US" sz="1600" dirty="0"/>
          </a:p>
        </p:txBody>
      </p:sp>
      <p:sp>
        <p:nvSpPr>
          <p:cNvPr id="25" name="Slide Number Placeholder 0"/>
          <p:cNvSpPr>
            <a:spLocks noGrp="1"/>
          </p:cNvSpPr>
          <p:nvPr>
            <p:ph type="sldNum" sz="quarter" idx="4294967295"/>
          </p:nvPr>
        </p:nvSpPr>
        <p:spPr>
          <a:xfrm>
            <a:off x="14794992" y="8549640"/>
            <a:ext cx="91440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3"/>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685800" y="365760"/>
            <a:ext cx="10972800" cy="365760"/>
          </a:xfrm>
          <a:prstGeom prst="rect">
            <a:avLst/>
          </a:prstGeom>
          <a:noFill/>
          <a:ln/>
        </p:spPr>
        <p:txBody>
          <a:bodyPr wrap="square" lIns="0" tIns="0" rIns="0" bIns="0" rtlCol="0"/>
          <a:lstStyle/>
          <a:p>
            <a:pPr indent="0" marL="0">
              <a:buNone/>
            </a:pPr>
            <a:r>
              <a:rPr lang="en-US" sz="1200" b="1" spc="200" kern="0" dirty="0">
                <a:solidFill>
                  <a:schemeClr val="accent3"/>
                </a:solidFill>
              </a:rPr>
              <a:t>04 — TESTING TECHNIQUES</a:t>
            </a:r>
            <a:endParaRPr lang="en-US" sz="1200" dirty="0"/>
          </a:p>
        </p:txBody>
      </p:sp>
      <p:sp>
        <p:nvSpPr>
          <p:cNvPr id="3" name="Text 0"/>
          <p:cNvSpPr/>
          <p:nvPr>
            <p:ph idx="101" type="title" hasCustomPrompt="1"/>
          </p:nvPr>
        </p:nvSpPr>
        <p:spPr>
          <a:xfrm>
            <a:off x="685800" y="731520"/>
            <a:ext cx="14886432" cy="822960"/>
          </a:xfrm>
          <a:prstGeom prst="rect">
            <a:avLst/>
          </a:prstGeom>
          <a:noFill/>
          <a:ln/>
        </p:spPr>
        <p:txBody>
          <a:bodyPr wrap="square" lIns="0" tIns="0" rIns="0" bIns="0" rtlCol="0" anchor="t"/>
          <a:lstStyle/>
          <a:p>
            <a:pPr algn="l" indent="0" marL="0">
              <a:buNone/>
            </a:pPr>
            <a:r>
              <a:rPr lang="en-US" sz="3600" b="1" dirty="0">
                <a:solidFill>
                  <a:schemeClr val="tx1"/>
                </a:solidFill>
              </a:rPr>
              <a:t>Failed Cases and Defects Found — Status</a:t>
            </a:r>
            <a:endParaRPr lang="en-US" sz="36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685800" y="1828800"/>
          <a:ext cx="14886432" cy="914400"/>
        </p:xfrm>
        <a:graphic>
          <a:graphicData uri="http://schemas.openxmlformats.org/drawingml/2006/table">
            <a:tbl>
              <a:tblPr/>
              <a:tblGrid>
                <a:gridCol w="5486400"/>
                <a:gridCol w="3017520"/>
                <a:gridCol w="4023360"/>
                <a:gridCol w="2359152"/>
              </a:tblGrid>
              <a:tr h="640080">
                <a:tc>
                  <a:txBody>
                    <a:bodyPr/>
                    <a:lstStyle/>
                    <a:p>
                      <a:pPr indent="0" marL="0">
                        <a:buNone/>
                      </a:pPr>
                      <a:r>
                        <a:rPr lang="en-US" sz="1400" b="1" dirty="0">
                          <a:solidFill>
                            <a:srgbClr val="FFFFFF"/>
                          </a:solidFill>
                        </a:rPr>
                        <a:t>Issue found</a:t>
                      </a:r>
                      <a:endParaRPr lang="en-US" sz="14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37474F"/>
                    </a:solidFill>
                  </a:tcPr>
                </a:tc>
                <a:tc>
                  <a:txBody>
                    <a:bodyPr/>
                    <a:lstStyle/>
                    <a:p>
                      <a:pPr indent="0" marL="0">
                        <a:buNone/>
                      </a:pPr>
                      <a:r>
                        <a:rPr lang="en-US" sz="1400" b="1" dirty="0">
                          <a:solidFill>
                            <a:srgbClr val="FFFFFF"/>
                          </a:solidFill>
                        </a:rPr>
                        <a:t>Found by</a:t>
                      </a:r>
                      <a:endParaRPr lang="en-US" sz="14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37474F"/>
                    </a:solidFill>
                  </a:tcPr>
                </a:tc>
                <a:tc>
                  <a:txBody>
                    <a:bodyPr/>
                    <a:lstStyle/>
                    <a:p>
                      <a:pPr indent="0" marL="0">
                        <a:buNone/>
                      </a:pPr>
                      <a:r>
                        <a:rPr lang="en-US" sz="1400" b="1" dirty="0">
                          <a:solidFill>
                            <a:srgbClr val="FFFFFF"/>
                          </a:solidFill>
                        </a:rPr>
                        <a:t>Fix</a:t>
                      </a:r>
                      <a:endParaRPr lang="en-US" sz="14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37474F"/>
                    </a:solidFill>
                  </a:tcPr>
                </a:tc>
                <a:tc>
                  <a:txBody>
                    <a:bodyPr/>
                    <a:lstStyle/>
                    <a:p>
                      <a:pPr indent="0" marL="0">
                        <a:buNone/>
                      </a:pPr>
                      <a:r>
                        <a:rPr lang="en-US" sz="1400" b="1" dirty="0">
                          <a:solidFill>
                            <a:srgbClr val="FFFFFF"/>
                          </a:solidFill>
                        </a:rPr>
                        <a:t>Status</a:t>
                      </a:r>
                      <a:endParaRPr lang="en-US" sz="14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37474F"/>
                    </a:solidFill>
                  </a:tcPr>
                </a:tc>
              </a:tr>
              <a:tr h="640080">
                <a:tc>
                  <a:txBody>
                    <a:bodyPr/>
                    <a:lstStyle/>
                    <a:p>
                      <a:pPr indent="0" marL="0">
                        <a:buNone/>
                      </a:pPr>
                      <a:r>
                        <a:rPr lang="en-US" sz="1700" dirty="0">
                          <a:solidFill>
                            <a:srgbClr val="37474F"/>
                          </a:solidFill>
                        </a:rPr>
                        <a:t>Telnet counter on the dashboard always 0</a:t>
                      </a:r>
                      <a:endParaRPr lang="en-US" sz="17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FFFFF"/>
                    </a:solidFill>
                  </a:tcPr>
                </a:tc>
                <a:tc>
                  <a:txBody>
                    <a:bodyPr/>
                    <a:lstStyle/>
                    <a:p>
                      <a:pPr indent="0" marL="0">
                        <a:buNone/>
                      </a:pPr>
                      <a:r>
                        <a:rPr lang="en-US" sz="1700" dirty="0">
                          <a:solidFill>
                            <a:srgbClr val="37474F"/>
                          </a:solidFill>
                        </a:rPr>
                        <a:t>Functional test (dashboard)</a:t>
                      </a:r>
                      <a:endParaRPr lang="en-US" sz="17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FFFFF"/>
                    </a:solidFill>
                  </a:tcPr>
                </a:tc>
                <a:tc>
                  <a:txBody>
                    <a:bodyPr/>
                    <a:lstStyle/>
                    <a:p>
                      <a:pPr indent="0" marL="0">
                        <a:buNone/>
                      </a:pPr>
                      <a:r>
                        <a:rPr lang="en-US" sz="1700" dirty="0">
                          <a:solidFill>
                            <a:srgbClr val="37474F"/>
                          </a:solidFill>
                        </a:rPr>
                        <a:t>Protocol-key map in the UI</a:t>
                      </a:r>
                      <a:endParaRPr lang="en-US" sz="17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FFFFF"/>
                    </a:solidFill>
                  </a:tcPr>
                </a:tc>
                <a:tc>
                  <a:txBody>
                    <a:bodyPr/>
                    <a:lstStyle/>
                    <a:p>
                      <a:pPr indent="0" marL="0">
                        <a:buNone/>
                      </a:pPr>
                      <a:r>
                        <a:rPr lang="en-US" sz="1700" b="1" dirty="0">
                          <a:solidFill>
                            <a:srgbClr val="2E7D32"/>
                          </a:solidFill>
                        </a:rPr>
                        <a:t>Fixed</a:t>
                      </a:r>
                      <a:endParaRPr lang="en-US" sz="17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FFFFF"/>
                    </a:solidFill>
                  </a:tcPr>
                </a:tc>
              </a:tr>
              <a:tr h="640080">
                <a:tc>
                  <a:txBody>
                    <a:bodyPr/>
                    <a:lstStyle/>
                    <a:p>
                      <a:pPr indent="0" marL="0">
                        <a:buNone/>
                      </a:pPr>
                      <a:r>
                        <a:rPr lang="en-US" sz="1700" dirty="0">
                          <a:solidFill>
                            <a:srgbClr val="37474F"/>
                          </a:solidFill>
                        </a:rPr>
                        <a:t>Detail pages (/attackers/&lt;ip&gt;) showed the list page</a:t>
                      </a:r>
                      <a:endParaRPr lang="en-US" sz="17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AFBFB"/>
                    </a:solidFill>
                  </a:tcPr>
                </a:tc>
                <a:tc>
                  <a:txBody>
                    <a:bodyPr/>
                    <a:lstStyle/>
                    <a:p>
                      <a:pPr indent="0" marL="0">
                        <a:buNone/>
                      </a:pPr>
                      <a:r>
                        <a:rPr lang="en-US" sz="1700" dirty="0">
                          <a:solidFill>
                            <a:srgbClr val="37474F"/>
                          </a:solidFill>
                        </a:rPr>
                        <a:t>UI unit test</a:t>
                      </a:r>
                      <a:endParaRPr lang="en-US" sz="17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AFBFB"/>
                    </a:solidFill>
                  </a:tcPr>
                </a:tc>
                <a:tc>
                  <a:txBody>
                    <a:bodyPr/>
                    <a:lstStyle/>
                    <a:p>
                      <a:pPr indent="0" marL="0">
                        <a:buNone/>
                      </a:pPr>
                      <a:r>
                        <a:rPr lang="en-US" sz="1700" dirty="0">
                          <a:solidFill>
                            <a:srgbClr val="37474F"/>
                          </a:solidFill>
                        </a:rPr>
                        <a:t>List pages made index routes</a:t>
                      </a:r>
                      <a:endParaRPr lang="en-US" sz="17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AFBFB"/>
                    </a:solidFill>
                  </a:tcPr>
                </a:tc>
                <a:tc>
                  <a:txBody>
                    <a:bodyPr/>
                    <a:lstStyle/>
                    <a:p>
                      <a:pPr indent="0" marL="0">
                        <a:buNone/>
                      </a:pPr>
                      <a:r>
                        <a:rPr lang="en-US" sz="1700" b="1" dirty="0">
                          <a:solidFill>
                            <a:srgbClr val="2E7D32"/>
                          </a:solidFill>
                        </a:rPr>
                        <a:t>Fixed</a:t>
                      </a:r>
                      <a:endParaRPr lang="en-US" sz="17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FFFFF"/>
                    </a:solidFill>
                  </a:tcPr>
                </a:tc>
              </a:tr>
              <a:tr h="640080">
                <a:tc>
                  <a:txBody>
                    <a:bodyPr/>
                    <a:lstStyle/>
                    <a:p>
                      <a:pPr indent="0" marL="0">
                        <a:buNone/>
                      </a:pPr>
                      <a:r>
                        <a:rPr lang="en-US" sz="1700" dirty="0">
                          <a:solidFill>
                            <a:srgbClr val="37474F"/>
                          </a:solidFill>
                        </a:rPr>
                        <a:t>Events with a NUL byte silently lost</a:t>
                      </a:r>
                      <a:endParaRPr lang="en-US" sz="17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FFFFF"/>
                    </a:solidFill>
                  </a:tcPr>
                </a:tc>
                <a:tc>
                  <a:txBody>
                    <a:bodyPr/>
                    <a:lstStyle/>
                    <a:p>
                      <a:pPr indent="0" marL="0">
                        <a:buNone/>
                      </a:pPr>
                      <a:r>
                        <a:rPr lang="en-US" sz="1700" dirty="0">
                          <a:solidFill>
                            <a:srgbClr val="37474F"/>
                          </a:solidFill>
                        </a:rPr>
                        <a:t>Integration test</a:t>
                      </a:r>
                      <a:endParaRPr lang="en-US" sz="17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FFFFF"/>
                    </a:solidFill>
                  </a:tcPr>
                </a:tc>
                <a:tc>
                  <a:txBody>
                    <a:bodyPr/>
                    <a:lstStyle/>
                    <a:p>
                      <a:pPr indent="0" marL="0">
                        <a:buNone/>
                      </a:pPr>
                      <a:r>
                        <a:rPr lang="en-US" sz="1700" dirty="0">
                          <a:solidFill>
                            <a:srgbClr val="37474F"/>
                          </a:solidFill>
                        </a:rPr>
                        <a:t>sanitize() in the logger</a:t>
                      </a:r>
                      <a:endParaRPr lang="en-US" sz="17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FFFFF"/>
                    </a:solidFill>
                  </a:tcPr>
                </a:tc>
                <a:tc>
                  <a:txBody>
                    <a:bodyPr/>
                    <a:lstStyle/>
                    <a:p>
                      <a:pPr indent="0" marL="0">
                        <a:buNone/>
                      </a:pPr>
                      <a:r>
                        <a:rPr lang="en-US" sz="1700" b="1" dirty="0">
                          <a:solidFill>
                            <a:srgbClr val="2E7D32"/>
                          </a:solidFill>
                        </a:rPr>
                        <a:t>Fixed</a:t>
                      </a:r>
                      <a:endParaRPr lang="en-US" sz="17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FFFFF"/>
                    </a:solidFill>
                  </a:tcPr>
                </a:tc>
              </a:tr>
              <a:tr h="640080">
                <a:tc>
                  <a:txBody>
                    <a:bodyPr/>
                    <a:lstStyle/>
                    <a:p>
                      <a:pPr indent="0" marL="0">
                        <a:buNone/>
                      </a:pPr>
                      <a:r>
                        <a:rPr lang="en-US" sz="1700" dirty="0">
                          <a:solidFill>
                            <a:srgbClr val="37474F"/>
                          </a:solidFill>
                        </a:rPr>
                        <a:t>wget 1.2.3.4/x (no scheme) not logged as a download</a:t>
                      </a:r>
                      <a:endParaRPr lang="en-US" sz="17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AFBFB"/>
                    </a:solidFill>
                  </a:tcPr>
                </a:tc>
                <a:tc>
                  <a:txBody>
                    <a:bodyPr/>
                    <a:lstStyle/>
                    <a:p>
                      <a:pPr indent="0" marL="0">
                        <a:buNone/>
                      </a:pPr>
                      <a:r>
                        <a:rPr lang="en-US" sz="1700" dirty="0">
                          <a:solidFill>
                            <a:srgbClr val="37474F"/>
                          </a:solidFill>
                        </a:rPr>
                        <a:t>Unit test</a:t>
                      </a:r>
                      <a:endParaRPr lang="en-US" sz="17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AFBFB"/>
                    </a:solidFill>
                  </a:tcPr>
                </a:tc>
                <a:tc>
                  <a:txBody>
                    <a:bodyPr/>
                    <a:lstStyle/>
                    <a:p>
                      <a:pPr indent="0" marL="0">
                        <a:buNone/>
                      </a:pPr>
                      <a:r>
                        <a:rPr lang="en-US" sz="1700" dirty="0">
                          <a:solidFill>
                            <a:srgbClr val="37474F"/>
                          </a:solidFill>
                        </a:rPr>
                        <a:t>URL normalisation in the shell</a:t>
                      </a:r>
                      <a:endParaRPr lang="en-US" sz="17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AFBFB"/>
                    </a:solidFill>
                  </a:tcPr>
                </a:tc>
                <a:tc>
                  <a:txBody>
                    <a:bodyPr/>
                    <a:lstStyle/>
                    <a:p>
                      <a:pPr indent="0" marL="0">
                        <a:buNone/>
                      </a:pPr>
                      <a:r>
                        <a:rPr lang="en-US" sz="1700" b="1" dirty="0">
                          <a:solidFill>
                            <a:srgbClr val="2E7D32"/>
                          </a:solidFill>
                        </a:rPr>
                        <a:t>Fixed</a:t>
                      </a:r>
                      <a:endParaRPr lang="en-US" sz="17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FFFFF"/>
                    </a:solidFill>
                  </a:tcPr>
                </a:tc>
              </a:tr>
              <a:tr h="640080">
                <a:tc>
                  <a:txBody>
                    <a:bodyPr/>
                    <a:lstStyle/>
                    <a:p>
                      <a:pPr indent="0" marL="0">
                        <a:buNone/>
                      </a:pPr>
                      <a:r>
                        <a:rPr lang="en-US" sz="1700" dirty="0">
                          <a:solidFill>
                            <a:srgbClr val="37474F"/>
                          </a:solidFill>
                        </a:rPr>
                        <a:t>IOC hit counts grew on every engine pass</a:t>
                      </a:r>
                      <a:endParaRPr lang="en-US" sz="17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FFFFF"/>
                    </a:solidFill>
                  </a:tcPr>
                </a:tc>
                <a:tc>
                  <a:txBody>
                    <a:bodyPr/>
                    <a:lstStyle/>
                    <a:p>
                      <a:pPr indent="0" marL="0">
                        <a:buNone/>
                      </a:pPr>
                      <a:r>
                        <a:rPr lang="en-US" sz="1700" dirty="0">
                          <a:solidFill>
                            <a:srgbClr val="37474F"/>
                          </a:solidFill>
                        </a:rPr>
                        <a:t>Functional test</a:t>
                      </a:r>
                      <a:endParaRPr lang="en-US" sz="17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FFFFF"/>
                    </a:solidFill>
                  </a:tcPr>
                </a:tc>
                <a:tc>
                  <a:txBody>
                    <a:bodyPr/>
                    <a:lstStyle/>
                    <a:p>
                      <a:pPr indent="0" marL="0">
                        <a:buNone/>
                      </a:pPr>
                      <a:r>
                        <a:rPr lang="en-US" sz="1700" dirty="0">
                          <a:solidFill>
                            <a:srgbClr val="37474F"/>
                          </a:solidFill>
                        </a:rPr>
                        <a:t>ioc_sightings table</a:t>
                      </a:r>
                      <a:endParaRPr lang="en-US" sz="17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FFFFF"/>
                    </a:solidFill>
                  </a:tcPr>
                </a:tc>
                <a:tc>
                  <a:txBody>
                    <a:bodyPr/>
                    <a:lstStyle/>
                    <a:p>
                      <a:pPr indent="0" marL="0">
                        <a:buNone/>
                      </a:pPr>
                      <a:r>
                        <a:rPr lang="en-US" sz="1700" b="1" dirty="0">
                          <a:solidFill>
                            <a:srgbClr val="2E7D32"/>
                          </a:solidFill>
                        </a:rPr>
                        <a:t>Fixed</a:t>
                      </a:r>
                      <a:endParaRPr lang="en-US" sz="17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FFFFF"/>
                    </a:solidFill>
                  </a:tcPr>
                </a:tc>
              </a:tr>
              <a:tr h="640080">
                <a:tc>
                  <a:txBody>
                    <a:bodyPr/>
                    <a:lstStyle/>
                    <a:p>
                      <a:pPr indent="0" marL="0">
                        <a:buNone/>
                      </a:pPr>
                      <a:r>
                        <a:rPr lang="en-US" sz="1700" dirty="0">
                          <a:solidFill>
                            <a:srgbClr val="37474F"/>
                          </a:solidFill>
                        </a:rPr>
                        <a:t>Report ranked severity alphabetically</a:t>
                      </a:r>
                      <a:endParaRPr lang="en-US" sz="17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AFBFB"/>
                    </a:solidFill>
                  </a:tcPr>
                </a:tc>
                <a:tc>
                  <a:txBody>
                    <a:bodyPr/>
                    <a:lstStyle/>
                    <a:p>
                      <a:pPr indent="0" marL="0">
                        <a:buNone/>
                      </a:pPr>
                      <a:r>
                        <a:rPr lang="en-US" sz="1700" dirty="0">
                          <a:solidFill>
                            <a:srgbClr val="37474F"/>
                          </a:solidFill>
                        </a:rPr>
                        <a:t>Unit test</a:t>
                      </a:r>
                      <a:endParaRPr lang="en-US" sz="17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AFBFB"/>
                    </a:solidFill>
                  </a:tcPr>
                </a:tc>
                <a:tc>
                  <a:txBody>
                    <a:bodyPr/>
                    <a:lstStyle/>
                    <a:p>
                      <a:pPr indent="0" marL="0">
                        <a:buNone/>
                      </a:pPr>
                      <a:r>
                        <a:rPr lang="en-US" sz="1700" dirty="0">
                          <a:solidFill>
                            <a:srgbClr val="37474F"/>
                          </a:solidFill>
                        </a:rPr>
                        <a:t>Ranked with array_position()</a:t>
                      </a:r>
                      <a:endParaRPr lang="en-US" sz="17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AFBFB"/>
                    </a:solidFill>
                  </a:tcPr>
                </a:tc>
                <a:tc>
                  <a:txBody>
                    <a:bodyPr/>
                    <a:lstStyle/>
                    <a:p>
                      <a:pPr indent="0" marL="0">
                        <a:buNone/>
                      </a:pPr>
                      <a:r>
                        <a:rPr lang="en-US" sz="1700" b="1" dirty="0">
                          <a:solidFill>
                            <a:srgbClr val="2E7D32"/>
                          </a:solidFill>
                        </a:rPr>
                        <a:t>Fixed</a:t>
                      </a:r>
                      <a:endParaRPr lang="en-US" sz="17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FFFFF"/>
                    </a:solidFill>
                  </a:tcPr>
                </a:tc>
              </a:tr>
              <a:tr h="640080">
                <a:tc>
                  <a:txBody>
                    <a:bodyPr/>
                    <a:lstStyle/>
                    <a:p>
                      <a:pPr indent="0" marL="0">
                        <a:buNone/>
                      </a:pPr>
                      <a:r>
                        <a:rPr lang="en-US" sz="1700" dirty="0">
                          <a:solidFill>
                            <a:srgbClr val="37474F"/>
                          </a:solidFill>
                        </a:rPr>
                        <a:t>Live Telegram / SMTP delivery</a:t>
                      </a:r>
                      <a:endParaRPr lang="en-US" sz="17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FFFFF"/>
                    </a:solidFill>
                  </a:tcPr>
                </a:tc>
                <a:tc>
                  <a:txBody>
                    <a:bodyPr/>
                    <a:lstStyle/>
                    <a:p>
                      <a:pPr indent="0" marL="0">
                        <a:buNone/>
                      </a:pPr>
                      <a:r>
                        <a:rPr lang="en-US" sz="1700" dirty="0">
                          <a:solidFill>
                            <a:srgbClr val="37474F"/>
                          </a:solidFill>
                        </a:rPr>
                        <a:t>—</a:t>
                      </a:r>
                      <a:endParaRPr lang="en-US" sz="17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FFFFF"/>
                    </a:solidFill>
                  </a:tcPr>
                </a:tc>
                <a:tc>
                  <a:txBody>
                    <a:bodyPr/>
                    <a:lstStyle/>
                    <a:p>
                      <a:pPr indent="0" marL="0">
                        <a:buNone/>
                      </a:pPr>
                      <a:r>
                        <a:rPr lang="en-US" sz="1700" dirty="0">
                          <a:solidFill>
                            <a:srgbClr val="37474F"/>
                          </a:solidFill>
                        </a:rPr>
                        <a:t>Needs real credentials</a:t>
                      </a:r>
                      <a:endParaRPr lang="en-US" sz="17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FFFFF"/>
                    </a:solidFill>
                  </a:tcPr>
                </a:tc>
                <a:tc>
                  <a:txBody>
                    <a:bodyPr/>
                    <a:lstStyle/>
                    <a:p>
                      <a:pPr indent="0" marL="0">
                        <a:buNone/>
                      </a:pPr>
                      <a:r>
                        <a:rPr lang="en-US" sz="1700" b="1" dirty="0">
                          <a:solidFill>
                            <a:srgbClr val="E09B00"/>
                          </a:solidFill>
                        </a:rPr>
                        <a:t>Planned (100%)</a:t>
                      </a:r>
                      <a:endParaRPr lang="en-US" sz="17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tcPr>
                </a:tc>
              </a:tr>
              <a:tr h="640080">
                <a:tc>
                  <a:txBody>
                    <a:bodyPr/>
                    <a:lstStyle/>
                    <a:p>
                      <a:pPr indent="0" marL="0">
                        <a:buNone/>
                      </a:pPr>
                      <a:r>
                        <a:rPr lang="en-US" sz="1700" dirty="0">
                          <a:solidFill>
                            <a:srgbClr val="37474F"/>
                          </a:solidFill>
                        </a:rPr>
                        <a:t>Load test (events per second)</a:t>
                      </a:r>
                      <a:endParaRPr lang="en-US" sz="17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AFBFB"/>
                    </a:solidFill>
                  </a:tcPr>
                </a:tc>
                <a:tc>
                  <a:txBody>
                    <a:bodyPr/>
                    <a:lstStyle/>
                    <a:p>
                      <a:pPr indent="0" marL="0">
                        <a:buNone/>
                      </a:pPr>
                      <a:r>
                        <a:rPr lang="en-US" sz="1700" dirty="0">
                          <a:solidFill>
                            <a:srgbClr val="37474F"/>
                          </a:solidFill>
                        </a:rPr>
                        <a:t>—</a:t>
                      </a:r>
                      <a:endParaRPr lang="en-US" sz="17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AFBFB"/>
                    </a:solidFill>
                  </a:tcPr>
                </a:tc>
                <a:tc>
                  <a:txBody>
                    <a:bodyPr/>
                    <a:lstStyle/>
                    <a:p>
                      <a:pPr indent="0" marL="0">
                        <a:buNone/>
                      </a:pPr>
                      <a:r>
                        <a:rPr lang="en-US" sz="1700" dirty="0">
                          <a:solidFill>
                            <a:srgbClr val="37474F"/>
                          </a:solidFill>
                        </a:rPr>
                        <a:t>Needs public VPS data</a:t>
                      </a:r>
                      <a:endParaRPr lang="en-US" sz="17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AFBFB"/>
                    </a:solidFill>
                  </a:tcPr>
                </a:tc>
                <a:tc>
                  <a:txBody>
                    <a:bodyPr/>
                    <a:lstStyle/>
                    <a:p>
                      <a:pPr indent="0" marL="0">
                        <a:buNone/>
                      </a:pPr>
                      <a:r>
                        <a:rPr lang="en-US" sz="1700" b="1" dirty="0">
                          <a:solidFill>
                            <a:srgbClr val="E09B00"/>
                          </a:solidFill>
                        </a:rPr>
                        <a:t>Planned (100%)</a:t>
                      </a:r>
                      <a:endParaRPr lang="en-US" sz="17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tcPr>
                </a:tc>
              </a:tr>
            </a:tbl>
          </a:graphicData>
        </a:graphic>
      </p:graphicFrame>
      <p:sp>
        <p:nvSpPr>
          <p:cNvPr id="6" name="Text 2"/>
          <p:cNvSpPr txBox="1"/>
          <p:nvPr/>
        </p:nvSpPr>
        <p:spPr>
          <a:xfrm>
            <a:off x="685800" y="7863840"/>
            <a:ext cx="10972800" cy="411480"/>
          </a:xfrm>
          <a:prstGeom prst="rect">
            <a:avLst/>
          </a:prstGeom>
          <a:noFill/>
          <a:ln/>
        </p:spPr>
        <p:txBody>
          <a:bodyPr wrap="square" lIns="0" tIns="0" rIns="0" bIns="0" rtlCol="0" anchor="t"/>
          <a:lstStyle/>
          <a:p>
            <a:pPr indent="0" marL="0">
              <a:buNone/>
            </a:pPr>
            <a:r>
              <a:rPr lang="en-US" sz="1600" i="1" dirty="0">
                <a:solidFill>
                  <a:srgbClr val="78909C"/>
                </a:solidFill>
              </a:rPr>
              <a:t>Every fix has a regression test, so the defect cannot come back unnoticed.</a:t>
            </a:r>
            <a:endParaRPr lang="en-US" sz="1600" dirty="0"/>
          </a:p>
        </p:txBody>
      </p:sp>
      <p:sp>
        <p:nvSpPr>
          <p:cNvPr id="25" name="Slide Number Placeholder 0"/>
          <p:cNvSpPr>
            <a:spLocks noGrp="1"/>
          </p:cNvSpPr>
          <p:nvPr>
            <p:ph type="sldNum" sz="quarter" idx="4294967295"/>
          </p:nvPr>
        </p:nvSpPr>
        <p:spPr>
          <a:xfrm>
            <a:off x="14794992" y="8549640"/>
            <a:ext cx="91440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3"/>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685800" y="2743200"/>
            <a:ext cx="5486400" cy="1371600"/>
          </a:xfrm>
          <a:prstGeom prst="rect">
            <a:avLst/>
          </a:prstGeom>
          <a:noFill/>
          <a:ln/>
        </p:spPr>
        <p:txBody>
          <a:bodyPr wrap="square" lIns="0" tIns="0" rIns="0" bIns="0" rtlCol="0"/>
          <a:lstStyle/>
          <a:p>
            <a:pPr indent="0" marL="0">
              <a:buNone/>
            </a:pPr>
            <a:r>
              <a:rPr lang="en-US" sz="8000" b="1" dirty="0">
                <a:solidFill>
                  <a:schemeClr val="accent2"/>
                </a:solidFill>
              </a:rPr>
              <a:t>05</a:t>
            </a:r>
            <a:endParaRPr lang="en-US" sz="8000" dirty="0"/>
          </a:p>
        </p:txBody>
      </p:sp>
      <p:sp>
        <p:nvSpPr>
          <p:cNvPr id="3" name="Text 0"/>
          <p:cNvSpPr/>
          <p:nvPr>
            <p:ph idx="101" type="title" hasCustomPrompt="1"/>
          </p:nvPr>
        </p:nvSpPr>
        <p:spPr>
          <a:xfrm>
            <a:off x="685800" y="4206240"/>
            <a:ext cx="12801600" cy="1097280"/>
          </a:xfrm>
          <a:prstGeom prst="rect">
            <a:avLst/>
          </a:prstGeom>
          <a:noFill/>
          <a:ln/>
        </p:spPr>
        <p:txBody>
          <a:bodyPr wrap="square" lIns="0" tIns="0" rIns="0" bIns="0" rtlCol="0"/>
          <a:lstStyle/>
          <a:p>
            <a:pPr algn="l" indent="0" marL="0">
              <a:buNone/>
            </a:pPr>
            <a:r>
              <a:rPr lang="en-US" sz="4800" b="1" dirty="0">
                <a:solidFill>
                  <a:schemeClr val="bg1"/>
                </a:solidFill>
              </a:rPr>
              <a:t>Automated Testing</a:t>
            </a:r>
            <a:endParaRPr lang="en-US" sz="4800" dirty="0"/>
          </a:p>
        </p:txBody>
      </p:sp>
      <p:sp>
        <p:nvSpPr>
          <p:cNvPr id="4" name="Text 0"/>
          <p:cNvSpPr/>
          <p:nvPr>
            <p:ph idx="102" type="body" hasCustomPrompt="1"/>
          </p:nvPr>
        </p:nvSpPr>
        <p:spPr>
          <a:xfrm>
            <a:off x="685800" y="5349240"/>
            <a:ext cx="12801600" cy="731520"/>
          </a:xfrm>
          <a:prstGeom prst="rect">
            <a:avLst/>
          </a:prstGeom>
          <a:noFill/>
          <a:ln/>
        </p:spPr>
        <p:txBody>
          <a:bodyPr wrap="square" lIns="0" tIns="0" rIns="0" bIns="0" rtlCol="0"/>
          <a:lstStyle/>
          <a:p>
            <a:pPr indent="0" marL="0">
              <a:buNone/>
            </a:pPr>
            <a:r>
              <a:rPr lang="en-US" sz="2000" dirty="0">
                <a:solidFill>
                  <a:schemeClr val="accent6"/>
                </a:solidFill>
              </a:rPr>
              <a:t>Strategy, tools, examples, live run and traceability</a:t>
            </a:r>
            <a:endParaRPr lang="en-US" sz="2000" dirty="0"/>
          </a:p>
        </p:txBody>
      </p:sp>
      <p:sp>
        <p:nvSpPr>
          <p:cNvPr id="25" name="Slide Number Placeholder 0"/>
          <p:cNvSpPr>
            <a:spLocks noGrp="1"/>
          </p:cNvSpPr>
          <p:nvPr>
            <p:ph type="sldNum" sz="quarter" idx="4294967295"/>
          </p:nvPr>
        </p:nvSpPr>
        <p:spPr>
          <a:xfrm>
            <a:off x="14794992" y="8549640"/>
            <a:ext cx="91440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3"/>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685800" y="365760"/>
            <a:ext cx="10972800" cy="365760"/>
          </a:xfrm>
          <a:prstGeom prst="rect">
            <a:avLst/>
          </a:prstGeom>
          <a:noFill/>
          <a:ln/>
        </p:spPr>
        <p:txBody>
          <a:bodyPr wrap="square" lIns="0" tIns="0" rIns="0" bIns="0" rtlCol="0"/>
          <a:lstStyle/>
          <a:p>
            <a:pPr indent="0" marL="0">
              <a:buNone/>
            </a:pPr>
            <a:r>
              <a:rPr lang="en-US" sz="1200" b="1" spc="200" kern="0" dirty="0">
                <a:solidFill>
                  <a:schemeClr val="accent3"/>
                </a:solidFill>
              </a:rPr>
              <a:t>05 — AUTOMATED TESTING</a:t>
            </a:r>
            <a:endParaRPr lang="en-US" sz="1200" dirty="0"/>
          </a:p>
        </p:txBody>
      </p:sp>
      <p:sp>
        <p:nvSpPr>
          <p:cNvPr id="3" name="Text 0"/>
          <p:cNvSpPr/>
          <p:nvPr>
            <p:ph idx="101" type="title" hasCustomPrompt="1"/>
          </p:nvPr>
        </p:nvSpPr>
        <p:spPr>
          <a:xfrm>
            <a:off x="685800" y="731520"/>
            <a:ext cx="14886432" cy="822960"/>
          </a:xfrm>
          <a:prstGeom prst="rect">
            <a:avLst/>
          </a:prstGeom>
          <a:noFill/>
          <a:ln/>
        </p:spPr>
        <p:txBody>
          <a:bodyPr wrap="square" lIns="0" tIns="0" rIns="0" bIns="0" rtlCol="0" anchor="t"/>
          <a:lstStyle/>
          <a:p>
            <a:pPr algn="l" indent="0" marL="0">
              <a:buNone/>
            </a:pPr>
            <a:r>
              <a:rPr lang="en-US" sz="3600" b="1" dirty="0">
                <a:solidFill>
                  <a:schemeClr val="tx1"/>
                </a:solidFill>
              </a:rPr>
              <a:t>Automated Testing Strategy</a:t>
            </a:r>
            <a:endParaRPr lang="en-US" sz="3600" dirty="0"/>
          </a:p>
        </p:txBody>
      </p:sp>
      <p:sp>
        <p:nvSpPr>
          <p:cNvPr id="5" name="pytest 8"/>
          <p:cNvSpPr/>
          <p:nvPr/>
        </p:nvSpPr>
        <p:spPr>
          <a:xfrm>
            <a:off x="685800" y="1828800"/>
            <a:ext cx="7863840" cy="1143000"/>
          </a:xfrm>
          <a:prstGeom prst="roundRect">
            <a:avLst>
              <a:gd name="adj" fmla="val 6400"/>
            </a:avLst>
          </a:prstGeom>
          <a:solidFill>
            <a:srgbClr val="FFFFFF"/>
          </a:solidFill>
          <a:ln w="9525">
            <a:solidFill>
              <a:srgbClr val="CFD8DC"/>
            </a:solidFill>
            <a:prstDash val="solid"/>
          </a:ln>
        </p:spPr>
      </p:sp>
      <p:sp>
        <p:nvSpPr>
          <p:cNvPr id="6" name="pytest 8 circle"/>
          <p:cNvSpPr/>
          <p:nvPr/>
        </p:nvSpPr>
        <p:spPr>
          <a:xfrm>
            <a:off x="914400" y="2057400"/>
            <a:ext cx="685800" cy="685800"/>
          </a:xfrm>
          <a:prstGeom prst="ellipse">
            <a:avLst/>
          </a:prstGeom>
          <a:solidFill>
            <a:srgbClr val="455A64"/>
          </a:solidFill>
          <a:ln w="12700">
            <a:solidFill>
              <a:srgbClr val="455A64"/>
            </a:solidFill>
            <a:prstDash val="solid"/>
          </a:ln>
        </p:spPr>
      </p:sp>
      <p:pic>
        <p:nvPicPr>
          <p:cNvPr id="7" name="pytest 8 icon" descr="preencoded.png">    </p:cNvPr>
          <p:cNvPicPr>
            <a:picLocks noChangeAspect="1"/>
          </p:cNvPicPr>
          <p:nvPr/>
        </p:nvPicPr>
        <p:blipFill>
          <a:blip r:embed="rId1"/>
          <a:stretch>
            <a:fillRect/>
          </a:stretch>
        </p:blipFill>
        <p:spPr>
          <a:xfrm>
            <a:off x="1099566" y="2242566"/>
            <a:ext cx="315468" cy="315468"/>
          </a:xfrm>
          <a:prstGeom prst="rect">
            <a:avLst/>
          </a:prstGeom>
        </p:spPr>
      </p:pic>
      <p:sp>
        <p:nvSpPr>
          <p:cNvPr id="8" name="Text 4"/>
          <p:cNvSpPr txBox="1"/>
          <p:nvPr/>
        </p:nvSpPr>
        <p:spPr>
          <a:xfrm>
            <a:off x="1828800" y="1965960"/>
            <a:ext cx="6492240" cy="411480"/>
          </a:xfrm>
          <a:prstGeom prst="rect">
            <a:avLst/>
          </a:prstGeom>
          <a:noFill/>
          <a:ln/>
        </p:spPr>
        <p:txBody>
          <a:bodyPr wrap="square" lIns="0" tIns="0" rIns="0" bIns="0" rtlCol="0" anchor="t"/>
          <a:lstStyle/>
          <a:p>
            <a:pPr indent="0" marL="0">
              <a:buNone/>
            </a:pPr>
            <a:r>
              <a:rPr lang="en-US" sz="1800" b="1" dirty="0">
                <a:solidFill>
                  <a:srgbClr val="263238"/>
                </a:solidFill>
              </a:rPr>
              <a:t>pytest 8</a:t>
            </a:r>
            <a:endParaRPr lang="en-US" sz="1800" dirty="0"/>
          </a:p>
        </p:txBody>
      </p:sp>
      <p:sp>
        <p:nvSpPr>
          <p:cNvPr id="9" name="Text 5"/>
          <p:cNvSpPr txBox="1"/>
          <p:nvPr/>
        </p:nvSpPr>
        <p:spPr>
          <a:xfrm>
            <a:off x="1828800" y="2377440"/>
            <a:ext cx="6492240" cy="502920"/>
          </a:xfrm>
          <a:prstGeom prst="rect">
            <a:avLst/>
          </a:prstGeom>
          <a:noFill/>
          <a:ln/>
        </p:spPr>
        <p:txBody>
          <a:bodyPr wrap="square" lIns="0" tIns="0" rIns="0" bIns="0" rtlCol="0" anchor="t"/>
          <a:lstStyle/>
          <a:p>
            <a:pPr indent="0" marL="0">
              <a:buNone/>
            </a:pPr>
            <a:r>
              <a:rPr lang="en-US" sz="1400" dirty="0">
                <a:solidFill>
                  <a:srgbClr val="37474F"/>
                </a:solidFill>
              </a:rPr>
              <a:t>78 backend tests: parsers, shell, capture, YARA, rules, MITRE, STIX, reports, ML labels</a:t>
            </a:r>
            <a:endParaRPr lang="en-US" sz="1400" dirty="0"/>
          </a:p>
        </p:txBody>
      </p:sp>
      <p:sp>
        <p:nvSpPr>
          <p:cNvPr id="10" name="FastAPI TestClient + httpx"/>
          <p:cNvSpPr/>
          <p:nvPr/>
        </p:nvSpPr>
        <p:spPr>
          <a:xfrm>
            <a:off x="685800" y="3154680"/>
            <a:ext cx="7863840" cy="1143000"/>
          </a:xfrm>
          <a:prstGeom prst="roundRect">
            <a:avLst>
              <a:gd name="adj" fmla="val 6400"/>
            </a:avLst>
          </a:prstGeom>
          <a:solidFill>
            <a:srgbClr val="FFFFFF"/>
          </a:solidFill>
          <a:ln w="9525">
            <a:solidFill>
              <a:srgbClr val="CFD8DC"/>
            </a:solidFill>
            <a:prstDash val="solid"/>
          </a:ln>
        </p:spPr>
      </p:sp>
      <p:sp>
        <p:nvSpPr>
          <p:cNvPr id="11" name="FastAPI TestClient + httpx circle"/>
          <p:cNvSpPr/>
          <p:nvPr/>
        </p:nvSpPr>
        <p:spPr>
          <a:xfrm>
            <a:off x="914400" y="3383280"/>
            <a:ext cx="685800" cy="685800"/>
          </a:xfrm>
          <a:prstGeom prst="ellipse">
            <a:avLst/>
          </a:prstGeom>
          <a:solidFill>
            <a:srgbClr val="455A64"/>
          </a:solidFill>
          <a:ln w="12700">
            <a:solidFill>
              <a:srgbClr val="455A64"/>
            </a:solidFill>
            <a:prstDash val="solid"/>
          </a:ln>
        </p:spPr>
      </p:sp>
      <p:pic>
        <p:nvPicPr>
          <p:cNvPr id="12" name="FastAPI TestClient + httpx icon" descr="preencoded.png">    </p:cNvPr>
          <p:cNvPicPr>
            <a:picLocks noChangeAspect="1"/>
          </p:cNvPicPr>
          <p:nvPr/>
        </p:nvPicPr>
        <p:blipFill>
          <a:blip r:embed="rId2"/>
          <a:stretch>
            <a:fillRect/>
          </a:stretch>
        </p:blipFill>
        <p:spPr>
          <a:xfrm>
            <a:off x="1099566" y="3568446"/>
            <a:ext cx="315468" cy="315468"/>
          </a:xfrm>
          <a:prstGeom prst="rect">
            <a:avLst/>
          </a:prstGeom>
        </p:spPr>
      </p:pic>
      <p:sp>
        <p:nvSpPr>
          <p:cNvPr id="13" name="Text 8"/>
          <p:cNvSpPr txBox="1"/>
          <p:nvPr/>
        </p:nvSpPr>
        <p:spPr>
          <a:xfrm>
            <a:off x="1828800" y="3291840"/>
            <a:ext cx="6492240" cy="411480"/>
          </a:xfrm>
          <a:prstGeom prst="rect">
            <a:avLst/>
          </a:prstGeom>
          <a:noFill/>
          <a:ln/>
        </p:spPr>
        <p:txBody>
          <a:bodyPr wrap="square" lIns="0" tIns="0" rIns="0" bIns="0" rtlCol="0" anchor="t"/>
          <a:lstStyle/>
          <a:p>
            <a:pPr indent="0" marL="0">
              <a:buNone/>
            </a:pPr>
            <a:r>
              <a:rPr lang="en-US" sz="1800" b="1" dirty="0">
                <a:solidFill>
                  <a:srgbClr val="263238"/>
                </a:solidFill>
              </a:rPr>
              <a:t>FastAPI TestClient + httpx</a:t>
            </a:r>
            <a:endParaRPr lang="en-US" sz="1800" dirty="0"/>
          </a:p>
        </p:txBody>
      </p:sp>
      <p:sp>
        <p:nvSpPr>
          <p:cNvPr id="14" name="Text 9"/>
          <p:cNvSpPr txBox="1"/>
          <p:nvPr/>
        </p:nvSpPr>
        <p:spPr>
          <a:xfrm>
            <a:off x="1828800" y="3703320"/>
            <a:ext cx="6492240" cy="502920"/>
          </a:xfrm>
          <a:prstGeom prst="rect">
            <a:avLst/>
          </a:prstGeom>
          <a:noFill/>
          <a:ln/>
        </p:spPr>
        <p:txBody>
          <a:bodyPr wrap="square" lIns="0" tIns="0" rIns="0" bIns="0" rtlCol="0" anchor="t"/>
          <a:lstStyle/>
          <a:p>
            <a:pPr indent="0" marL="0">
              <a:buNone/>
            </a:pPr>
            <a:r>
              <a:rPr lang="en-US" sz="1400" dirty="0">
                <a:solidFill>
                  <a:srgbClr val="37474F"/>
                </a:solidFill>
              </a:rPr>
              <a:t>Every REST endpoint, exports, security of responses, WebSocket relay</a:t>
            </a:r>
            <a:endParaRPr lang="en-US" sz="1400" dirty="0"/>
          </a:p>
        </p:txBody>
      </p:sp>
      <p:sp>
        <p:nvSpPr>
          <p:cNvPr id="15" name="stix2 (OASIS)"/>
          <p:cNvSpPr/>
          <p:nvPr/>
        </p:nvSpPr>
        <p:spPr>
          <a:xfrm>
            <a:off x="685800" y="4480560"/>
            <a:ext cx="7863840" cy="1143000"/>
          </a:xfrm>
          <a:prstGeom prst="roundRect">
            <a:avLst>
              <a:gd name="adj" fmla="val 6400"/>
            </a:avLst>
          </a:prstGeom>
          <a:solidFill>
            <a:srgbClr val="FFFFFF"/>
          </a:solidFill>
          <a:ln w="9525">
            <a:solidFill>
              <a:srgbClr val="CFD8DC"/>
            </a:solidFill>
            <a:prstDash val="solid"/>
          </a:ln>
        </p:spPr>
      </p:sp>
      <p:sp>
        <p:nvSpPr>
          <p:cNvPr id="16" name="stix2 (OASIS) circle"/>
          <p:cNvSpPr/>
          <p:nvPr/>
        </p:nvSpPr>
        <p:spPr>
          <a:xfrm>
            <a:off x="914400" y="4709160"/>
            <a:ext cx="685800" cy="685800"/>
          </a:xfrm>
          <a:prstGeom prst="ellipse">
            <a:avLst/>
          </a:prstGeom>
          <a:solidFill>
            <a:srgbClr val="455A64"/>
          </a:solidFill>
          <a:ln w="12700">
            <a:solidFill>
              <a:srgbClr val="455A64"/>
            </a:solidFill>
            <a:prstDash val="solid"/>
          </a:ln>
        </p:spPr>
      </p:sp>
      <p:pic>
        <p:nvPicPr>
          <p:cNvPr id="17" name="stix2 (OASIS) icon" descr="preencoded.png">    </p:cNvPr>
          <p:cNvPicPr>
            <a:picLocks noChangeAspect="1"/>
          </p:cNvPicPr>
          <p:nvPr/>
        </p:nvPicPr>
        <p:blipFill>
          <a:blip r:embed="rId3"/>
          <a:stretch>
            <a:fillRect/>
          </a:stretch>
        </p:blipFill>
        <p:spPr>
          <a:xfrm>
            <a:off x="1099566" y="4894326"/>
            <a:ext cx="315468" cy="315468"/>
          </a:xfrm>
          <a:prstGeom prst="rect">
            <a:avLst/>
          </a:prstGeom>
        </p:spPr>
      </p:pic>
      <p:sp>
        <p:nvSpPr>
          <p:cNvPr id="18" name="Text 12"/>
          <p:cNvSpPr txBox="1"/>
          <p:nvPr/>
        </p:nvSpPr>
        <p:spPr>
          <a:xfrm>
            <a:off x="1828800" y="4617720"/>
            <a:ext cx="6492240" cy="411480"/>
          </a:xfrm>
          <a:prstGeom prst="rect">
            <a:avLst/>
          </a:prstGeom>
          <a:noFill/>
          <a:ln/>
        </p:spPr>
        <p:txBody>
          <a:bodyPr wrap="square" lIns="0" tIns="0" rIns="0" bIns="0" rtlCol="0" anchor="t"/>
          <a:lstStyle/>
          <a:p>
            <a:pPr indent="0" marL="0">
              <a:buNone/>
            </a:pPr>
            <a:r>
              <a:rPr lang="en-US" sz="1800" b="1" dirty="0">
                <a:solidFill>
                  <a:srgbClr val="263238"/>
                </a:solidFill>
              </a:rPr>
              <a:t>stix2 (OASIS)</a:t>
            </a:r>
            <a:endParaRPr lang="en-US" sz="1800" dirty="0"/>
          </a:p>
        </p:txBody>
      </p:sp>
      <p:sp>
        <p:nvSpPr>
          <p:cNvPr id="19" name="Text 13"/>
          <p:cNvSpPr txBox="1"/>
          <p:nvPr/>
        </p:nvSpPr>
        <p:spPr>
          <a:xfrm>
            <a:off x="1828800" y="5029200"/>
            <a:ext cx="6492240" cy="502920"/>
          </a:xfrm>
          <a:prstGeom prst="rect">
            <a:avLst/>
          </a:prstGeom>
          <a:noFill/>
          <a:ln/>
        </p:spPr>
        <p:txBody>
          <a:bodyPr wrap="square" lIns="0" tIns="0" rIns="0" bIns="0" rtlCol="0" anchor="t"/>
          <a:lstStyle/>
          <a:p>
            <a:pPr indent="0" marL="0">
              <a:buNone/>
            </a:pPr>
            <a:r>
              <a:rPr lang="en-US" sz="1400" dirty="0">
                <a:solidFill>
                  <a:srgbClr val="37474F"/>
                </a:solidFill>
              </a:rPr>
              <a:t>Validates our STIX 2.1 export against the official specification library</a:t>
            </a:r>
            <a:endParaRPr lang="en-US" sz="1400" dirty="0"/>
          </a:p>
        </p:txBody>
      </p:sp>
      <p:sp>
        <p:nvSpPr>
          <p:cNvPr id="20" name="vitest + Testing Library"/>
          <p:cNvSpPr/>
          <p:nvPr/>
        </p:nvSpPr>
        <p:spPr>
          <a:xfrm>
            <a:off x="685800" y="5806440"/>
            <a:ext cx="7863840" cy="1143000"/>
          </a:xfrm>
          <a:prstGeom prst="roundRect">
            <a:avLst>
              <a:gd name="adj" fmla="val 6400"/>
            </a:avLst>
          </a:prstGeom>
          <a:solidFill>
            <a:srgbClr val="FFFFFF"/>
          </a:solidFill>
          <a:ln w="9525">
            <a:solidFill>
              <a:srgbClr val="CFD8DC"/>
            </a:solidFill>
            <a:prstDash val="solid"/>
          </a:ln>
        </p:spPr>
      </p:sp>
      <p:sp>
        <p:nvSpPr>
          <p:cNvPr id="21" name="vitest + Testing Library circle"/>
          <p:cNvSpPr/>
          <p:nvPr/>
        </p:nvSpPr>
        <p:spPr>
          <a:xfrm>
            <a:off x="914400" y="6035040"/>
            <a:ext cx="685800" cy="685800"/>
          </a:xfrm>
          <a:prstGeom prst="ellipse">
            <a:avLst/>
          </a:prstGeom>
          <a:solidFill>
            <a:srgbClr val="455A64"/>
          </a:solidFill>
          <a:ln w="12700">
            <a:solidFill>
              <a:srgbClr val="455A64"/>
            </a:solidFill>
            <a:prstDash val="solid"/>
          </a:ln>
        </p:spPr>
      </p:sp>
      <p:pic>
        <p:nvPicPr>
          <p:cNvPr id="22" name="vitest + Testing Library icon" descr="preencoded.png">    </p:cNvPr>
          <p:cNvPicPr>
            <a:picLocks noChangeAspect="1"/>
          </p:cNvPicPr>
          <p:nvPr/>
        </p:nvPicPr>
        <p:blipFill>
          <a:blip r:embed="rId4"/>
          <a:stretch>
            <a:fillRect/>
          </a:stretch>
        </p:blipFill>
        <p:spPr>
          <a:xfrm>
            <a:off x="1099566" y="6220206"/>
            <a:ext cx="315468" cy="315468"/>
          </a:xfrm>
          <a:prstGeom prst="rect">
            <a:avLst/>
          </a:prstGeom>
        </p:spPr>
      </p:pic>
      <p:sp>
        <p:nvSpPr>
          <p:cNvPr id="23" name="Text 16"/>
          <p:cNvSpPr txBox="1"/>
          <p:nvPr/>
        </p:nvSpPr>
        <p:spPr>
          <a:xfrm>
            <a:off x="1828800" y="5943600"/>
            <a:ext cx="6492240" cy="411480"/>
          </a:xfrm>
          <a:prstGeom prst="rect">
            <a:avLst/>
          </a:prstGeom>
          <a:noFill/>
          <a:ln/>
        </p:spPr>
        <p:txBody>
          <a:bodyPr wrap="square" lIns="0" tIns="0" rIns="0" bIns="0" rtlCol="0" anchor="t"/>
          <a:lstStyle/>
          <a:p>
            <a:pPr indent="0" marL="0">
              <a:buNone/>
            </a:pPr>
            <a:r>
              <a:rPr lang="en-US" sz="1800" b="1" dirty="0">
                <a:solidFill>
                  <a:srgbClr val="263238"/>
                </a:solidFill>
              </a:rPr>
              <a:t>vitest + Testing Library</a:t>
            </a:r>
            <a:endParaRPr lang="en-US" sz="1800" dirty="0"/>
          </a:p>
        </p:txBody>
      </p:sp>
      <p:sp>
        <p:nvSpPr>
          <p:cNvPr id="24" name="Text 17"/>
          <p:cNvSpPr txBox="1"/>
          <p:nvPr/>
        </p:nvSpPr>
        <p:spPr>
          <a:xfrm>
            <a:off x="1828800" y="6355080"/>
            <a:ext cx="6492240" cy="502920"/>
          </a:xfrm>
          <a:prstGeom prst="rect">
            <a:avLst/>
          </a:prstGeom>
          <a:noFill/>
          <a:ln/>
        </p:spPr>
        <p:txBody>
          <a:bodyPr wrap="square" lIns="0" tIns="0" rIns="0" bIns="0" rtlCol="0" anchor="t"/>
          <a:lstStyle/>
          <a:p>
            <a:pPr indent="0" marL="0">
              <a:buNone/>
            </a:pPr>
            <a:r>
              <a:rPr lang="en-US" sz="1400" dirty="0">
                <a:solidFill>
                  <a:srgbClr val="37474F"/>
                </a:solidFill>
              </a:rPr>
              <a:t>17 dashboard tests: routing, session replay, helpers</a:t>
            </a:r>
            <a:endParaRPr lang="en-US" sz="1400" dirty="0"/>
          </a:p>
        </p:txBody>
      </p:sp>
      <p:sp>
        <p:nvSpPr>
          <p:cNvPr id="25" name="GitHub Actions CI"/>
          <p:cNvSpPr/>
          <p:nvPr/>
        </p:nvSpPr>
        <p:spPr>
          <a:xfrm>
            <a:off x="685800" y="7132320"/>
            <a:ext cx="7863840" cy="1143000"/>
          </a:xfrm>
          <a:prstGeom prst="roundRect">
            <a:avLst>
              <a:gd name="adj" fmla="val 6400"/>
            </a:avLst>
          </a:prstGeom>
          <a:solidFill>
            <a:srgbClr val="FFFFFF"/>
          </a:solidFill>
          <a:ln w="9525">
            <a:solidFill>
              <a:srgbClr val="CFD8DC"/>
            </a:solidFill>
            <a:prstDash val="solid"/>
          </a:ln>
        </p:spPr>
      </p:sp>
      <p:sp>
        <p:nvSpPr>
          <p:cNvPr id="26" name="GitHub Actions CI circle"/>
          <p:cNvSpPr/>
          <p:nvPr/>
        </p:nvSpPr>
        <p:spPr>
          <a:xfrm>
            <a:off x="914400" y="7360920"/>
            <a:ext cx="685800" cy="685800"/>
          </a:xfrm>
          <a:prstGeom prst="ellipse">
            <a:avLst/>
          </a:prstGeom>
          <a:solidFill>
            <a:srgbClr val="455A64"/>
          </a:solidFill>
          <a:ln w="12700">
            <a:solidFill>
              <a:srgbClr val="455A64"/>
            </a:solidFill>
            <a:prstDash val="solid"/>
          </a:ln>
        </p:spPr>
      </p:sp>
      <p:pic>
        <p:nvPicPr>
          <p:cNvPr id="27" name="GitHub Actions CI icon" descr="preencoded.png">    </p:cNvPr>
          <p:cNvPicPr>
            <a:picLocks noChangeAspect="1"/>
          </p:cNvPicPr>
          <p:nvPr/>
        </p:nvPicPr>
        <p:blipFill>
          <a:blip r:embed="rId5"/>
          <a:stretch>
            <a:fillRect/>
          </a:stretch>
        </p:blipFill>
        <p:spPr>
          <a:xfrm>
            <a:off x="1099566" y="7546086"/>
            <a:ext cx="315468" cy="315468"/>
          </a:xfrm>
          <a:prstGeom prst="rect">
            <a:avLst/>
          </a:prstGeom>
        </p:spPr>
      </p:pic>
      <p:sp>
        <p:nvSpPr>
          <p:cNvPr id="28" name="Text 20"/>
          <p:cNvSpPr txBox="1"/>
          <p:nvPr/>
        </p:nvSpPr>
        <p:spPr>
          <a:xfrm>
            <a:off x="1828800" y="7269480"/>
            <a:ext cx="6492240" cy="411480"/>
          </a:xfrm>
          <a:prstGeom prst="rect">
            <a:avLst/>
          </a:prstGeom>
          <a:noFill/>
          <a:ln/>
        </p:spPr>
        <p:txBody>
          <a:bodyPr wrap="square" lIns="0" tIns="0" rIns="0" bIns="0" rtlCol="0" anchor="t"/>
          <a:lstStyle/>
          <a:p>
            <a:pPr indent="0" marL="0">
              <a:buNone/>
            </a:pPr>
            <a:r>
              <a:rPr lang="en-US" sz="1800" b="1" dirty="0">
                <a:solidFill>
                  <a:srgbClr val="263238"/>
                </a:solidFill>
              </a:rPr>
              <a:t>GitHub Actions CI</a:t>
            </a:r>
            <a:endParaRPr lang="en-US" sz="1800" dirty="0"/>
          </a:p>
        </p:txBody>
      </p:sp>
      <p:sp>
        <p:nvSpPr>
          <p:cNvPr id="29" name="Text 21"/>
          <p:cNvSpPr txBox="1"/>
          <p:nvPr/>
        </p:nvSpPr>
        <p:spPr>
          <a:xfrm>
            <a:off x="1828800" y="7680960"/>
            <a:ext cx="6492240" cy="502920"/>
          </a:xfrm>
          <a:prstGeom prst="rect">
            <a:avLst/>
          </a:prstGeom>
          <a:noFill/>
          <a:ln/>
        </p:spPr>
        <p:txBody>
          <a:bodyPr wrap="square" lIns="0" tIns="0" rIns="0" bIns="0" rtlCol="0" anchor="t"/>
          <a:lstStyle/>
          <a:p>
            <a:pPr indent="0" marL="0">
              <a:buNone/>
            </a:pPr>
            <a:r>
              <a:rPr lang="en-US" sz="1400" dirty="0">
                <a:solidFill>
                  <a:srgbClr val="37474F"/>
                </a:solidFill>
              </a:rPr>
              <a:t>Runs the suites and bandit security lint on every push</a:t>
            </a:r>
            <a:endParaRPr lang="en-US" sz="1400" dirty="0"/>
          </a:p>
        </p:txBody>
      </p:sp>
      <p:sp>
        <p:nvSpPr>
          <p:cNvPr id="30" name="core features card"/>
          <p:cNvSpPr/>
          <p:nvPr/>
        </p:nvSpPr>
        <p:spPr>
          <a:xfrm>
            <a:off x="8915400" y="1828800"/>
            <a:ext cx="6656832" cy="6492240"/>
          </a:xfrm>
          <a:prstGeom prst="roundRect">
            <a:avLst>
              <a:gd name="adj" fmla="val 1127"/>
            </a:avLst>
          </a:prstGeom>
          <a:solidFill>
            <a:srgbClr val="FFFFFF"/>
          </a:solidFill>
          <a:ln w="9525">
            <a:solidFill>
              <a:srgbClr val="CFD8DC"/>
            </a:solidFill>
            <a:prstDash val="solid"/>
          </a:ln>
        </p:spPr>
      </p:sp>
      <p:sp>
        <p:nvSpPr>
          <p:cNvPr id="31" name="Text 23"/>
          <p:cNvSpPr txBox="1"/>
          <p:nvPr/>
        </p:nvSpPr>
        <p:spPr>
          <a:xfrm>
            <a:off x="9235440" y="2103120"/>
            <a:ext cx="6035040" cy="457200"/>
          </a:xfrm>
          <a:prstGeom prst="rect">
            <a:avLst/>
          </a:prstGeom>
          <a:noFill/>
          <a:ln/>
        </p:spPr>
        <p:txBody>
          <a:bodyPr wrap="square" lIns="0" tIns="0" rIns="0" bIns="0" rtlCol="0" anchor="t"/>
          <a:lstStyle/>
          <a:p>
            <a:pPr indent="0" marL="0">
              <a:buNone/>
            </a:pPr>
            <a:r>
              <a:rPr lang="en-US" sz="2000" b="1" dirty="0">
                <a:solidFill>
                  <a:srgbClr val="263238"/>
                </a:solidFill>
              </a:rPr>
              <a:t>Core features selected for automation</a:t>
            </a:r>
            <a:endParaRPr lang="en-US" sz="2000" dirty="0"/>
          </a:p>
        </p:txBody>
      </p:sp>
      <p:sp>
        <p:nvSpPr>
          <p:cNvPr id="32" name="Text 24"/>
          <p:cNvSpPr txBox="1"/>
          <p:nvPr/>
        </p:nvSpPr>
        <p:spPr>
          <a:xfrm>
            <a:off x="9235440" y="2743200"/>
            <a:ext cx="6035040" cy="539496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rgbClr val="37474F"/>
                </a:solidFill>
              </a:rPr>
              <a:t>Protocol parsing: MQTT packets, RTSP Digest, Telnet IAC</a:t>
            </a:r>
            <a:endParaRPr lang="en-US" sz="1600" dirty="0"/>
          </a:p>
          <a:p>
            <a:pPr marL="228600" indent="-228600">
              <a:spcAft>
                <a:spcPts val="800"/>
              </a:spcAft>
              <a:buSzPct val="100000"/>
              <a:buChar char="•"/>
            </a:pPr>
            <a:r>
              <a:rPr lang="en-US" sz="1600" dirty="0">
                <a:solidFill>
                  <a:srgbClr val="37474F"/>
                </a:solidFill>
              </a:rPr>
              <a:t>Authentication against weak-credential profiles (accept and reject)</a:t>
            </a:r>
            <a:endParaRPr lang="en-US" sz="1600" dirty="0"/>
          </a:p>
          <a:p>
            <a:pPr marL="228600" indent="-228600">
              <a:spcAft>
                <a:spcPts val="800"/>
              </a:spcAft>
              <a:buSzPct val="100000"/>
              <a:buChar char="•"/>
            </a:pPr>
            <a:r>
              <a:rPr lang="en-US" sz="1600" dirty="0">
                <a:solidFill>
                  <a:srgbClr val="37474F"/>
                </a:solidFill>
              </a:rPr>
              <a:t>Fake shell: commands, chaining, Mirai preamble, device control</a:t>
            </a:r>
            <a:endParaRPr lang="en-US" sz="1600" dirty="0"/>
          </a:p>
          <a:p>
            <a:pPr marL="228600" indent="-228600">
              <a:spcAft>
                <a:spcPts val="800"/>
              </a:spcAft>
              <a:buSzPct val="100000"/>
              <a:buChar char="•"/>
            </a:pPr>
            <a:r>
              <a:rPr lang="en-US" sz="1600" dirty="0">
                <a:solidFill>
                  <a:srgbClr val="37474F"/>
                </a:solidFill>
              </a:rPr>
              <a:t>Capture: downloads logged but never fetched; files quarantined read-only</a:t>
            </a:r>
            <a:endParaRPr lang="en-US" sz="1600" dirty="0"/>
          </a:p>
          <a:p>
            <a:pPr marL="228600" indent="-228600">
              <a:spcAft>
                <a:spcPts val="800"/>
              </a:spcAft>
              <a:buSzPct val="100000"/>
              <a:buChar char="•"/>
            </a:pPr>
            <a:r>
              <a:rPr lang="en-US" sz="1600" dirty="0">
                <a:solidFill>
                  <a:srgbClr val="37474F"/>
                </a:solidFill>
              </a:rPr>
              <a:t>Detection: MITRE mapping, malware families, report severity</a:t>
            </a:r>
            <a:endParaRPr lang="en-US" sz="1600" dirty="0"/>
          </a:p>
          <a:p>
            <a:pPr marL="228600" indent="-228600">
              <a:spcAft>
                <a:spcPts val="800"/>
              </a:spcAft>
              <a:buSzPct val="100000"/>
              <a:buChar char="•"/>
            </a:pPr>
            <a:r>
              <a:rPr lang="en-US" sz="1600" dirty="0">
                <a:solidFill>
                  <a:srgbClr val="37474F"/>
                </a:solidFill>
              </a:rPr>
              <a:t>Intelligence exports: STIX 2.1 validity, idempotent IOC hits</a:t>
            </a:r>
            <a:endParaRPr lang="en-US" sz="1600" dirty="0"/>
          </a:p>
          <a:p>
            <a:pPr marL="228600" indent="-228600">
              <a:spcAft>
                <a:spcPts val="800"/>
              </a:spcAft>
              <a:buSzPct val="100000"/>
              <a:buChar char="•"/>
            </a:pPr>
            <a:r>
              <a:rPr lang="en-US" sz="1600" dirty="0">
                <a:solidFill>
                  <a:srgbClr val="37474F"/>
                </a:solidFill>
              </a:rPr>
              <a:t>API and live push: endpoints, search validation, WebSocket relay</a:t>
            </a:r>
            <a:endParaRPr lang="en-US" sz="1600" dirty="0"/>
          </a:p>
          <a:p>
            <a:pPr marL="228600" indent="-228600">
              <a:spcAft>
                <a:spcPts val="800"/>
              </a:spcAft>
              <a:buSzPct val="100000"/>
              <a:buChar char="•"/>
            </a:pPr>
            <a:r>
              <a:rPr lang="en-US" sz="1600" dirty="0">
                <a:solidFill>
                  <a:srgbClr val="37474F"/>
                </a:solidFill>
              </a:rPr>
              <a:t>ML dataset: weak-label priority and labels per session</a:t>
            </a:r>
            <a:endParaRPr lang="en-US" sz="1600" dirty="0"/>
          </a:p>
        </p:txBody>
      </p:sp>
      <p:sp>
        <p:nvSpPr>
          <p:cNvPr id="25" name="Slide Number Placeholder 0"/>
          <p:cNvSpPr>
            <a:spLocks noGrp="1"/>
          </p:cNvSpPr>
          <p:nvPr>
            <p:ph type="sldNum" sz="quarter" idx="4294967295"/>
          </p:nvPr>
        </p:nvSpPr>
        <p:spPr>
          <a:xfrm>
            <a:off x="14794992" y="8549640"/>
            <a:ext cx="91440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3"/>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body" hasCustomPrompt="1"/>
          </p:nvPr>
        </p:nvSpPr>
        <p:spPr>
          <a:xfrm>
            <a:off x="685800" y="365760"/>
            <a:ext cx="10972800" cy="365760"/>
          </a:xfrm>
          <a:prstGeom prst="rect">
            <a:avLst/>
          </a:prstGeom>
          <a:noFill/>
          <a:ln/>
        </p:spPr>
        <p:txBody>
          <a:bodyPr wrap="square" lIns="0" tIns="0" rIns="0" bIns="0" rtlCol="0"/>
          <a:lstStyle/>
          <a:p>
            <a:pPr indent="0" marL="0">
              <a:buNone/>
            </a:pPr>
            <a:r>
              <a:rPr lang="en-US" sz="1200" b="1" spc="200" kern="0" dirty="0">
                <a:solidFill>
                  <a:schemeClr val="accent3"/>
                </a:solidFill>
              </a:rPr>
              <a:t>05 — AUTOMATED TESTING</a:t>
            </a:r>
            <a:endParaRPr lang="en-US" sz="1200" dirty="0"/>
          </a:p>
        </p:txBody>
      </p:sp>
      <p:sp>
        <p:nvSpPr>
          <p:cNvPr id="3" name="Text 0"/>
          <p:cNvSpPr/>
          <p:nvPr>
            <p:ph idx="101" type="title" hasCustomPrompt="1"/>
          </p:nvPr>
        </p:nvSpPr>
        <p:spPr>
          <a:xfrm>
            <a:off x="685800" y="731520"/>
            <a:ext cx="14886432" cy="822960"/>
          </a:xfrm>
          <a:prstGeom prst="rect">
            <a:avLst/>
          </a:prstGeom>
          <a:noFill/>
          <a:ln/>
        </p:spPr>
        <p:txBody>
          <a:bodyPr wrap="square" lIns="0" tIns="0" rIns="0" bIns="0" rtlCol="0" anchor="t"/>
          <a:lstStyle/>
          <a:p>
            <a:pPr algn="l" indent="0" marL="0">
              <a:buNone/>
            </a:pPr>
            <a:r>
              <a:rPr lang="en-US" sz="3600" b="1" dirty="0">
                <a:solidFill>
                  <a:schemeClr val="tx1"/>
                </a:solidFill>
              </a:rPr>
              <a:t>Positive and Negative Test Examples</a:t>
            </a:r>
            <a:endParaRPr lang="en-US" sz="3600" dirty="0"/>
          </a:p>
        </p:txBody>
      </p:sp>
      <p:sp>
        <p:nvSpPr>
          <p:cNvPr id="5" name="positive example"/>
          <p:cNvSpPr/>
          <p:nvPr/>
        </p:nvSpPr>
        <p:spPr>
          <a:xfrm>
            <a:off x="685800" y="1828800"/>
            <a:ext cx="7306056" cy="3154680"/>
          </a:xfrm>
          <a:prstGeom prst="roundRect">
            <a:avLst>
              <a:gd name="adj" fmla="val 1739"/>
            </a:avLst>
          </a:prstGeom>
          <a:solidFill>
            <a:srgbClr val="263238"/>
          </a:solidFill>
          <a:ln w="12700">
            <a:solidFill>
              <a:srgbClr val="263238"/>
            </a:solidFill>
            <a:prstDash val="solid"/>
          </a:ln>
        </p:spPr>
      </p:sp>
      <p:sp>
        <p:nvSpPr>
          <p:cNvPr id="6" name="Text 3"/>
          <p:cNvSpPr txBox="1"/>
          <p:nvPr/>
        </p:nvSpPr>
        <p:spPr>
          <a:xfrm>
            <a:off x="960120" y="2011680"/>
            <a:ext cx="6757416" cy="365760"/>
          </a:xfrm>
          <a:prstGeom prst="rect">
            <a:avLst/>
          </a:prstGeom>
          <a:noFill/>
          <a:ln/>
        </p:spPr>
        <p:txBody>
          <a:bodyPr wrap="square" lIns="0" tIns="0" rIns="0" bIns="0" rtlCol="0" anchor="t"/>
          <a:lstStyle/>
          <a:p>
            <a:pPr indent="0" marL="0">
              <a:buNone/>
            </a:pPr>
            <a:r>
              <a:rPr lang="en-US" sz="1400" b="1" dirty="0">
                <a:solidFill>
                  <a:srgbClr val="E09B00"/>
                </a:solidFill>
              </a:rPr>
              <a:t>AT-12  Positive — RTSP accepts a valid default credential</a:t>
            </a:r>
            <a:endParaRPr lang="en-US" sz="1400" dirty="0"/>
          </a:p>
        </p:txBody>
      </p:sp>
      <p:sp>
        <p:nvSpPr>
          <p:cNvPr id="7" name="Text 4"/>
          <p:cNvSpPr txBox="1"/>
          <p:nvPr/>
        </p:nvSpPr>
        <p:spPr>
          <a:xfrm>
            <a:off x="960120" y="2468880"/>
            <a:ext cx="6757416" cy="2331720"/>
          </a:xfrm>
          <a:prstGeom prst="rect">
            <a:avLst/>
          </a:prstGeom>
          <a:noFill/>
          <a:ln/>
        </p:spPr>
        <p:txBody>
          <a:bodyPr wrap="square" lIns="0" tIns="0" rIns="0" bIns="0" rtlCol="0" anchor="t"/>
          <a:lstStyle/>
          <a:p>
            <a:pPr indent="0" marL="0">
              <a:buNone/>
            </a:pPr>
            <a:r>
              <a:rPr lang="en-US" sz="1250" dirty="0">
                <a:solidFill>
                  <a:srgbClr val="E3E8EA"/>
                </a:solidFill>
                <a:latin typeface="Courier New" pitchFamily="34" charset="0"/>
                <a:ea typeface="Courier New" pitchFamily="34" charset="-122"/>
                <a:cs typeface="Courier New" pitchFamily="34" charset="-120"/>
              </a:rPr>
              <a:t>def test_rtsp_digest_accepts_valid_default_credentials():</a:t>
            </a:r>
            <a:endParaRPr lang="en-US" sz="1250" dirty="0"/>
          </a:p>
          <a:p>
            <a:pPr indent="0" marL="0">
              <a:buNone/>
            </a:pPr>
            <a:r>
              <a:rPr lang="en-US" sz="1250" dirty="0">
                <a:solidFill>
                  <a:srgbClr val="E3E8EA"/>
                </a:solidFill>
                <a:latin typeface="Courier New" pitchFamily="34" charset="0"/>
                <a:ea typeface="Courier New" pitchFamily="34" charset="-122"/>
                <a:cs typeface="Courier New" pitchFamily="34" charset="-120"/>
              </a:rPr>
              <a:t>    ha1 = md5(f"admin:{realm}:admin")</a:t>
            </a:r>
            <a:endParaRPr lang="en-US" sz="1250" dirty="0"/>
          </a:p>
          <a:p>
            <a:pPr indent="0" marL="0">
              <a:buNone/>
            </a:pPr>
            <a:r>
              <a:rPr lang="en-US" sz="1250" dirty="0">
                <a:solidFill>
                  <a:srgbClr val="E3E8EA"/>
                </a:solidFill>
                <a:latin typeface="Courier New" pitchFamily="34" charset="0"/>
                <a:ea typeface="Courier New" pitchFamily="34" charset="-122"/>
                <a:cs typeface="Courier New" pitchFamily="34" charset="-120"/>
              </a:rPr>
              <a:t>    ha2 = md5(f"{method}:{uri}")</a:t>
            </a:r>
            <a:endParaRPr lang="en-US" sz="1250" dirty="0"/>
          </a:p>
          <a:p>
            <a:pPr indent="0" marL="0">
              <a:buNone/>
            </a:pPr>
            <a:r>
              <a:rPr lang="en-US" sz="1250" dirty="0">
                <a:solidFill>
                  <a:srgbClr val="E3E8EA"/>
                </a:solidFill>
                <a:latin typeface="Courier New" pitchFamily="34" charset="0"/>
                <a:ea typeface="Courier New" pitchFamily="34" charset="-122"/>
                <a:cs typeface="Courier New" pitchFamily="34" charset="-120"/>
              </a:rPr>
              <a:t>    resp = md5(f"{ha1}:{nonce}:{ha2}")</a:t>
            </a:r>
            <a:endParaRPr lang="en-US" sz="1250" dirty="0"/>
          </a:p>
          <a:p>
            <a:pPr indent="0" marL="0">
              <a:buNone/>
            </a:pPr>
            <a:r>
              <a:rPr lang="en-US" sz="1250" dirty="0">
                <a:solidFill>
                  <a:srgbClr val="E3E8EA"/>
                </a:solidFill>
                <a:latin typeface="Courier New" pitchFamily="34" charset="0"/>
                <a:ea typeface="Courier New" pitchFamily="34" charset="-122"/>
                <a:cs typeface="Courier New" pitchFamily="34" charset="-120"/>
              </a:rPr>
              <a:t>    assert digest_check(params, method) == "admin"</a:t>
            </a:r>
            <a:endParaRPr lang="en-US" sz="1250" dirty="0"/>
          </a:p>
        </p:txBody>
      </p:sp>
      <p:sp>
        <p:nvSpPr>
          <p:cNvPr id="8" name="negative example"/>
          <p:cNvSpPr/>
          <p:nvPr/>
        </p:nvSpPr>
        <p:spPr>
          <a:xfrm>
            <a:off x="8266176" y="1828800"/>
            <a:ext cx="7306056" cy="3154680"/>
          </a:xfrm>
          <a:prstGeom prst="roundRect">
            <a:avLst>
              <a:gd name="adj" fmla="val 1739"/>
            </a:avLst>
          </a:prstGeom>
          <a:solidFill>
            <a:srgbClr val="263238"/>
          </a:solidFill>
          <a:ln w="12700">
            <a:solidFill>
              <a:srgbClr val="263238"/>
            </a:solidFill>
            <a:prstDash val="solid"/>
          </a:ln>
        </p:spPr>
      </p:sp>
      <p:sp>
        <p:nvSpPr>
          <p:cNvPr id="9" name="Text 6"/>
          <p:cNvSpPr txBox="1"/>
          <p:nvPr/>
        </p:nvSpPr>
        <p:spPr>
          <a:xfrm>
            <a:off x="8540496" y="2011680"/>
            <a:ext cx="6757416" cy="365760"/>
          </a:xfrm>
          <a:prstGeom prst="rect">
            <a:avLst/>
          </a:prstGeom>
          <a:noFill/>
          <a:ln/>
        </p:spPr>
        <p:txBody>
          <a:bodyPr wrap="square" lIns="0" tIns="0" rIns="0" bIns="0" rtlCol="0" anchor="t"/>
          <a:lstStyle/>
          <a:p>
            <a:pPr indent="0" marL="0">
              <a:buNone/>
            </a:pPr>
            <a:r>
              <a:rPr lang="en-US" sz="1400" b="1" dirty="0">
                <a:solidFill>
                  <a:srgbClr val="E09B00"/>
                </a:solidFill>
              </a:rPr>
              <a:t>AT-13  Negative — RTSP rejects a wrong password</a:t>
            </a:r>
            <a:endParaRPr lang="en-US" sz="1400" dirty="0"/>
          </a:p>
        </p:txBody>
      </p:sp>
      <p:sp>
        <p:nvSpPr>
          <p:cNvPr id="10" name="Text 7"/>
          <p:cNvSpPr txBox="1"/>
          <p:nvPr/>
        </p:nvSpPr>
        <p:spPr>
          <a:xfrm>
            <a:off x="8540496" y="2468880"/>
            <a:ext cx="6757416" cy="2331720"/>
          </a:xfrm>
          <a:prstGeom prst="rect">
            <a:avLst/>
          </a:prstGeom>
          <a:noFill/>
          <a:ln/>
        </p:spPr>
        <p:txBody>
          <a:bodyPr wrap="square" lIns="0" tIns="0" rIns="0" bIns="0" rtlCol="0" anchor="t"/>
          <a:lstStyle/>
          <a:p>
            <a:pPr indent="0" marL="0">
              <a:buNone/>
            </a:pPr>
            <a:r>
              <a:rPr lang="en-US" sz="1250" dirty="0">
                <a:solidFill>
                  <a:srgbClr val="E3E8EA"/>
                </a:solidFill>
                <a:latin typeface="Courier New" pitchFamily="34" charset="0"/>
                <a:ea typeface="Courier New" pitchFamily="34" charset="-122"/>
                <a:cs typeface="Courier New" pitchFamily="34" charset="-120"/>
              </a:rPr>
              <a:t>def test_rtsp_digest_rejects_wrong_password():</a:t>
            </a:r>
            <a:endParaRPr lang="en-US" sz="1250" dirty="0"/>
          </a:p>
          <a:p>
            <a:pPr indent="0" marL="0">
              <a:buNone/>
            </a:pPr>
            <a:r>
              <a:rPr lang="en-US" sz="1250" dirty="0">
                <a:solidFill>
                  <a:srgbClr val="E3E8EA"/>
                </a:solidFill>
                <a:latin typeface="Courier New" pitchFamily="34" charset="0"/>
                <a:ea typeface="Courier New" pitchFamily="34" charset="-122"/>
                <a:cs typeface="Courier New" pitchFamily="34" charset="-120"/>
              </a:rPr>
              <a:t>    params = dict(username="admin", realm=REALM,</a:t>
            </a:r>
            <a:endParaRPr lang="en-US" sz="1250" dirty="0"/>
          </a:p>
          <a:p>
            <a:pPr indent="0" marL="0">
              <a:buNone/>
            </a:pPr>
            <a:r>
              <a:rPr lang="en-US" sz="1250" dirty="0">
                <a:solidFill>
                  <a:srgbClr val="E3E8EA"/>
                </a:solidFill>
                <a:latin typeface="Courier New" pitchFamily="34" charset="0"/>
                <a:ea typeface="Courier New" pitchFamily="34" charset="-122"/>
                <a:cs typeface="Courier New" pitchFamily="34" charset="-120"/>
              </a:rPr>
              <a:t>                  nonce="n0", uri="rtsp://h/cam",</a:t>
            </a:r>
            <a:endParaRPr lang="en-US" sz="1250" dirty="0"/>
          </a:p>
          <a:p>
            <a:pPr indent="0" marL="0">
              <a:buNone/>
            </a:pPr>
            <a:r>
              <a:rPr lang="en-US" sz="1250" dirty="0">
                <a:solidFill>
                  <a:srgbClr val="E3E8EA"/>
                </a:solidFill>
                <a:latin typeface="Courier New" pitchFamily="34" charset="0"/>
                <a:ea typeface="Courier New" pitchFamily="34" charset="-122"/>
                <a:cs typeface="Courier New" pitchFamily="34" charset="-120"/>
              </a:rPr>
              <a:t>                  response="0" * 32)</a:t>
            </a:r>
            <a:endParaRPr lang="en-US" sz="1250" dirty="0"/>
          </a:p>
          <a:p>
            <a:pPr indent="0" marL="0">
              <a:buNone/>
            </a:pPr>
            <a:r>
              <a:rPr lang="en-US" sz="1250" dirty="0">
                <a:solidFill>
                  <a:srgbClr val="E3E8EA"/>
                </a:solidFill>
                <a:latin typeface="Courier New" pitchFamily="34" charset="0"/>
                <a:ea typeface="Courier New" pitchFamily="34" charset="-122"/>
                <a:cs typeface="Courier New" pitchFamily="34" charset="-120"/>
              </a:rPr>
              <a:t>    assert digest_check(params, "DESCRIBE") is None</a:t>
            </a:r>
            <a:endParaRPr lang="en-US" sz="1250" dirty="0"/>
          </a:p>
        </p:txBody>
      </p:sp>
      <p:sp>
        <p:nvSpPr>
          <p:cNvPr id="11" name="api negative example"/>
          <p:cNvSpPr/>
          <p:nvPr/>
        </p:nvSpPr>
        <p:spPr>
          <a:xfrm>
            <a:off x="685800" y="5257800"/>
            <a:ext cx="7306056" cy="3154680"/>
          </a:xfrm>
          <a:prstGeom prst="roundRect">
            <a:avLst>
              <a:gd name="adj" fmla="val 1739"/>
            </a:avLst>
          </a:prstGeom>
          <a:solidFill>
            <a:srgbClr val="263238"/>
          </a:solidFill>
          <a:ln w="12700">
            <a:solidFill>
              <a:srgbClr val="263238"/>
            </a:solidFill>
            <a:prstDash val="solid"/>
          </a:ln>
        </p:spPr>
      </p:sp>
      <p:sp>
        <p:nvSpPr>
          <p:cNvPr id="12" name="Text 9"/>
          <p:cNvSpPr txBox="1"/>
          <p:nvPr/>
        </p:nvSpPr>
        <p:spPr>
          <a:xfrm>
            <a:off x="960120" y="5440680"/>
            <a:ext cx="6757416" cy="365760"/>
          </a:xfrm>
          <a:prstGeom prst="rect">
            <a:avLst/>
          </a:prstGeom>
          <a:noFill/>
          <a:ln/>
        </p:spPr>
        <p:txBody>
          <a:bodyPr wrap="square" lIns="0" tIns="0" rIns="0" bIns="0" rtlCol="0" anchor="t"/>
          <a:lstStyle/>
          <a:p>
            <a:pPr indent="0" marL="0">
              <a:buNone/>
            </a:pPr>
            <a:r>
              <a:rPr lang="en-US" sz="1400" b="1" dirty="0">
                <a:solidFill>
                  <a:srgbClr val="E09B00"/>
                </a:solidFill>
              </a:rPr>
              <a:t>AT-04  Negative — search without a query is rejected</a:t>
            </a:r>
            <a:endParaRPr lang="en-US" sz="1400" dirty="0"/>
          </a:p>
        </p:txBody>
      </p:sp>
      <p:sp>
        <p:nvSpPr>
          <p:cNvPr id="13" name="Text 10"/>
          <p:cNvSpPr txBox="1"/>
          <p:nvPr/>
        </p:nvSpPr>
        <p:spPr>
          <a:xfrm>
            <a:off x="960120" y="5897880"/>
            <a:ext cx="6757416" cy="2331720"/>
          </a:xfrm>
          <a:prstGeom prst="rect">
            <a:avLst/>
          </a:prstGeom>
          <a:noFill/>
          <a:ln/>
        </p:spPr>
        <p:txBody>
          <a:bodyPr wrap="square" lIns="0" tIns="0" rIns="0" bIns="0" rtlCol="0" anchor="t"/>
          <a:lstStyle/>
          <a:p>
            <a:pPr indent="0" marL="0">
              <a:buNone/>
            </a:pPr>
            <a:r>
              <a:rPr lang="en-US" sz="1250" dirty="0">
                <a:solidFill>
                  <a:srgbClr val="E3E8EA"/>
                </a:solidFill>
                <a:latin typeface="Courier New" pitchFamily="34" charset="0"/>
                <a:ea typeface="Courier New" pitchFamily="34" charset="-122"/>
                <a:cs typeface="Courier New" pitchFamily="34" charset="-120"/>
              </a:rPr>
              <a:t>def test_search_requires_query(client):</a:t>
            </a:r>
            <a:endParaRPr lang="en-US" sz="1250" dirty="0"/>
          </a:p>
          <a:p>
            <a:pPr indent="0" marL="0">
              <a:buNone/>
            </a:pPr>
            <a:r>
              <a:rPr lang="en-US" sz="1250" dirty="0">
                <a:solidFill>
                  <a:srgbClr val="E3E8EA"/>
                </a:solidFill>
                <a:latin typeface="Courier New" pitchFamily="34" charset="0"/>
                <a:ea typeface="Courier New" pitchFamily="34" charset="-122"/>
                <a:cs typeface="Courier New" pitchFamily="34" charset="-120"/>
              </a:rPr>
              <a:t>    assert client.get("/api/search").status_code == 422</a:t>
            </a:r>
            <a:endParaRPr lang="en-US" sz="1250" dirty="0"/>
          </a:p>
          <a:p>
            <a:pPr indent="0" marL="0">
              <a:buNone/>
            </a:pPr>
            <a:r>
              <a:rPr lang="en-US" sz="1250" dirty="0">
                <a:solidFill>
                  <a:srgbClr val="E3E8EA"/>
                </a:solidFill>
                <a:latin typeface="Courier New" pitchFamily="34" charset="0"/>
                <a:ea typeface="Courier New" pitchFamily="34" charset="-122"/>
                <a:cs typeface="Courier New" pitchFamily="34" charset="-120"/>
              </a:rPr>
              <a:t>    assert client.get("/api/search?q=ab").status_code == 200</a:t>
            </a:r>
            <a:endParaRPr lang="en-US" sz="1250" dirty="0"/>
          </a:p>
          <a:p>
            <a:pPr indent="0" marL="0">
              <a:buNone/>
            </a:pPr>
            <a:endParaRPr lang="en-US" sz="1250" dirty="0"/>
          </a:p>
          <a:p>
            <a:pPr indent="0" marL="0">
              <a:buNone/>
            </a:pPr>
            <a:r>
              <a:rPr lang="en-US" sz="1250" dirty="0">
                <a:solidFill>
                  <a:srgbClr val="E3E8EA"/>
                </a:solidFill>
                <a:latin typeface="Courier New" pitchFamily="34" charset="0"/>
                <a:ea typeface="Courier New" pitchFamily="34" charset="-122"/>
                <a:cs typeface="Courier New" pitchFamily="34" charset="-120"/>
              </a:rPr>
              <a:t># 422 = FastAPI input validation, no SQL is run</a:t>
            </a:r>
            <a:endParaRPr lang="en-US" sz="1250" dirty="0"/>
          </a:p>
        </p:txBody>
      </p:sp>
      <p:sp>
        <p:nvSpPr>
          <p:cNvPr id="14" name="websocket example"/>
          <p:cNvSpPr/>
          <p:nvPr/>
        </p:nvSpPr>
        <p:spPr>
          <a:xfrm>
            <a:off x="8266176" y="5257800"/>
            <a:ext cx="7306056" cy="3154680"/>
          </a:xfrm>
          <a:prstGeom prst="roundRect">
            <a:avLst>
              <a:gd name="adj" fmla="val 1739"/>
            </a:avLst>
          </a:prstGeom>
          <a:solidFill>
            <a:srgbClr val="263238"/>
          </a:solidFill>
          <a:ln w="12700">
            <a:solidFill>
              <a:srgbClr val="263238"/>
            </a:solidFill>
            <a:prstDash val="solid"/>
          </a:ln>
        </p:spPr>
      </p:sp>
      <p:sp>
        <p:nvSpPr>
          <p:cNvPr id="15" name="Text 12"/>
          <p:cNvSpPr txBox="1"/>
          <p:nvPr/>
        </p:nvSpPr>
        <p:spPr>
          <a:xfrm>
            <a:off x="8540496" y="5440680"/>
            <a:ext cx="6757416" cy="365760"/>
          </a:xfrm>
          <a:prstGeom prst="rect">
            <a:avLst/>
          </a:prstGeom>
          <a:noFill/>
          <a:ln/>
        </p:spPr>
        <p:txBody>
          <a:bodyPr wrap="square" lIns="0" tIns="0" rIns="0" bIns="0" rtlCol="0" anchor="t"/>
          <a:lstStyle/>
          <a:p>
            <a:pPr indent="0" marL="0">
              <a:buNone/>
            </a:pPr>
            <a:r>
              <a:rPr lang="en-US" sz="1400" b="1" dirty="0">
                <a:solidFill>
                  <a:srgbClr val="E09B00"/>
                </a:solidFill>
              </a:rPr>
              <a:t>AT-44  Positive — live event reaches the browser</a:t>
            </a:r>
            <a:endParaRPr lang="en-US" sz="1400" dirty="0"/>
          </a:p>
        </p:txBody>
      </p:sp>
      <p:sp>
        <p:nvSpPr>
          <p:cNvPr id="16" name="Text 13"/>
          <p:cNvSpPr txBox="1"/>
          <p:nvPr/>
        </p:nvSpPr>
        <p:spPr>
          <a:xfrm>
            <a:off x="8540496" y="5897880"/>
            <a:ext cx="6757416" cy="2331720"/>
          </a:xfrm>
          <a:prstGeom prst="rect">
            <a:avLst/>
          </a:prstGeom>
          <a:noFill/>
          <a:ln/>
        </p:spPr>
        <p:txBody>
          <a:bodyPr wrap="square" lIns="0" tIns="0" rIns="0" bIns="0" rtlCol="0" anchor="t"/>
          <a:lstStyle/>
          <a:p>
            <a:pPr indent="0" marL="0">
              <a:buNone/>
            </a:pPr>
            <a:r>
              <a:rPr lang="en-US" sz="1250" dirty="0">
                <a:solidFill>
                  <a:srgbClr val="E3E8EA"/>
                </a:solidFill>
                <a:latin typeface="Courier New" pitchFamily="34" charset="0"/>
                <a:ea typeface="Courier New" pitchFamily="34" charset="-122"/>
                <a:cs typeface="Courier New" pitchFamily="34" charset="-120"/>
              </a:rPr>
              <a:t>def test_websocket_relays_live_events(client):</a:t>
            </a:r>
            <a:endParaRPr lang="en-US" sz="1250" dirty="0"/>
          </a:p>
          <a:p>
            <a:pPr indent="0" marL="0">
              <a:buNone/>
            </a:pPr>
            <a:r>
              <a:rPr lang="en-US" sz="1250" dirty="0">
                <a:solidFill>
                  <a:srgbClr val="E3E8EA"/>
                </a:solidFill>
                <a:latin typeface="Courier New" pitchFamily="34" charset="0"/>
                <a:ea typeface="Courier New" pitchFamily="34" charset="-122"/>
                <a:cs typeface="Courier New" pitchFamily="34" charset="-120"/>
              </a:rPr>
              <a:t>    with client.websocket_connect("/api/ws") as ws:</a:t>
            </a:r>
            <a:endParaRPr lang="en-US" sz="1250" dirty="0"/>
          </a:p>
          <a:p>
            <a:pPr indent="0" marL="0">
              <a:buNone/>
            </a:pPr>
            <a:r>
              <a:rPr lang="en-US" sz="1250" dirty="0">
                <a:solidFill>
                  <a:srgbClr val="E3E8EA"/>
                </a:solidFill>
                <a:latin typeface="Courier New" pitchFamily="34" charset="0"/>
                <a:ea typeface="Courier New" pitchFamily="34" charset="-122"/>
                <a:cs typeface="Courier New" pitchFamily="34" charset="-120"/>
              </a:rPr>
              <a:t>        assert recv(ws)["channel"] == "hello"</a:t>
            </a:r>
            <a:endParaRPr lang="en-US" sz="1250" dirty="0"/>
          </a:p>
          <a:p>
            <a:pPr indent="0" marL="0">
              <a:buNone/>
            </a:pPr>
            <a:r>
              <a:rPr lang="en-US" sz="1250" dirty="0">
                <a:solidFill>
                  <a:srgbClr val="E3E8EA"/>
                </a:solidFill>
                <a:latin typeface="Courier New" pitchFamily="34" charset="0"/>
                <a:ea typeface="Courier New" pitchFamily="34" charset="-122"/>
                <a:cs typeface="Courier New" pitchFamily="34" charset="-120"/>
              </a:rPr>
              <a:t>        r.publish("honeybot:events", {"ip": "192.0.2.1"})</a:t>
            </a:r>
            <a:endParaRPr lang="en-US" sz="1250" dirty="0"/>
          </a:p>
          <a:p>
            <a:pPr indent="0" marL="0">
              <a:buNone/>
            </a:pPr>
            <a:r>
              <a:rPr lang="en-US" sz="1250" dirty="0">
                <a:solidFill>
                  <a:srgbClr val="E3E8EA"/>
                </a:solidFill>
                <a:latin typeface="Courier New" pitchFamily="34" charset="0"/>
                <a:ea typeface="Courier New" pitchFamily="34" charset="-122"/>
                <a:cs typeface="Courier New" pitchFamily="34" charset="-120"/>
              </a:rPr>
              <a:t>        assert recv(ws)["data"]["ip"] == "192.0.2.1"</a:t>
            </a:r>
            <a:endParaRPr lang="en-US" sz="1250" dirty="0"/>
          </a:p>
        </p:txBody>
      </p:sp>
      <p:sp>
        <p:nvSpPr>
          <p:cNvPr id="25" name="Slide Number Placeholder 0"/>
          <p:cNvSpPr>
            <a:spLocks noGrp="1"/>
          </p:cNvSpPr>
          <p:nvPr>
            <p:ph type="sldNum" sz="quarter" idx="4294967295"/>
          </p:nvPr>
        </p:nvSpPr>
        <p:spPr>
          <a:xfrm>
            <a:off x="14794992" y="8549640"/>
            <a:ext cx="91440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3"/>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body" hasCustomPrompt="1"/>
          </p:nvPr>
        </p:nvSpPr>
        <p:spPr>
          <a:xfrm>
            <a:off x="685800" y="365760"/>
            <a:ext cx="10972800" cy="365760"/>
          </a:xfrm>
          <a:prstGeom prst="rect">
            <a:avLst/>
          </a:prstGeom>
          <a:noFill/>
          <a:ln/>
        </p:spPr>
        <p:txBody>
          <a:bodyPr wrap="square" lIns="0" tIns="0" rIns="0" bIns="0" rtlCol="0"/>
          <a:lstStyle/>
          <a:p>
            <a:pPr indent="0" marL="0">
              <a:buNone/>
            </a:pPr>
            <a:r>
              <a:rPr lang="en-US" sz="1200" b="1" spc="200" kern="0" dirty="0">
                <a:solidFill>
                  <a:schemeClr val="accent3"/>
                </a:solidFill>
              </a:rPr>
              <a:t>05 — AUTOMATED TESTING</a:t>
            </a:r>
            <a:endParaRPr lang="en-US" sz="1200" dirty="0"/>
          </a:p>
        </p:txBody>
      </p:sp>
      <p:sp>
        <p:nvSpPr>
          <p:cNvPr id="3" name="Text 0"/>
          <p:cNvSpPr/>
          <p:nvPr>
            <p:ph idx="101" type="title" hasCustomPrompt="1"/>
          </p:nvPr>
        </p:nvSpPr>
        <p:spPr>
          <a:xfrm>
            <a:off x="685800" y="731520"/>
            <a:ext cx="14886432" cy="822960"/>
          </a:xfrm>
          <a:prstGeom prst="rect">
            <a:avLst/>
          </a:prstGeom>
          <a:noFill/>
          <a:ln/>
        </p:spPr>
        <p:txBody>
          <a:bodyPr wrap="square" lIns="0" tIns="0" rIns="0" bIns="0" rtlCol="0" anchor="t"/>
          <a:lstStyle/>
          <a:p>
            <a:pPr algn="l" indent="0" marL="0">
              <a:buNone/>
            </a:pPr>
            <a:r>
              <a:rPr lang="en-US" sz="3600" b="1" dirty="0">
                <a:solidFill>
                  <a:schemeClr val="tx1"/>
                </a:solidFill>
              </a:rPr>
              <a:t>Execution Evidence and Results</a:t>
            </a:r>
            <a:endParaRPr lang="en-US" sz="3600" dirty="0"/>
          </a:p>
        </p:txBody>
      </p:sp>
      <p:pic>
        <p:nvPicPr>
          <p:cNvPr id="5" name="pytest run screenshot" descr="/tmp/claude-0/-home-claude/20c42fea-0b24-5b6e-95a5-e2a8cb74a1e4/scratchpad/pytest78.png">    </p:cNvPr>
          <p:cNvPicPr>
            <a:picLocks noChangeAspect="1"/>
          </p:cNvPicPr>
          <p:nvPr/>
        </p:nvPicPr>
        <p:blipFill>
          <a:blip r:embed="rId1"/>
          <a:stretch>
            <a:fillRect/>
          </a:stretch>
        </p:blipFill>
        <p:spPr>
          <a:xfrm>
            <a:off x="685800" y="1828800"/>
            <a:ext cx="10607040" cy="5960225"/>
          </a:xfrm>
          <a:prstGeom prst="rect">
            <a:avLst/>
          </a:prstGeom>
        </p:spPr>
      </p:pic>
      <p:sp>
        <p:nvSpPr>
          <p:cNvPr id="6" name="pytest run screenshot frame"/>
          <p:cNvSpPr/>
          <p:nvPr/>
        </p:nvSpPr>
        <p:spPr>
          <a:xfrm>
            <a:off x="685800" y="1828800"/>
            <a:ext cx="10607040" cy="5960225"/>
          </a:xfrm>
          <a:prstGeom prst="rect">
            <a:avLst/>
          </a:prstGeom>
          <a:ln w="9525">
            <a:solidFill>
              <a:srgbClr val="CFD8DC"/>
            </a:solidFill>
            <a:prstDash val="solid"/>
          </a:ln>
        </p:spPr>
      </p:sp>
      <p:sp>
        <p:nvSpPr>
          <p:cNvPr id="7" name="result 0"/>
          <p:cNvSpPr/>
          <p:nvPr/>
        </p:nvSpPr>
        <p:spPr>
          <a:xfrm>
            <a:off x="11567160" y="1828800"/>
            <a:ext cx="4005072" cy="1463040"/>
          </a:xfrm>
          <a:prstGeom prst="roundRect">
            <a:avLst>
              <a:gd name="adj" fmla="val 5000"/>
            </a:avLst>
          </a:prstGeom>
          <a:solidFill>
            <a:srgbClr val="FFFFFF"/>
          </a:solidFill>
          <a:ln w="9525">
            <a:solidFill>
              <a:srgbClr val="CFD8DC"/>
            </a:solidFill>
            <a:prstDash val="solid"/>
          </a:ln>
        </p:spPr>
      </p:sp>
      <p:sp>
        <p:nvSpPr>
          <p:cNvPr id="8" name="Text 4"/>
          <p:cNvSpPr txBox="1"/>
          <p:nvPr/>
        </p:nvSpPr>
        <p:spPr>
          <a:xfrm>
            <a:off x="11841480" y="1965960"/>
            <a:ext cx="3566160" cy="777240"/>
          </a:xfrm>
          <a:prstGeom prst="rect">
            <a:avLst/>
          </a:prstGeom>
          <a:noFill/>
          <a:ln/>
        </p:spPr>
        <p:txBody>
          <a:bodyPr wrap="square" lIns="0" tIns="0" rIns="0" bIns="0" rtlCol="0" anchor="t"/>
          <a:lstStyle/>
          <a:p>
            <a:pPr indent="0" marL="0">
              <a:buNone/>
            </a:pPr>
            <a:r>
              <a:rPr lang="en-US" sz="4000" b="1" dirty="0">
                <a:solidFill>
                  <a:srgbClr val="E09B00"/>
                </a:solidFill>
              </a:rPr>
              <a:t>78</a:t>
            </a:r>
            <a:endParaRPr lang="en-US" sz="4000" dirty="0"/>
          </a:p>
        </p:txBody>
      </p:sp>
      <p:sp>
        <p:nvSpPr>
          <p:cNvPr id="9" name="Text 5"/>
          <p:cNvSpPr txBox="1"/>
          <p:nvPr/>
        </p:nvSpPr>
        <p:spPr>
          <a:xfrm>
            <a:off x="11841480" y="2743200"/>
            <a:ext cx="3566160" cy="411480"/>
          </a:xfrm>
          <a:prstGeom prst="rect">
            <a:avLst/>
          </a:prstGeom>
          <a:noFill/>
          <a:ln/>
        </p:spPr>
        <p:txBody>
          <a:bodyPr wrap="square" lIns="0" tIns="0" rIns="0" bIns="0" rtlCol="0" anchor="t"/>
          <a:lstStyle/>
          <a:p>
            <a:pPr indent="0" marL="0">
              <a:buNone/>
            </a:pPr>
            <a:r>
              <a:rPr lang="en-US" sz="1500" dirty="0">
                <a:solidFill>
                  <a:srgbClr val="37474F"/>
                </a:solidFill>
              </a:rPr>
              <a:t>backend tests executed</a:t>
            </a:r>
            <a:endParaRPr lang="en-US" sz="1500" dirty="0"/>
          </a:p>
        </p:txBody>
      </p:sp>
      <p:sp>
        <p:nvSpPr>
          <p:cNvPr id="10" name="result 1"/>
          <p:cNvSpPr/>
          <p:nvPr/>
        </p:nvSpPr>
        <p:spPr>
          <a:xfrm>
            <a:off x="11567160" y="3474720"/>
            <a:ext cx="4005072" cy="1463040"/>
          </a:xfrm>
          <a:prstGeom prst="roundRect">
            <a:avLst>
              <a:gd name="adj" fmla="val 5000"/>
            </a:avLst>
          </a:prstGeom>
          <a:solidFill>
            <a:srgbClr val="FFFFFF"/>
          </a:solidFill>
          <a:ln w="9525">
            <a:solidFill>
              <a:srgbClr val="CFD8DC"/>
            </a:solidFill>
            <a:prstDash val="solid"/>
          </a:ln>
        </p:spPr>
      </p:sp>
      <p:sp>
        <p:nvSpPr>
          <p:cNvPr id="11" name="Text 7"/>
          <p:cNvSpPr txBox="1"/>
          <p:nvPr/>
        </p:nvSpPr>
        <p:spPr>
          <a:xfrm>
            <a:off x="11841480" y="3611880"/>
            <a:ext cx="3566160" cy="777240"/>
          </a:xfrm>
          <a:prstGeom prst="rect">
            <a:avLst/>
          </a:prstGeom>
          <a:noFill/>
          <a:ln/>
        </p:spPr>
        <p:txBody>
          <a:bodyPr wrap="square" lIns="0" tIns="0" rIns="0" bIns="0" rtlCol="0" anchor="t"/>
          <a:lstStyle/>
          <a:p>
            <a:pPr indent="0" marL="0">
              <a:buNone/>
            </a:pPr>
            <a:r>
              <a:rPr lang="en-US" sz="4000" b="1" dirty="0">
                <a:solidFill>
                  <a:srgbClr val="2E7D32"/>
                </a:solidFill>
              </a:rPr>
              <a:t>78</a:t>
            </a:r>
            <a:endParaRPr lang="en-US" sz="4000" dirty="0"/>
          </a:p>
        </p:txBody>
      </p:sp>
      <p:sp>
        <p:nvSpPr>
          <p:cNvPr id="12" name="Text 8"/>
          <p:cNvSpPr txBox="1"/>
          <p:nvPr/>
        </p:nvSpPr>
        <p:spPr>
          <a:xfrm>
            <a:off x="11841480" y="4389120"/>
            <a:ext cx="3566160" cy="411480"/>
          </a:xfrm>
          <a:prstGeom prst="rect">
            <a:avLst/>
          </a:prstGeom>
          <a:noFill/>
          <a:ln/>
        </p:spPr>
        <p:txBody>
          <a:bodyPr wrap="square" lIns="0" tIns="0" rIns="0" bIns="0" rtlCol="0" anchor="t"/>
          <a:lstStyle/>
          <a:p>
            <a:pPr indent="0" marL="0">
              <a:buNone/>
            </a:pPr>
            <a:r>
              <a:rPr lang="en-US" sz="1500" dirty="0">
                <a:solidFill>
                  <a:srgbClr val="37474F"/>
                </a:solidFill>
              </a:rPr>
              <a:t>passed  ·  0 failed</a:t>
            </a:r>
            <a:endParaRPr lang="en-US" sz="1500" dirty="0"/>
          </a:p>
        </p:txBody>
      </p:sp>
      <p:sp>
        <p:nvSpPr>
          <p:cNvPr id="13" name="result 2"/>
          <p:cNvSpPr/>
          <p:nvPr/>
        </p:nvSpPr>
        <p:spPr>
          <a:xfrm>
            <a:off x="11567160" y="5120640"/>
            <a:ext cx="4005072" cy="1463040"/>
          </a:xfrm>
          <a:prstGeom prst="roundRect">
            <a:avLst>
              <a:gd name="adj" fmla="val 5000"/>
            </a:avLst>
          </a:prstGeom>
          <a:solidFill>
            <a:srgbClr val="FFFFFF"/>
          </a:solidFill>
          <a:ln w="9525">
            <a:solidFill>
              <a:srgbClr val="CFD8DC"/>
            </a:solidFill>
            <a:prstDash val="solid"/>
          </a:ln>
        </p:spPr>
      </p:sp>
      <p:sp>
        <p:nvSpPr>
          <p:cNvPr id="14" name="Text 10"/>
          <p:cNvSpPr txBox="1"/>
          <p:nvPr/>
        </p:nvSpPr>
        <p:spPr>
          <a:xfrm>
            <a:off x="11841480" y="5257800"/>
            <a:ext cx="3566160" cy="777240"/>
          </a:xfrm>
          <a:prstGeom prst="rect">
            <a:avLst/>
          </a:prstGeom>
          <a:noFill/>
          <a:ln/>
        </p:spPr>
        <p:txBody>
          <a:bodyPr wrap="square" lIns="0" tIns="0" rIns="0" bIns="0" rtlCol="0" anchor="t"/>
          <a:lstStyle/>
          <a:p>
            <a:pPr indent="0" marL="0">
              <a:buNone/>
            </a:pPr>
            <a:r>
              <a:rPr lang="en-US" sz="4000" b="1" dirty="0">
                <a:solidFill>
                  <a:srgbClr val="E09B00"/>
                </a:solidFill>
              </a:rPr>
              <a:t>17 / 17</a:t>
            </a:r>
            <a:endParaRPr lang="en-US" sz="4000" dirty="0"/>
          </a:p>
        </p:txBody>
      </p:sp>
      <p:sp>
        <p:nvSpPr>
          <p:cNvPr id="15" name="Text 11"/>
          <p:cNvSpPr txBox="1"/>
          <p:nvPr/>
        </p:nvSpPr>
        <p:spPr>
          <a:xfrm>
            <a:off x="11841480" y="6035040"/>
            <a:ext cx="3566160" cy="411480"/>
          </a:xfrm>
          <a:prstGeom prst="rect">
            <a:avLst/>
          </a:prstGeom>
          <a:noFill/>
          <a:ln/>
        </p:spPr>
        <p:txBody>
          <a:bodyPr wrap="square" lIns="0" tIns="0" rIns="0" bIns="0" rtlCol="0" anchor="t"/>
          <a:lstStyle/>
          <a:p>
            <a:pPr indent="0" marL="0">
              <a:buNone/>
            </a:pPr>
            <a:r>
              <a:rPr lang="en-US" sz="1500" dirty="0">
                <a:solidFill>
                  <a:srgbClr val="37474F"/>
                </a:solidFill>
              </a:rPr>
              <a:t>dashboard tests passed</a:t>
            </a:r>
            <a:endParaRPr lang="en-US" sz="1500" dirty="0"/>
          </a:p>
        </p:txBody>
      </p:sp>
      <p:sp>
        <p:nvSpPr>
          <p:cNvPr id="16" name="result 3"/>
          <p:cNvSpPr/>
          <p:nvPr/>
        </p:nvSpPr>
        <p:spPr>
          <a:xfrm>
            <a:off x="11567160" y="6766560"/>
            <a:ext cx="4005072" cy="1463040"/>
          </a:xfrm>
          <a:prstGeom prst="roundRect">
            <a:avLst>
              <a:gd name="adj" fmla="val 5000"/>
            </a:avLst>
          </a:prstGeom>
          <a:solidFill>
            <a:srgbClr val="FFFFFF"/>
          </a:solidFill>
          <a:ln w="9525">
            <a:solidFill>
              <a:srgbClr val="CFD8DC"/>
            </a:solidFill>
            <a:prstDash val="solid"/>
          </a:ln>
        </p:spPr>
      </p:sp>
      <p:sp>
        <p:nvSpPr>
          <p:cNvPr id="17" name="Text 13"/>
          <p:cNvSpPr txBox="1"/>
          <p:nvPr/>
        </p:nvSpPr>
        <p:spPr>
          <a:xfrm>
            <a:off x="11841480" y="6903720"/>
            <a:ext cx="3566160" cy="777240"/>
          </a:xfrm>
          <a:prstGeom prst="rect">
            <a:avLst/>
          </a:prstGeom>
          <a:noFill/>
          <a:ln/>
        </p:spPr>
        <p:txBody>
          <a:bodyPr wrap="square" lIns="0" tIns="0" rIns="0" bIns="0" rtlCol="0" anchor="t"/>
          <a:lstStyle/>
          <a:p>
            <a:pPr indent="0" marL="0">
              <a:buNone/>
            </a:pPr>
            <a:r>
              <a:rPr lang="en-US" sz="4000" b="1" dirty="0">
                <a:solidFill>
                  <a:srgbClr val="E09B00"/>
                </a:solidFill>
              </a:rPr>
              <a:t>5.4 s</a:t>
            </a:r>
            <a:endParaRPr lang="en-US" sz="4000" dirty="0"/>
          </a:p>
        </p:txBody>
      </p:sp>
      <p:sp>
        <p:nvSpPr>
          <p:cNvPr id="18" name="Text 14"/>
          <p:cNvSpPr txBox="1"/>
          <p:nvPr/>
        </p:nvSpPr>
        <p:spPr>
          <a:xfrm>
            <a:off x="11841480" y="7680960"/>
            <a:ext cx="3566160" cy="411480"/>
          </a:xfrm>
          <a:prstGeom prst="rect">
            <a:avLst/>
          </a:prstGeom>
          <a:noFill/>
          <a:ln/>
        </p:spPr>
        <p:txBody>
          <a:bodyPr wrap="square" lIns="0" tIns="0" rIns="0" bIns="0" rtlCol="0" anchor="t"/>
          <a:lstStyle/>
          <a:p>
            <a:pPr indent="0" marL="0">
              <a:buNone/>
            </a:pPr>
            <a:r>
              <a:rPr lang="en-US" sz="1500" dirty="0">
                <a:solidFill>
                  <a:srgbClr val="37474F"/>
                </a:solidFill>
              </a:rPr>
              <a:t>full backend run</a:t>
            </a:r>
            <a:endParaRPr lang="en-US" sz="1500" dirty="0"/>
          </a:p>
        </p:txBody>
      </p:sp>
      <p:sp>
        <p:nvSpPr>
          <p:cNvPr id="25" name="Slide Number Placeholder 0"/>
          <p:cNvSpPr>
            <a:spLocks noGrp="1"/>
          </p:cNvSpPr>
          <p:nvPr>
            <p:ph type="sldNum" sz="quarter" idx="4294967295"/>
          </p:nvPr>
        </p:nvSpPr>
        <p:spPr>
          <a:xfrm>
            <a:off x="14794992" y="8549640"/>
            <a:ext cx="91440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3"/>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body" hasCustomPrompt="1"/>
          </p:nvPr>
        </p:nvSpPr>
        <p:spPr>
          <a:xfrm>
            <a:off x="685800" y="365760"/>
            <a:ext cx="10972800" cy="365760"/>
          </a:xfrm>
          <a:prstGeom prst="rect">
            <a:avLst/>
          </a:prstGeom>
          <a:noFill/>
          <a:ln/>
        </p:spPr>
        <p:txBody>
          <a:bodyPr wrap="square" lIns="0" tIns="0" rIns="0" bIns="0" rtlCol="0"/>
          <a:lstStyle/>
          <a:p>
            <a:pPr indent="0" marL="0">
              <a:buNone/>
            </a:pPr>
            <a:r>
              <a:rPr lang="en-US" sz="1200" b="1" spc="200" kern="0" dirty="0">
                <a:solidFill>
                  <a:schemeClr val="accent3"/>
                </a:solidFill>
              </a:rPr>
              <a:t>05 — AUTOMATED TESTING</a:t>
            </a:r>
            <a:endParaRPr lang="en-US" sz="1200" dirty="0"/>
          </a:p>
        </p:txBody>
      </p:sp>
      <p:sp>
        <p:nvSpPr>
          <p:cNvPr id="3" name="Text 0"/>
          <p:cNvSpPr/>
          <p:nvPr>
            <p:ph idx="101" type="title" hasCustomPrompt="1"/>
          </p:nvPr>
        </p:nvSpPr>
        <p:spPr>
          <a:xfrm>
            <a:off x="685800" y="731520"/>
            <a:ext cx="14886432" cy="822960"/>
          </a:xfrm>
          <a:prstGeom prst="rect">
            <a:avLst/>
          </a:prstGeom>
          <a:noFill/>
          <a:ln/>
        </p:spPr>
        <p:txBody>
          <a:bodyPr wrap="square" lIns="0" tIns="0" rIns="0" bIns="0" rtlCol="0" anchor="t"/>
          <a:lstStyle/>
          <a:p>
            <a:pPr algn="l" indent="0" marL="0">
              <a:buNone/>
            </a:pPr>
            <a:r>
              <a:rPr lang="en-US" sz="3600" b="1" dirty="0">
                <a:solidFill>
                  <a:schemeClr val="tx1"/>
                </a:solidFill>
              </a:rPr>
              <a:t>Requirement Traceability Matrix (RTM)</a:t>
            </a:r>
            <a:endParaRPr lang="en-US" sz="36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685800" y="1783080"/>
          <a:ext cx="14886432" cy="914400"/>
        </p:xfrm>
        <a:graphic>
          <a:graphicData uri="http://schemas.openxmlformats.org/drawingml/2006/table">
            <a:tbl>
              <a:tblPr/>
              <a:tblGrid>
                <a:gridCol w="1188720"/>
                <a:gridCol w="6858000"/>
                <a:gridCol w="5394960"/>
                <a:gridCol w="1444752"/>
              </a:tblGrid>
              <a:tr h="457200">
                <a:tc>
                  <a:txBody>
                    <a:bodyPr/>
                    <a:lstStyle/>
                    <a:p>
                      <a:pPr indent="0" marL="0">
                        <a:buNone/>
                      </a:pPr>
                      <a:r>
                        <a:rPr lang="en-US" sz="1400" b="1" dirty="0">
                          <a:solidFill>
                            <a:srgbClr val="FFFFFF"/>
                          </a:solidFill>
                        </a:rPr>
                        <a:t>FR ID</a:t>
                      </a:r>
                      <a:endParaRPr lang="en-US" sz="14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37474F"/>
                    </a:solidFill>
                  </a:tcPr>
                </a:tc>
                <a:tc>
                  <a:txBody>
                    <a:bodyPr/>
                    <a:lstStyle/>
                    <a:p>
                      <a:pPr indent="0" marL="0">
                        <a:buNone/>
                      </a:pPr>
                      <a:r>
                        <a:rPr lang="en-US" sz="1400" b="1" dirty="0">
                          <a:solidFill>
                            <a:srgbClr val="FFFFFF"/>
                          </a:solidFill>
                        </a:rPr>
                        <a:t>Functional requirement (scope module)</a:t>
                      </a:r>
                      <a:endParaRPr lang="en-US" sz="14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37474F"/>
                    </a:solidFill>
                  </a:tcPr>
                </a:tc>
                <a:tc>
                  <a:txBody>
                    <a:bodyPr/>
                    <a:lstStyle/>
                    <a:p>
                      <a:pPr indent="0" marL="0">
                        <a:buNone/>
                      </a:pPr>
                      <a:r>
                        <a:rPr lang="en-US" sz="1400" b="1" dirty="0">
                          <a:solidFill>
                            <a:srgbClr val="FFFFFF"/>
                          </a:solidFill>
                        </a:rPr>
                        <a:t>Automated tests</a:t>
                      </a:r>
                      <a:endParaRPr lang="en-US" sz="14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37474F"/>
                    </a:solidFill>
                  </a:tcPr>
                </a:tc>
                <a:tc>
                  <a:txBody>
                    <a:bodyPr/>
                    <a:lstStyle/>
                    <a:p>
                      <a:pPr indent="0" marL="0">
                        <a:buNone/>
                      </a:pPr>
                      <a:r>
                        <a:rPr lang="en-US" sz="1400" b="1" dirty="0">
                          <a:solidFill>
                            <a:srgbClr val="FFFFFF"/>
                          </a:solidFill>
                        </a:rPr>
                        <a:t>Result</a:t>
                      </a:r>
                      <a:endParaRPr lang="en-US" sz="14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37474F"/>
                    </a:solidFill>
                  </a:tcPr>
                </a:tc>
              </a:tr>
              <a:tr h="457200">
                <a:tc>
                  <a:txBody>
                    <a:bodyPr/>
                    <a:lstStyle/>
                    <a:p>
                      <a:pPr indent="0" marL="0">
                        <a:buNone/>
                      </a:pPr>
                      <a:r>
                        <a:rPr lang="en-US" sz="1500" dirty="0">
                          <a:solidFill>
                            <a:srgbClr val="37474F"/>
                          </a:solidFill>
                        </a:rPr>
                        <a:t>FR-01</a:t>
                      </a:r>
                      <a:endParaRPr lang="en-US" sz="15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FFFFF"/>
                    </a:solidFill>
                  </a:tcPr>
                </a:tc>
                <a:tc>
                  <a:txBody>
                    <a:bodyPr/>
                    <a:lstStyle/>
                    <a:p>
                      <a:pPr indent="0" marL="0">
                        <a:buNone/>
                      </a:pPr>
                      <a:r>
                        <a:rPr lang="en-US" sz="1500" dirty="0">
                          <a:solidFill>
                            <a:srgbClr val="37474F"/>
                          </a:solidFill>
                        </a:rPr>
                        <a:t>Weak-credential profiles per device (M1-FE-1..3)</a:t>
                      </a:r>
                      <a:endParaRPr lang="en-US" sz="15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FFFFF"/>
                    </a:solidFill>
                  </a:tcPr>
                </a:tc>
                <a:tc>
                  <a:txBody>
                    <a:bodyPr/>
                    <a:lstStyle/>
                    <a:p>
                      <a:pPr indent="0" marL="0">
                        <a:buNone/>
                      </a:pPr>
                      <a:r>
                        <a:rPr lang="en-US" sz="1500" dirty="0">
                          <a:solidFill>
                            <a:srgbClr val="37474F"/>
                          </a:solidFill>
                        </a:rPr>
                        <a:t>AT-22, AT-12, AT-13</a:t>
                      </a:r>
                      <a:endParaRPr lang="en-US" sz="15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FFFFF"/>
                    </a:solidFill>
                  </a:tcPr>
                </a:tc>
                <a:tc>
                  <a:txBody>
                    <a:bodyPr/>
                    <a:lstStyle/>
                    <a:p>
                      <a:pPr indent="0" marL="0">
                        <a:buNone/>
                      </a:pPr>
                      <a:r>
                        <a:rPr lang="en-US" sz="1500" b="1" dirty="0">
                          <a:solidFill>
                            <a:srgbClr val="2E7D32"/>
                          </a:solidFill>
                        </a:rPr>
                        <a:t>Pass</a:t>
                      </a:r>
                      <a:endParaRPr lang="en-US" sz="15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FFFFF"/>
                    </a:solidFill>
                  </a:tcPr>
                </a:tc>
              </a:tr>
              <a:tr h="457200">
                <a:tc>
                  <a:txBody>
                    <a:bodyPr/>
                    <a:lstStyle/>
                    <a:p>
                      <a:pPr indent="0" marL="0">
                        <a:buNone/>
                      </a:pPr>
                      <a:r>
                        <a:rPr lang="en-US" sz="1500" dirty="0">
                          <a:solidFill>
                            <a:srgbClr val="37474F"/>
                          </a:solidFill>
                        </a:rPr>
                        <a:t>FR-02</a:t>
                      </a:r>
                      <a:endParaRPr lang="en-US" sz="15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AFBFB"/>
                    </a:solidFill>
                  </a:tcPr>
                </a:tc>
                <a:tc>
                  <a:txBody>
                    <a:bodyPr/>
                    <a:lstStyle/>
                    <a:p>
                      <a:pPr indent="0" marL="0">
                        <a:buNone/>
                      </a:pPr>
                      <a:r>
                        <a:rPr lang="en-US" sz="1500" dirty="0">
                          <a:solidFill>
                            <a:srgbClr val="37474F"/>
                          </a:solidFill>
                        </a:rPr>
                        <a:t>Device State Manager shared by all protocols (M1-FE-4)</a:t>
                      </a:r>
                      <a:endParaRPr lang="en-US" sz="15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AFBFB"/>
                    </a:solidFill>
                  </a:tcPr>
                </a:tc>
                <a:tc>
                  <a:txBody>
                    <a:bodyPr/>
                    <a:lstStyle/>
                    <a:p>
                      <a:pPr indent="0" marL="0">
                        <a:buNone/>
                      </a:pPr>
                      <a:r>
                        <a:rPr lang="en-US" sz="1500" dirty="0">
                          <a:solidFill>
                            <a:srgbClr val="37474F"/>
                          </a:solidFill>
                        </a:rPr>
                        <a:t>AT-19, AT-29, AT-30</a:t>
                      </a:r>
                      <a:endParaRPr lang="en-US" sz="15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AFBFB"/>
                    </a:solidFill>
                  </a:tcPr>
                </a:tc>
                <a:tc>
                  <a:txBody>
                    <a:bodyPr/>
                    <a:lstStyle/>
                    <a:p>
                      <a:pPr indent="0" marL="0">
                        <a:buNone/>
                      </a:pPr>
                      <a:r>
                        <a:rPr lang="en-US" sz="1500" b="1" dirty="0">
                          <a:solidFill>
                            <a:srgbClr val="2E7D32"/>
                          </a:solidFill>
                        </a:rPr>
                        <a:t>Pass</a:t>
                      </a:r>
                      <a:endParaRPr lang="en-US" sz="15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FFFFF"/>
                    </a:solidFill>
                  </a:tcPr>
                </a:tc>
              </a:tr>
              <a:tr h="457200">
                <a:tc>
                  <a:txBody>
                    <a:bodyPr/>
                    <a:lstStyle/>
                    <a:p>
                      <a:pPr indent="0" marL="0">
                        <a:buNone/>
                      </a:pPr>
                      <a:r>
                        <a:rPr lang="en-US" sz="1500" dirty="0">
                          <a:solidFill>
                            <a:srgbClr val="37474F"/>
                          </a:solidFill>
                        </a:rPr>
                        <a:t>FR-03</a:t>
                      </a:r>
                      <a:endParaRPr lang="en-US" sz="15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FFFFF"/>
                    </a:solidFill>
                  </a:tcPr>
                </a:tc>
                <a:tc>
                  <a:txBody>
                    <a:bodyPr/>
                    <a:lstStyle/>
                    <a:p>
                      <a:pPr indent="0" marL="0">
                        <a:buNone/>
                      </a:pPr>
                      <a:r>
                        <a:rPr lang="en-US" sz="1500" dirty="0">
                          <a:solidFill>
                            <a:srgbClr val="37474F"/>
                          </a:solidFill>
                        </a:rPr>
                        <a:t>MQTT 3.1.1 broker parsing (M2)</a:t>
                      </a:r>
                      <a:endParaRPr lang="en-US" sz="15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FFFFF"/>
                    </a:solidFill>
                  </a:tcPr>
                </a:tc>
                <a:tc>
                  <a:txBody>
                    <a:bodyPr/>
                    <a:lstStyle/>
                    <a:p>
                      <a:pPr indent="0" marL="0">
                        <a:buNone/>
                      </a:pPr>
                      <a:r>
                        <a:rPr lang="en-US" sz="1500" dirty="0">
                          <a:solidFill>
                            <a:srgbClr val="37474F"/>
                          </a:solidFill>
                        </a:rPr>
                        <a:t>AT-05 – AT-10</a:t>
                      </a:r>
                      <a:endParaRPr lang="en-US" sz="15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FFFFF"/>
                    </a:solidFill>
                  </a:tcPr>
                </a:tc>
                <a:tc>
                  <a:txBody>
                    <a:bodyPr/>
                    <a:lstStyle/>
                    <a:p>
                      <a:pPr indent="0" marL="0">
                        <a:buNone/>
                      </a:pPr>
                      <a:r>
                        <a:rPr lang="en-US" sz="1500" b="1" dirty="0">
                          <a:solidFill>
                            <a:srgbClr val="2E7D32"/>
                          </a:solidFill>
                        </a:rPr>
                        <a:t>Pass</a:t>
                      </a:r>
                      <a:endParaRPr lang="en-US" sz="15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FFFFF"/>
                    </a:solidFill>
                  </a:tcPr>
                </a:tc>
              </a:tr>
              <a:tr h="457200">
                <a:tc>
                  <a:txBody>
                    <a:bodyPr/>
                    <a:lstStyle/>
                    <a:p>
                      <a:pPr indent="0" marL="0">
                        <a:buNone/>
                      </a:pPr>
                      <a:r>
                        <a:rPr lang="en-US" sz="1500" dirty="0">
                          <a:solidFill>
                            <a:srgbClr val="37474F"/>
                          </a:solidFill>
                        </a:rPr>
                        <a:t>FR-04</a:t>
                      </a:r>
                      <a:endParaRPr lang="en-US" sz="15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AFBFB"/>
                    </a:solidFill>
                  </a:tcPr>
                </a:tc>
                <a:tc>
                  <a:txBody>
                    <a:bodyPr/>
                    <a:lstStyle/>
                    <a:p>
                      <a:pPr indent="0" marL="0">
                        <a:buNone/>
                      </a:pPr>
                      <a:r>
                        <a:rPr lang="en-US" sz="1500" dirty="0">
                          <a:solidFill>
                            <a:srgbClr val="37474F"/>
                          </a:solidFill>
                        </a:rPr>
                        <a:t>Interactive shells over SSH / Telnet (M2)</a:t>
                      </a:r>
                      <a:endParaRPr lang="en-US" sz="15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AFBFB"/>
                    </a:solidFill>
                  </a:tcPr>
                </a:tc>
                <a:tc>
                  <a:txBody>
                    <a:bodyPr/>
                    <a:lstStyle/>
                    <a:p>
                      <a:pPr indent="0" marL="0">
                        <a:buNone/>
                      </a:pPr>
                      <a:r>
                        <a:rPr lang="en-US" sz="1500" dirty="0">
                          <a:solidFill>
                            <a:srgbClr val="37474F"/>
                          </a:solidFill>
                        </a:rPr>
                        <a:t>AT-14, AT-15, AT-17, AT-18, AT-31</a:t>
                      </a:r>
                      <a:endParaRPr lang="en-US" sz="15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AFBFB"/>
                    </a:solidFill>
                  </a:tcPr>
                </a:tc>
                <a:tc>
                  <a:txBody>
                    <a:bodyPr/>
                    <a:lstStyle/>
                    <a:p>
                      <a:pPr indent="0" marL="0">
                        <a:buNone/>
                      </a:pPr>
                      <a:r>
                        <a:rPr lang="en-US" sz="1500" b="1" dirty="0">
                          <a:solidFill>
                            <a:srgbClr val="2E7D32"/>
                          </a:solidFill>
                        </a:rPr>
                        <a:t>Pass</a:t>
                      </a:r>
                      <a:endParaRPr lang="en-US" sz="15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FFFFF"/>
                    </a:solidFill>
                  </a:tcPr>
                </a:tc>
              </a:tr>
              <a:tr h="457200">
                <a:tc>
                  <a:txBody>
                    <a:bodyPr/>
                    <a:lstStyle/>
                    <a:p>
                      <a:pPr indent="0" marL="0">
                        <a:buNone/>
                      </a:pPr>
                      <a:r>
                        <a:rPr lang="en-US" sz="1500" dirty="0">
                          <a:solidFill>
                            <a:srgbClr val="37474F"/>
                          </a:solidFill>
                        </a:rPr>
                        <a:t>FR-05</a:t>
                      </a:r>
                      <a:endParaRPr lang="en-US" sz="15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FFFFF"/>
                    </a:solidFill>
                  </a:tcPr>
                </a:tc>
                <a:tc>
                  <a:txBody>
                    <a:bodyPr/>
                    <a:lstStyle/>
                    <a:p>
                      <a:pPr indent="0" marL="0">
                        <a:buNone/>
                      </a:pPr>
                      <a:r>
                        <a:rPr lang="en-US" sz="1500" dirty="0">
                          <a:solidFill>
                            <a:srgbClr val="37474F"/>
                          </a:solidFill>
                        </a:rPr>
                        <a:t>RTSP authentication, Basic + Digest (M2)</a:t>
                      </a:r>
                      <a:endParaRPr lang="en-US" sz="15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FFFFF"/>
                    </a:solidFill>
                  </a:tcPr>
                </a:tc>
                <a:tc>
                  <a:txBody>
                    <a:bodyPr/>
                    <a:lstStyle/>
                    <a:p>
                      <a:pPr indent="0" marL="0">
                        <a:buNone/>
                      </a:pPr>
                      <a:r>
                        <a:rPr lang="en-US" sz="1500" dirty="0">
                          <a:solidFill>
                            <a:srgbClr val="37474F"/>
                          </a:solidFill>
                        </a:rPr>
                        <a:t>AT-10 – AT-13</a:t>
                      </a:r>
                      <a:endParaRPr lang="en-US" sz="15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FFFFF"/>
                    </a:solidFill>
                  </a:tcPr>
                </a:tc>
                <a:tc>
                  <a:txBody>
                    <a:bodyPr/>
                    <a:lstStyle/>
                    <a:p>
                      <a:pPr indent="0" marL="0">
                        <a:buNone/>
                      </a:pPr>
                      <a:r>
                        <a:rPr lang="en-US" sz="1500" b="1" dirty="0">
                          <a:solidFill>
                            <a:srgbClr val="2E7D32"/>
                          </a:solidFill>
                        </a:rPr>
                        <a:t>Pass</a:t>
                      </a:r>
                      <a:endParaRPr lang="en-US" sz="15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FFFFF"/>
                    </a:solidFill>
                  </a:tcPr>
                </a:tc>
              </a:tr>
              <a:tr h="457200">
                <a:tc>
                  <a:txBody>
                    <a:bodyPr/>
                    <a:lstStyle/>
                    <a:p>
                      <a:pPr indent="0" marL="0">
                        <a:buNone/>
                      </a:pPr>
                      <a:r>
                        <a:rPr lang="en-US" sz="1500" dirty="0">
                          <a:solidFill>
                            <a:srgbClr val="37474F"/>
                          </a:solidFill>
                        </a:rPr>
                        <a:t>FR-06</a:t>
                      </a:r>
                      <a:endParaRPr lang="en-US" sz="15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AFBFB"/>
                    </a:solidFill>
                  </a:tcPr>
                </a:tc>
                <a:tc>
                  <a:txBody>
                    <a:bodyPr/>
                    <a:lstStyle/>
                    <a:p>
                      <a:pPr indent="0" marL="0">
                        <a:buNone/>
                      </a:pPr>
                      <a:r>
                        <a:rPr lang="en-US" sz="1500" dirty="0">
                          <a:solidFill>
                            <a:srgbClr val="37474F"/>
                          </a:solidFill>
                        </a:rPr>
                        <a:t>Command and URL capture, never fetched (M3)</a:t>
                      </a:r>
                      <a:endParaRPr lang="en-US" sz="15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AFBFB"/>
                    </a:solidFill>
                  </a:tcPr>
                </a:tc>
                <a:tc>
                  <a:txBody>
                    <a:bodyPr/>
                    <a:lstStyle/>
                    <a:p>
                      <a:pPr indent="0" marL="0">
                        <a:buNone/>
                      </a:pPr>
                      <a:r>
                        <a:rPr lang="en-US" sz="1500" dirty="0">
                          <a:solidFill>
                            <a:srgbClr val="37474F"/>
                          </a:solidFill>
                        </a:rPr>
                        <a:t>AT-16, AT-24</a:t>
                      </a:r>
                      <a:endParaRPr lang="en-US" sz="15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AFBFB"/>
                    </a:solidFill>
                  </a:tcPr>
                </a:tc>
                <a:tc>
                  <a:txBody>
                    <a:bodyPr/>
                    <a:lstStyle/>
                    <a:p>
                      <a:pPr indent="0" marL="0">
                        <a:buNone/>
                      </a:pPr>
                      <a:r>
                        <a:rPr lang="en-US" sz="1500" b="1" dirty="0">
                          <a:solidFill>
                            <a:srgbClr val="2E7D32"/>
                          </a:solidFill>
                        </a:rPr>
                        <a:t>Pass</a:t>
                      </a:r>
                      <a:endParaRPr lang="en-US" sz="15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FFFFF"/>
                    </a:solidFill>
                  </a:tcPr>
                </a:tc>
              </a:tr>
              <a:tr h="457200">
                <a:tc>
                  <a:txBody>
                    <a:bodyPr/>
                    <a:lstStyle/>
                    <a:p>
                      <a:pPr indent="0" marL="0">
                        <a:buNone/>
                      </a:pPr>
                      <a:r>
                        <a:rPr lang="en-US" sz="1500" dirty="0">
                          <a:solidFill>
                            <a:srgbClr val="37474F"/>
                          </a:solidFill>
                        </a:rPr>
                        <a:t>FR-07</a:t>
                      </a:r>
                      <a:endParaRPr lang="en-US" sz="15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FFFFF"/>
                    </a:solidFill>
                  </a:tcPr>
                </a:tc>
                <a:tc>
                  <a:txBody>
                    <a:bodyPr/>
                    <a:lstStyle/>
                    <a:p>
                      <a:pPr indent="0" marL="0">
                        <a:buNone/>
                      </a:pPr>
                      <a:r>
                        <a:rPr lang="en-US" sz="1500" dirty="0">
                          <a:solidFill>
                            <a:srgbClr val="37474F"/>
                          </a:solidFill>
                        </a:rPr>
                        <a:t>File capture, quarantine and YARA (M3)</a:t>
                      </a:r>
                      <a:endParaRPr lang="en-US" sz="15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FFFFF"/>
                    </a:solidFill>
                  </a:tcPr>
                </a:tc>
                <a:tc>
                  <a:txBody>
                    <a:bodyPr/>
                    <a:lstStyle/>
                    <a:p>
                      <a:pPr indent="0" marL="0">
                        <a:buNone/>
                      </a:pPr>
                      <a:r>
                        <a:rPr lang="en-US" sz="1500" dirty="0">
                          <a:solidFill>
                            <a:srgbClr val="37474F"/>
                          </a:solidFill>
                        </a:rPr>
                        <a:t>AT-25 – AT-28, AT-35</a:t>
                      </a:r>
                      <a:endParaRPr lang="en-US" sz="15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FFFFF"/>
                    </a:solidFill>
                  </a:tcPr>
                </a:tc>
                <a:tc>
                  <a:txBody>
                    <a:bodyPr/>
                    <a:lstStyle/>
                    <a:p>
                      <a:pPr indent="0" marL="0">
                        <a:buNone/>
                      </a:pPr>
                      <a:r>
                        <a:rPr lang="en-US" sz="1500" b="1" dirty="0">
                          <a:solidFill>
                            <a:srgbClr val="2E7D32"/>
                          </a:solidFill>
                        </a:rPr>
                        <a:t>Pass</a:t>
                      </a:r>
                      <a:endParaRPr lang="en-US" sz="15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FFFFF"/>
                    </a:solidFill>
                  </a:tcPr>
                </a:tc>
              </a:tr>
              <a:tr h="457200">
                <a:tc>
                  <a:txBody>
                    <a:bodyPr/>
                    <a:lstStyle/>
                    <a:p>
                      <a:pPr indent="0" marL="0">
                        <a:buNone/>
                      </a:pPr>
                      <a:r>
                        <a:rPr lang="en-US" sz="1500" dirty="0">
                          <a:solidFill>
                            <a:srgbClr val="37474F"/>
                          </a:solidFill>
                        </a:rPr>
                        <a:t>FR-08</a:t>
                      </a:r>
                      <a:endParaRPr lang="en-US" sz="15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AFBFB"/>
                    </a:solidFill>
                  </a:tcPr>
                </a:tc>
                <a:tc>
                  <a:txBody>
                    <a:bodyPr/>
                    <a:lstStyle/>
                    <a:p>
                      <a:pPr indent="0" marL="0">
                        <a:buNone/>
                      </a:pPr>
                      <a:r>
                        <a:rPr lang="en-US" sz="1500" dirty="0">
                          <a:solidFill>
                            <a:srgbClr val="37474F"/>
                          </a:solidFill>
                        </a:rPr>
                        <a:t>Lossless event store (M3)</a:t>
                      </a:r>
                      <a:endParaRPr lang="en-US" sz="15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AFBFB"/>
                    </a:solidFill>
                  </a:tcPr>
                </a:tc>
                <a:tc>
                  <a:txBody>
                    <a:bodyPr/>
                    <a:lstStyle/>
                    <a:p>
                      <a:pPr indent="0" marL="0">
                        <a:buNone/>
                      </a:pPr>
                      <a:r>
                        <a:rPr lang="en-US" sz="1500" dirty="0">
                          <a:solidFill>
                            <a:srgbClr val="37474F"/>
                          </a:solidFill>
                        </a:rPr>
                        <a:t>AT-23, AT-34</a:t>
                      </a:r>
                      <a:endParaRPr lang="en-US" sz="15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AFBFB"/>
                    </a:solidFill>
                  </a:tcPr>
                </a:tc>
                <a:tc>
                  <a:txBody>
                    <a:bodyPr/>
                    <a:lstStyle/>
                    <a:p>
                      <a:pPr indent="0" marL="0">
                        <a:buNone/>
                      </a:pPr>
                      <a:r>
                        <a:rPr lang="en-US" sz="1500" b="1" dirty="0">
                          <a:solidFill>
                            <a:srgbClr val="2E7D32"/>
                          </a:solidFill>
                        </a:rPr>
                        <a:t>Pass</a:t>
                      </a:r>
                      <a:endParaRPr lang="en-US" sz="15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FFFFF"/>
                    </a:solidFill>
                  </a:tcPr>
                </a:tc>
              </a:tr>
              <a:tr h="457200">
                <a:tc>
                  <a:txBody>
                    <a:bodyPr/>
                    <a:lstStyle/>
                    <a:p>
                      <a:pPr indent="0" marL="0">
                        <a:buNone/>
                      </a:pPr>
                      <a:r>
                        <a:rPr lang="en-US" sz="1500" dirty="0">
                          <a:solidFill>
                            <a:srgbClr val="37474F"/>
                          </a:solidFill>
                        </a:rPr>
                        <a:t>FR-09</a:t>
                      </a:r>
                      <a:endParaRPr lang="en-US" sz="15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FFFFF"/>
                    </a:solidFill>
                  </a:tcPr>
                </a:tc>
                <a:tc>
                  <a:txBody>
                    <a:bodyPr/>
                    <a:lstStyle/>
                    <a:p>
                      <a:pPr indent="0" marL="0">
                        <a:buNone/>
                      </a:pPr>
                      <a:r>
                        <a:rPr lang="en-US" sz="1500" dirty="0">
                          <a:solidFill>
                            <a:srgbClr val="37474F"/>
                          </a:solidFill>
                        </a:rPr>
                        <a:t>Detection with MITRE ATT&amp;CK tags (M4)</a:t>
                      </a:r>
                      <a:endParaRPr lang="en-US" sz="15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FFFFF"/>
                    </a:solidFill>
                  </a:tcPr>
                </a:tc>
                <a:tc>
                  <a:txBody>
                    <a:bodyPr/>
                    <a:lstStyle/>
                    <a:p>
                      <a:pPr indent="0" marL="0">
                        <a:buNone/>
                      </a:pPr>
                      <a:r>
                        <a:rPr lang="en-US" sz="1500" dirty="0">
                          <a:solidFill>
                            <a:srgbClr val="37474F"/>
                          </a:solidFill>
                        </a:rPr>
                        <a:t>AT-20, AT-21, AT-36</a:t>
                      </a:r>
                      <a:endParaRPr lang="en-US" sz="15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FFFFF"/>
                    </a:solidFill>
                  </a:tcPr>
                </a:tc>
                <a:tc>
                  <a:txBody>
                    <a:bodyPr/>
                    <a:lstStyle/>
                    <a:p>
                      <a:pPr indent="0" marL="0">
                        <a:buNone/>
                      </a:pPr>
                      <a:r>
                        <a:rPr lang="en-US" sz="1500" b="1" dirty="0">
                          <a:solidFill>
                            <a:srgbClr val="2E7D32"/>
                          </a:solidFill>
                        </a:rPr>
                        <a:t>Pass</a:t>
                      </a:r>
                      <a:endParaRPr lang="en-US" sz="15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FFFFF"/>
                    </a:solidFill>
                  </a:tcPr>
                </a:tc>
              </a:tr>
              <a:tr h="457200">
                <a:tc>
                  <a:txBody>
                    <a:bodyPr/>
                    <a:lstStyle/>
                    <a:p>
                      <a:pPr indent="0" marL="0">
                        <a:buNone/>
                      </a:pPr>
                      <a:r>
                        <a:rPr lang="en-US" sz="1500" dirty="0">
                          <a:solidFill>
                            <a:srgbClr val="37474F"/>
                          </a:solidFill>
                        </a:rPr>
                        <a:t>FR-10</a:t>
                      </a:r>
                      <a:endParaRPr lang="en-US" sz="15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AFBFB"/>
                    </a:solidFill>
                  </a:tcPr>
                </a:tc>
                <a:tc>
                  <a:txBody>
                    <a:bodyPr/>
                    <a:lstStyle/>
                    <a:p>
                      <a:pPr indent="0" marL="0">
                        <a:buNone/>
                      </a:pPr>
                      <a:r>
                        <a:rPr lang="en-US" sz="1500" dirty="0">
                          <a:solidFill>
                            <a:srgbClr val="37474F"/>
                          </a:solidFill>
                        </a:rPr>
                        <a:t>IOC store and STIX 2.1 export (M4)</a:t>
                      </a:r>
                      <a:endParaRPr lang="en-US" sz="15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AFBFB"/>
                    </a:solidFill>
                  </a:tcPr>
                </a:tc>
                <a:tc>
                  <a:txBody>
                    <a:bodyPr/>
                    <a:lstStyle/>
                    <a:p>
                      <a:pPr indent="0" marL="0">
                        <a:buNone/>
                      </a:pPr>
                      <a:r>
                        <a:rPr lang="en-US" sz="1500" dirty="0">
                          <a:solidFill>
                            <a:srgbClr val="37474F"/>
                          </a:solidFill>
                        </a:rPr>
                        <a:t>AT-37, AT-38</a:t>
                      </a:r>
                      <a:endParaRPr lang="en-US" sz="15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AFBFB"/>
                    </a:solidFill>
                  </a:tcPr>
                </a:tc>
                <a:tc>
                  <a:txBody>
                    <a:bodyPr/>
                    <a:lstStyle/>
                    <a:p>
                      <a:pPr indent="0" marL="0">
                        <a:buNone/>
                      </a:pPr>
                      <a:r>
                        <a:rPr lang="en-US" sz="1500" b="1" dirty="0">
                          <a:solidFill>
                            <a:srgbClr val="2E7D32"/>
                          </a:solidFill>
                        </a:rPr>
                        <a:t>Pass</a:t>
                      </a:r>
                      <a:endParaRPr lang="en-US" sz="15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FFFFF"/>
                    </a:solidFill>
                  </a:tcPr>
                </a:tc>
              </a:tr>
              <a:tr h="457200">
                <a:tc>
                  <a:txBody>
                    <a:bodyPr/>
                    <a:lstStyle/>
                    <a:p>
                      <a:pPr indent="0" marL="0">
                        <a:buNone/>
                      </a:pPr>
                      <a:r>
                        <a:rPr lang="en-US" sz="1500" dirty="0">
                          <a:solidFill>
                            <a:srgbClr val="37474F"/>
                          </a:solidFill>
                        </a:rPr>
                        <a:t>FR-11</a:t>
                      </a:r>
                      <a:endParaRPr lang="en-US" sz="15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FFFFF"/>
                    </a:solidFill>
                  </a:tcPr>
                </a:tc>
                <a:tc>
                  <a:txBody>
                    <a:bodyPr/>
                    <a:lstStyle/>
                    <a:p>
                      <a:pPr indent="0" marL="0">
                        <a:buNone/>
                      </a:pPr>
                      <a:r>
                        <a:rPr lang="en-US" sz="1500" dirty="0">
                          <a:solidFill>
                            <a:srgbClr val="37474F"/>
                          </a:solidFill>
                        </a:rPr>
                        <a:t>Threat reports, PDF and CSV export (M4/M5)</a:t>
                      </a:r>
                      <a:endParaRPr lang="en-US" sz="15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FFFFF"/>
                    </a:solidFill>
                  </a:tcPr>
                </a:tc>
                <a:tc>
                  <a:txBody>
                    <a:bodyPr/>
                    <a:lstStyle/>
                    <a:p>
                      <a:pPr indent="0" marL="0">
                        <a:buNone/>
                      </a:pPr>
                      <a:r>
                        <a:rPr lang="en-US" sz="1500" dirty="0">
                          <a:solidFill>
                            <a:srgbClr val="37474F"/>
                          </a:solidFill>
                        </a:rPr>
                        <a:t>AT-32, AT-42, AT-45</a:t>
                      </a:r>
                      <a:endParaRPr lang="en-US" sz="15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FFFFF"/>
                    </a:solidFill>
                  </a:tcPr>
                </a:tc>
                <a:tc>
                  <a:txBody>
                    <a:bodyPr/>
                    <a:lstStyle/>
                    <a:p>
                      <a:pPr indent="0" marL="0">
                        <a:buNone/>
                      </a:pPr>
                      <a:r>
                        <a:rPr lang="en-US" sz="1500" b="1" dirty="0">
                          <a:solidFill>
                            <a:srgbClr val="2E7D32"/>
                          </a:solidFill>
                        </a:rPr>
                        <a:t>Pass</a:t>
                      </a:r>
                      <a:endParaRPr lang="en-US" sz="15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FFFFF"/>
                    </a:solidFill>
                  </a:tcPr>
                </a:tc>
              </a:tr>
              <a:tr h="457200">
                <a:tc>
                  <a:txBody>
                    <a:bodyPr/>
                    <a:lstStyle/>
                    <a:p>
                      <a:pPr indent="0" marL="0">
                        <a:buNone/>
                      </a:pPr>
                      <a:r>
                        <a:rPr lang="en-US" sz="1500" dirty="0">
                          <a:solidFill>
                            <a:srgbClr val="37474F"/>
                          </a:solidFill>
                        </a:rPr>
                        <a:t>FR-12</a:t>
                      </a:r>
                      <a:endParaRPr lang="en-US" sz="15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AFBFB"/>
                    </a:solidFill>
                  </a:tcPr>
                </a:tc>
                <a:tc>
                  <a:txBody>
                    <a:bodyPr/>
                    <a:lstStyle/>
                    <a:p>
                      <a:pPr indent="0" marL="0">
                        <a:buNone/>
                      </a:pPr>
                      <a:r>
                        <a:rPr lang="en-US" sz="1500" dirty="0">
                          <a:solidFill>
                            <a:srgbClr val="37474F"/>
                          </a:solidFill>
                        </a:rPr>
                        <a:t>Dashboard API, search and live push (M5)</a:t>
                      </a:r>
                      <a:endParaRPr lang="en-US" sz="15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AFBFB"/>
                    </a:solidFill>
                  </a:tcPr>
                </a:tc>
                <a:tc>
                  <a:txBody>
                    <a:bodyPr/>
                    <a:lstStyle/>
                    <a:p>
                      <a:pPr indent="0" marL="0">
                        <a:buNone/>
                      </a:pPr>
                      <a:r>
                        <a:rPr lang="en-US" sz="1500" dirty="0">
                          <a:solidFill>
                            <a:srgbClr val="37474F"/>
                          </a:solidFill>
                        </a:rPr>
                        <a:t>AT-01 – AT-04, AT-40, AT-41, AT-43, AT-44</a:t>
                      </a:r>
                      <a:endParaRPr lang="en-US" sz="15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AFBFB"/>
                    </a:solidFill>
                  </a:tcPr>
                </a:tc>
                <a:tc>
                  <a:txBody>
                    <a:bodyPr/>
                    <a:lstStyle/>
                    <a:p>
                      <a:pPr indent="0" marL="0">
                        <a:buNone/>
                      </a:pPr>
                      <a:r>
                        <a:rPr lang="en-US" sz="1500" b="1" dirty="0">
                          <a:solidFill>
                            <a:srgbClr val="2E7D32"/>
                          </a:solidFill>
                        </a:rPr>
                        <a:t>Pass</a:t>
                      </a:r>
                      <a:endParaRPr lang="en-US" sz="15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FFFFF"/>
                    </a:solidFill>
                  </a:tcPr>
                </a:tc>
              </a:tr>
              <a:tr h="457200">
                <a:tc>
                  <a:txBody>
                    <a:bodyPr/>
                    <a:lstStyle/>
                    <a:p>
                      <a:pPr indent="0" marL="0">
                        <a:buNone/>
                      </a:pPr>
                      <a:r>
                        <a:rPr lang="en-US" sz="1500" dirty="0">
                          <a:solidFill>
                            <a:srgbClr val="37474F"/>
                          </a:solidFill>
                        </a:rPr>
                        <a:t>FR-13</a:t>
                      </a:r>
                      <a:endParaRPr lang="en-US" sz="15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FFFFF"/>
                    </a:solidFill>
                  </a:tcPr>
                </a:tc>
                <a:tc>
                  <a:txBody>
                    <a:bodyPr/>
                    <a:lstStyle/>
                    <a:p>
                      <a:pPr indent="0" marL="0">
                        <a:buNone/>
                      </a:pPr>
                      <a:r>
                        <a:rPr lang="en-US" sz="1500" dirty="0">
                          <a:solidFill>
                            <a:srgbClr val="37474F"/>
                          </a:solidFill>
                        </a:rPr>
                        <a:t>ML dataset with weak labels (M8-FE-1 prep)</a:t>
                      </a:r>
                      <a:endParaRPr lang="en-US" sz="15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FFFFF"/>
                    </a:solidFill>
                  </a:tcPr>
                </a:tc>
                <a:tc>
                  <a:txBody>
                    <a:bodyPr/>
                    <a:lstStyle/>
                    <a:p>
                      <a:pPr indent="0" marL="0">
                        <a:buNone/>
                      </a:pPr>
                      <a:r>
                        <a:rPr lang="en-US" sz="1500" dirty="0">
                          <a:solidFill>
                            <a:srgbClr val="37474F"/>
                          </a:solidFill>
                        </a:rPr>
                        <a:t>AT-33, AT-39</a:t>
                      </a:r>
                      <a:endParaRPr lang="en-US" sz="15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FFFFF"/>
                    </a:solidFill>
                  </a:tcPr>
                </a:tc>
                <a:tc>
                  <a:txBody>
                    <a:bodyPr/>
                    <a:lstStyle/>
                    <a:p>
                      <a:pPr indent="0" marL="0">
                        <a:buNone/>
                      </a:pPr>
                      <a:r>
                        <a:rPr lang="en-US" sz="1500" b="1" dirty="0">
                          <a:solidFill>
                            <a:srgbClr val="2E7D32"/>
                          </a:solidFill>
                        </a:rPr>
                        <a:t>Pass</a:t>
                      </a:r>
                      <a:endParaRPr lang="en-US" sz="15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4794992" y="8549640"/>
            <a:ext cx="91440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3"/>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body" hasCustomPrompt="1"/>
          </p:nvPr>
        </p:nvSpPr>
        <p:spPr>
          <a:xfrm>
            <a:off x="685800" y="365760"/>
            <a:ext cx="10972800" cy="365760"/>
          </a:xfrm>
          <a:prstGeom prst="rect">
            <a:avLst/>
          </a:prstGeom>
          <a:noFill/>
          <a:ln/>
        </p:spPr>
        <p:txBody>
          <a:bodyPr wrap="square" lIns="0" tIns="0" rIns="0" bIns="0" rtlCol="0"/>
          <a:lstStyle/>
          <a:p>
            <a:pPr indent="0" marL="0">
              <a:buNone/>
            </a:pPr>
            <a:r>
              <a:rPr lang="en-US" sz="1200" b="1" spc="200" kern="0" dirty="0">
                <a:solidFill>
                  <a:schemeClr val="accent3"/>
                </a:solidFill>
              </a:rPr>
              <a:t>05 — AUTOMATED TESTING</a:t>
            </a:r>
            <a:endParaRPr lang="en-US" sz="1200" dirty="0"/>
          </a:p>
        </p:txBody>
      </p:sp>
      <p:sp>
        <p:nvSpPr>
          <p:cNvPr id="3" name="Text 0"/>
          <p:cNvSpPr/>
          <p:nvPr>
            <p:ph idx="101" type="title" hasCustomPrompt="1"/>
          </p:nvPr>
        </p:nvSpPr>
        <p:spPr>
          <a:xfrm>
            <a:off x="685800" y="731520"/>
            <a:ext cx="14886432" cy="822960"/>
          </a:xfrm>
          <a:prstGeom prst="rect">
            <a:avLst/>
          </a:prstGeom>
          <a:noFill/>
          <a:ln/>
        </p:spPr>
        <p:txBody>
          <a:bodyPr wrap="square" lIns="0" tIns="0" rIns="0" bIns="0" rtlCol="0" anchor="t"/>
          <a:lstStyle/>
          <a:p>
            <a:pPr algn="l" indent="0" marL="0">
              <a:buNone/>
            </a:pPr>
            <a:r>
              <a:rPr lang="en-US" sz="3600" b="1" dirty="0">
                <a:solidFill>
                  <a:schemeClr val="tx1"/>
                </a:solidFill>
              </a:rPr>
              <a:t>Automated Test Case IDs</a:t>
            </a:r>
            <a:endParaRPr lang="en-US" sz="3600" dirty="0"/>
          </a:p>
        </p:txBody>
      </p:sp>
      <p:sp>
        <p:nvSpPr>
          <p:cNvPr id="5" name="AT column 0"/>
          <p:cNvSpPr/>
          <p:nvPr/>
        </p:nvSpPr>
        <p:spPr>
          <a:xfrm>
            <a:off x="685800" y="1783080"/>
            <a:ext cx="4840224" cy="6537960"/>
          </a:xfrm>
          <a:prstGeom prst="roundRect">
            <a:avLst>
              <a:gd name="adj" fmla="val 1511"/>
            </a:avLst>
          </a:prstGeom>
          <a:solidFill>
            <a:srgbClr val="FFFFFF"/>
          </a:solidFill>
          <a:ln w="9525">
            <a:solidFill>
              <a:srgbClr val="CFD8DC"/>
            </a:solidFill>
            <a:prstDash val="solid"/>
          </a:ln>
        </p:spPr>
      </p:sp>
      <p:sp>
        <p:nvSpPr>
          <p:cNvPr id="6" name="Text 3"/>
          <p:cNvSpPr txBox="1"/>
          <p:nvPr/>
        </p:nvSpPr>
        <p:spPr>
          <a:xfrm>
            <a:off x="868680" y="2011680"/>
            <a:ext cx="4520184" cy="6217920"/>
          </a:xfrm>
          <a:prstGeom prst="rect">
            <a:avLst/>
          </a:prstGeom>
          <a:noFill/>
          <a:ln/>
        </p:spPr>
        <p:txBody>
          <a:bodyPr wrap="square" lIns="0" tIns="0" rIns="0" bIns="0" rtlCol="0" anchor="t"/>
          <a:lstStyle/>
          <a:p>
            <a:pPr indent="0" marL="0">
              <a:lnSpc>
                <a:spcPct val="175000"/>
              </a:lnSpc>
              <a:buNone/>
            </a:pPr>
            <a:r>
              <a:rPr lang="en-US" sz="1250" b="1" dirty="0">
                <a:solidFill>
                  <a:srgbClr val="263238"/>
                </a:solidFill>
              </a:rPr>
              <a:t>test_api.py</a:t>
            </a:r>
            <a:endParaRPr lang="en-US" sz="1000" dirty="0"/>
          </a:p>
          <a:p>
            <a:pPr indent="0" marL="0">
              <a:lnSpc>
                <a:spcPct val="175000"/>
              </a:lnSpc>
              <a:buNone/>
            </a:pPr>
            <a:r>
              <a:rPr lang="en-US" sz="1000" b="1" dirty="0">
                <a:solidFill>
                  <a:srgbClr val="E09B00"/>
                </a:solidFill>
                <a:latin typeface="Courier New" pitchFamily="34" charset="0"/>
                <a:ea typeface="Courier New" pitchFamily="34" charset="-122"/>
                <a:cs typeface="Courier New" pitchFamily="34" charset="-120"/>
              </a:rPr>
              <a:t>AT-01  </a:t>
            </a:r>
            <a:pPr indent="0" marL="0">
              <a:lnSpc>
                <a:spcPct val="175000"/>
              </a:lnSpc>
              <a:buNone/>
            </a:pPr>
            <a:r>
              <a:rPr lang="en-US" sz="1000" dirty="0">
                <a:solidFill>
                  <a:srgbClr val="37474F"/>
                </a:solidFill>
                <a:latin typeface="Courier New" pitchFamily="34" charset="0"/>
                <a:ea typeface="Courier New" pitchFamily="34" charset="-122"/>
                <a:cs typeface="Courier New" pitchFamily="34" charset="-120"/>
              </a:rPr>
              <a:t>test_health</a:t>
            </a:r>
            <a:endParaRPr lang="en-US" sz="1000" dirty="0"/>
          </a:p>
          <a:p>
            <a:pPr indent="0" marL="0">
              <a:lnSpc>
                <a:spcPct val="175000"/>
              </a:lnSpc>
              <a:buNone/>
            </a:pPr>
            <a:r>
              <a:rPr lang="en-US" sz="1000" b="1" dirty="0">
                <a:solidFill>
                  <a:srgbClr val="E09B00"/>
                </a:solidFill>
                <a:latin typeface="Courier New" pitchFamily="34" charset="0"/>
                <a:ea typeface="Courier New" pitchFamily="34" charset="-122"/>
                <a:cs typeface="Courier New" pitchFamily="34" charset="-120"/>
              </a:rPr>
              <a:t>AT-02  </a:t>
            </a:r>
            <a:pPr indent="0" marL="0">
              <a:lnSpc>
                <a:spcPct val="175000"/>
              </a:lnSpc>
              <a:buNone/>
            </a:pPr>
            <a:r>
              <a:rPr lang="en-US" sz="1000" dirty="0">
                <a:solidFill>
                  <a:srgbClr val="37474F"/>
                </a:solidFill>
                <a:latin typeface="Courier New" pitchFamily="34" charset="0"/>
                <a:ea typeface="Courier New" pitchFamily="34" charset="-122"/>
                <a:cs typeface="Courier New" pitchFamily="34" charset="-120"/>
              </a:rPr>
              <a:t>test_stats_shape</a:t>
            </a:r>
            <a:endParaRPr lang="en-US" sz="1000" dirty="0"/>
          </a:p>
          <a:p>
            <a:pPr indent="0" marL="0">
              <a:lnSpc>
                <a:spcPct val="175000"/>
              </a:lnSpc>
              <a:buNone/>
            </a:pPr>
            <a:r>
              <a:rPr lang="en-US" sz="1000" b="1" dirty="0">
                <a:solidFill>
                  <a:srgbClr val="E09B00"/>
                </a:solidFill>
                <a:latin typeface="Courier New" pitchFamily="34" charset="0"/>
                <a:ea typeface="Courier New" pitchFamily="34" charset="-122"/>
                <a:cs typeface="Courier New" pitchFamily="34" charset="-120"/>
              </a:rPr>
              <a:t>AT-03  </a:t>
            </a:r>
            <a:pPr indent="0" marL="0">
              <a:lnSpc>
                <a:spcPct val="175000"/>
              </a:lnSpc>
              <a:buNone/>
            </a:pPr>
            <a:r>
              <a:rPr lang="en-US" sz="1000" dirty="0">
                <a:solidFill>
                  <a:srgbClr val="37474F"/>
                </a:solidFill>
                <a:latin typeface="Courier New" pitchFamily="34" charset="0"/>
                <a:ea typeface="Courier New" pitchFamily="34" charset="-122"/>
                <a:cs typeface="Courier New" pitchFamily="34" charset="-120"/>
              </a:rPr>
              <a:t>test_endpoints_return_json  (9)</a:t>
            </a:r>
            <a:endParaRPr lang="en-US" sz="1000" dirty="0"/>
          </a:p>
          <a:p>
            <a:pPr indent="0" marL="0">
              <a:lnSpc>
                <a:spcPct val="175000"/>
              </a:lnSpc>
              <a:buNone/>
            </a:pPr>
            <a:r>
              <a:rPr lang="en-US" sz="1000" b="1" dirty="0">
                <a:solidFill>
                  <a:srgbClr val="E09B00"/>
                </a:solidFill>
                <a:latin typeface="Courier New" pitchFamily="34" charset="0"/>
                <a:ea typeface="Courier New" pitchFamily="34" charset="-122"/>
                <a:cs typeface="Courier New" pitchFamily="34" charset="-120"/>
              </a:rPr>
              <a:t>AT-04  </a:t>
            </a:r>
            <a:pPr indent="0" marL="0">
              <a:lnSpc>
                <a:spcPct val="175000"/>
              </a:lnSpc>
              <a:buNone/>
            </a:pPr>
            <a:r>
              <a:rPr lang="en-US" sz="1000" dirty="0">
                <a:solidFill>
                  <a:srgbClr val="37474F"/>
                </a:solidFill>
                <a:latin typeface="Courier New" pitchFamily="34" charset="0"/>
                <a:ea typeface="Courier New" pitchFamily="34" charset="-122"/>
                <a:cs typeface="Courier New" pitchFamily="34" charset="-120"/>
              </a:rPr>
              <a:t>test_search_requires_query</a:t>
            </a:r>
            <a:endParaRPr lang="en-US" sz="1000" dirty="0"/>
          </a:p>
          <a:p>
            <a:pPr indent="0" marL="0">
              <a:lnSpc>
                <a:spcPct val="175000"/>
              </a:lnSpc>
              <a:buNone/>
            </a:pPr>
            <a:r>
              <a:rPr lang="en-US" sz="1250" b="1" dirty="0">
                <a:solidFill>
                  <a:srgbClr val="263238"/>
                </a:solidFill>
              </a:rPr>
              <a:t>test_parsers.py</a:t>
            </a:r>
            <a:endParaRPr lang="en-US" sz="1000" dirty="0"/>
          </a:p>
          <a:p>
            <a:pPr indent="0" marL="0">
              <a:lnSpc>
                <a:spcPct val="175000"/>
              </a:lnSpc>
              <a:buNone/>
            </a:pPr>
            <a:r>
              <a:rPr lang="en-US" sz="1000" b="1" dirty="0">
                <a:solidFill>
                  <a:srgbClr val="E09B00"/>
                </a:solidFill>
                <a:latin typeface="Courier New" pitchFamily="34" charset="0"/>
                <a:ea typeface="Courier New" pitchFamily="34" charset="-122"/>
                <a:cs typeface="Courier New" pitchFamily="34" charset="-120"/>
              </a:rPr>
              <a:t>AT-05  </a:t>
            </a:r>
            <a:pPr indent="0" marL="0">
              <a:lnSpc>
                <a:spcPct val="175000"/>
              </a:lnSpc>
              <a:buNone/>
            </a:pPr>
            <a:r>
              <a:rPr lang="en-US" sz="1000" dirty="0">
                <a:solidFill>
                  <a:srgbClr val="37474F"/>
                </a:solidFill>
                <a:latin typeface="Courier New" pitchFamily="34" charset="0"/>
                <a:ea typeface="Courier New" pitchFamily="34" charset="-122"/>
                <a:cs typeface="Courier New" pitchFamily="34" charset="-120"/>
              </a:rPr>
              <a:t>test_remaining_length_roundtrip  (8)</a:t>
            </a:r>
            <a:endParaRPr lang="en-US" sz="1000" dirty="0"/>
          </a:p>
          <a:p>
            <a:pPr indent="0" marL="0">
              <a:lnSpc>
                <a:spcPct val="175000"/>
              </a:lnSpc>
              <a:buNone/>
            </a:pPr>
            <a:r>
              <a:rPr lang="en-US" sz="1000" b="1" dirty="0">
                <a:solidFill>
                  <a:srgbClr val="E09B00"/>
                </a:solidFill>
                <a:latin typeface="Courier New" pitchFamily="34" charset="0"/>
                <a:ea typeface="Courier New" pitchFamily="34" charset="-122"/>
                <a:cs typeface="Courier New" pitchFamily="34" charset="-120"/>
              </a:rPr>
              <a:t>AT-06  </a:t>
            </a:r>
            <a:pPr indent="0" marL="0">
              <a:lnSpc>
                <a:spcPct val="175000"/>
              </a:lnSpc>
              <a:buNone/>
            </a:pPr>
            <a:r>
              <a:rPr lang="en-US" sz="1000" dirty="0">
                <a:solidFill>
                  <a:srgbClr val="37474F"/>
                </a:solidFill>
                <a:latin typeface="Courier New" pitchFamily="34" charset="0"/>
                <a:ea typeface="Courier New" pitchFamily="34" charset="-122"/>
                <a:cs typeface="Courier New" pitchFamily="34" charset="-120"/>
              </a:rPr>
              <a:t>test_remaining_length_handles_large_packet</a:t>
            </a:r>
            <a:endParaRPr lang="en-US" sz="1000" dirty="0"/>
          </a:p>
          <a:p>
            <a:pPr indent="0" marL="0">
              <a:lnSpc>
                <a:spcPct val="175000"/>
              </a:lnSpc>
              <a:buNone/>
            </a:pPr>
            <a:r>
              <a:rPr lang="en-US" sz="1000" b="1" dirty="0">
                <a:solidFill>
                  <a:srgbClr val="E09B00"/>
                </a:solidFill>
                <a:latin typeface="Courier New" pitchFamily="34" charset="0"/>
                <a:ea typeface="Courier New" pitchFamily="34" charset="-122"/>
                <a:cs typeface="Courier New" pitchFamily="34" charset="-120"/>
              </a:rPr>
              <a:t>AT-07  </a:t>
            </a:r>
            <a:pPr indent="0" marL="0">
              <a:lnSpc>
                <a:spcPct val="175000"/>
              </a:lnSpc>
              <a:buNone/>
            </a:pPr>
            <a:r>
              <a:rPr lang="en-US" sz="1000" dirty="0">
                <a:solidFill>
                  <a:srgbClr val="37474F"/>
                </a:solidFill>
                <a:latin typeface="Courier New" pitchFamily="34" charset="0"/>
                <a:ea typeface="Courier New" pitchFamily="34" charset="-122"/>
                <a:cs typeface="Courier New" pitchFamily="34" charset="-120"/>
              </a:rPr>
              <a:t>test_mqtt_connect_with_credentials</a:t>
            </a:r>
            <a:endParaRPr lang="en-US" sz="1000" dirty="0"/>
          </a:p>
          <a:p>
            <a:pPr indent="0" marL="0">
              <a:lnSpc>
                <a:spcPct val="175000"/>
              </a:lnSpc>
              <a:buNone/>
            </a:pPr>
            <a:r>
              <a:rPr lang="en-US" sz="1000" b="1" dirty="0">
                <a:solidFill>
                  <a:srgbClr val="E09B00"/>
                </a:solidFill>
                <a:latin typeface="Courier New" pitchFamily="34" charset="0"/>
                <a:ea typeface="Courier New" pitchFamily="34" charset="-122"/>
                <a:cs typeface="Courier New" pitchFamily="34" charset="-120"/>
              </a:rPr>
              <a:t>AT-08  </a:t>
            </a:r>
            <a:pPr indent="0" marL="0">
              <a:lnSpc>
                <a:spcPct val="175000"/>
              </a:lnSpc>
              <a:buNone/>
            </a:pPr>
            <a:r>
              <a:rPr lang="en-US" sz="1000" dirty="0">
                <a:solidFill>
                  <a:srgbClr val="37474F"/>
                </a:solidFill>
                <a:latin typeface="Courier New" pitchFamily="34" charset="0"/>
                <a:ea typeface="Courier New" pitchFamily="34" charset="-122"/>
                <a:cs typeface="Courier New" pitchFamily="34" charset="-120"/>
              </a:rPr>
              <a:t>test_mqtt_rejects_bad_protocol</a:t>
            </a:r>
            <a:endParaRPr lang="en-US" sz="1000" dirty="0"/>
          </a:p>
          <a:p>
            <a:pPr indent="0" marL="0">
              <a:lnSpc>
                <a:spcPct val="175000"/>
              </a:lnSpc>
              <a:buNone/>
            </a:pPr>
            <a:r>
              <a:rPr lang="en-US" sz="1000" b="1" dirty="0">
                <a:solidFill>
                  <a:srgbClr val="E09B00"/>
                </a:solidFill>
                <a:latin typeface="Courier New" pitchFamily="34" charset="0"/>
                <a:ea typeface="Courier New" pitchFamily="34" charset="-122"/>
                <a:cs typeface="Courier New" pitchFamily="34" charset="-120"/>
              </a:rPr>
              <a:t>AT-09  </a:t>
            </a:r>
            <a:pPr indent="0" marL="0">
              <a:lnSpc>
                <a:spcPct val="175000"/>
              </a:lnSpc>
              <a:buNone/>
            </a:pPr>
            <a:r>
              <a:rPr lang="en-US" sz="1000" dirty="0">
                <a:solidFill>
                  <a:srgbClr val="37474F"/>
                </a:solidFill>
                <a:latin typeface="Courier New" pitchFamily="34" charset="0"/>
                <a:ea typeface="Courier New" pitchFamily="34" charset="-122"/>
                <a:cs typeface="Courier New" pitchFamily="34" charset="-120"/>
              </a:rPr>
              <a:t>test_mqtt_subscribe_multiple_topics</a:t>
            </a:r>
            <a:endParaRPr lang="en-US" sz="1000" dirty="0"/>
          </a:p>
          <a:p>
            <a:pPr indent="0" marL="0">
              <a:lnSpc>
                <a:spcPct val="175000"/>
              </a:lnSpc>
              <a:buNone/>
            </a:pPr>
            <a:r>
              <a:rPr lang="en-US" sz="1000" b="1" dirty="0">
                <a:solidFill>
                  <a:srgbClr val="E09B00"/>
                </a:solidFill>
                <a:latin typeface="Courier New" pitchFamily="34" charset="0"/>
                <a:ea typeface="Courier New" pitchFamily="34" charset="-122"/>
                <a:cs typeface="Courier New" pitchFamily="34" charset="-120"/>
              </a:rPr>
              <a:t>AT-10  </a:t>
            </a:r>
            <a:pPr indent="0" marL="0">
              <a:lnSpc>
                <a:spcPct val="175000"/>
              </a:lnSpc>
              <a:buNone/>
            </a:pPr>
            <a:r>
              <a:rPr lang="en-US" sz="1000" dirty="0">
                <a:solidFill>
                  <a:srgbClr val="37474F"/>
                </a:solidFill>
                <a:latin typeface="Courier New" pitchFamily="34" charset="0"/>
                <a:ea typeface="Courier New" pitchFamily="34" charset="-122"/>
                <a:cs typeface="Courier New" pitchFamily="34" charset="-120"/>
              </a:rPr>
              <a:t>test_topic_matching  (7)</a:t>
            </a:r>
            <a:endParaRPr lang="en-US" sz="1000" dirty="0"/>
          </a:p>
          <a:p>
            <a:pPr indent="0" marL="0">
              <a:lnSpc>
                <a:spcPct val="175000"/>
              </a:lnSpc>
              <a:buNone/>
            </a:pPr>
            <a:r>
              <a:rPr lang="en-US" sz="1000" b="1" dirty="0">
                <a:solidFill>
                  <a:srgbClr val="E09B00"/>
                </a:solidFill>
                <a:latin typeface="Courier New" pitchFamily="34" charset="0"/>
                <a:ea typeface="Courier New" pitchFamily="34" charset="-122"/>
                <a:cs typeface="Courier New" pitchFamily="34" charset="-120"/>
              </a:rPr>
              <a:t>AT-11  </a:t>
            </a:r>
            <a:pPr indent="0" marL="0">
              <a:lnSpc>
                <a:spcPct val="175000"/>
              </a:lnSpc>
              <a:buNone/>
            </a:pPr>
            <a:r>
              <a:rPr lang="en-US" sz="1000" dirty="0">
                <a:solidFill>
                  <a:srgbClr val="37474F"/>
                </a:solidFill>
                <a:latin typeface="Courier New" pitchFamily="34" charset="0"/>
                <a:ea typeface="Courier New" pitchFamily="34" charset="-122"/>
                <a:cs typeface="Courier New" pitchFamily="34" charset="-120"/>
              </a:rPr>
              <a:t>test_rtsp_parse_digest_header</a:t>
            </a:r>
            <a:endParaRPr lang="en-US" sz="1000" dirty="0"/>
          </a:p>
          <a:p>
            <a:pPr indent="0" marL="0">
              <a:lnSpc>
                <a:spcPct val="175000"/>
              </a:lnSpc>
              <a:buNone/>
            </a:pPr>
            <a:r>
              <a:rPr lang="en-US" sz="1000" b="1" dirty="0">
                <a:solidFill>
                  <a:srgbClr val="E09B00"/>
                </a:solidFill>
                <a:latin typeface="Courier New" pitchFamily="34" charset="0"/>
                <a:ea typeface="Courier New" pitchFamily="34" charset="-122"/>
                <a:cs typeface="Courier New" pitchFamily="34" charset="-120"/>
              </a:rPr>
              <a:t>AT-12  </a:t>
            </a:r>
            <a:pPr indent="0" marL="0">
              <a:lnSpc>
                <a:spcPct val="175000"/>
              </a:lnSpc>
              <a:buNone/>
            </a:pPr>
            <a:r>
              <a:rPr lang="en-US" sz="1000" dirty="0">
                <a:solidFill>
                  <a:srgbClr val="37474F"/>
                </a:solidFill>
                <a:latin typeface="Courier New" pitchFamily="34" charset="0"/>
                <a:ea typeface="Courier New" pitchFamily="34" charset="-122"/>
                <a:cs typeface="Courier New" pitchFamily="34" charset="-120"/>
              </a:rPr>
              <a:t>test_rtsp_digest_accepts_valid_default_credentials</a:t>
            </a:r>
            <a:endParaRPr lang="en-US" sz="1000" dirty="0"/>
          </a:p>
          <a:p>
            <a:pPr indent="0" marL="0">
              <a:lnSpc>
                <a:spcPct val="175000"/>
              </a:lnSpc>
              <a:buNone/>
            </a:pPr>
            <a:r>
              <a:rPr lang="en-US" sz="1000" b="1" dirty="0">
                <a:solidFill>
                  <a:srgbClr val="E09B00"/>
                </a:solidFill>
                <a:latin typeface="Courier New" pitchFamily="34" charset="0"/>
                <a:ea typeface="Courier New" pitchFamily="34" charset="-122"/>
                <a:cs typeface="Courier New" pitchFamily="34" charset="-120"/>
              </a:rPr>
              <a:t>AT-13  </a:t>
            </a:r>
            <a:pPr indent="0" marL="0">
              <a:lnSpc>
                <a:spcPct val="175000"/>
              </a:lnSpc>
              <a:buNone/>
            </a:pPr>
            <a:r>
              <a:rPr lang="en-US" sz="1000" dirty="0">
                <a:solidFill>
                  <a:srgbClr val="37474F"/>
                </a:solidFill>
                <a:latin typeface="Courier New" pitchFamily="34" charset="0"/>
                <a:ea typeface="Courier New" pitchFamily="34" charset="-122"/>
                <a:cs typeface="Courier New" pitchFamily="34" charset="-120"/>
              </a:rPr>
              <a:t>test_rtsp_digest_rejects_wrong_password</a:t>
            </a:r>
            <a:endParaRPr lang="en-US" sz="1000" dirty="0"/>
          </a:p>
          <a:p>
            <a:pPr indent="0" marL="0">
              <a:lnSpc>
                <a:spcPct val="175000"/>
              </a:lnSpc>
              <a:buNone/>
            </a:pPr>
            <a:r>
              <a:rPr lang="en-US" sz="1000" b="1" dirty="0">
                <a:solidFill>
                  <a:srgbClr val="E09B00"/>
                </a:solidFill>
                <a:latin typeface="Courier New" pitchFamily="34" charset="0"/>
                <a:ea typeface="Courier New" pitchFamily="34" charset="-122"/>
                <a:cs typeface="Courier New" pitchFamily="34" charset="-120"/>
              </a:rPr>
              <a:t>AT-14  </a:t>
            </a:r>
            <a:pPr indent="0" marL="0">
              <a:lnSpc>
                <a:spcPct val="175000"/>
              </a:lnSpc>
              <a:buNone/>
            </a:pPr>
            <a:r>
              <a:rPr lang="en-US" sz="1000" dirty="0">
                <a:solidFill>
                  <a:srgbClr val="37474F"/>
                </a:solidFill>
                <a:latin typeface="Courier New" pitchFamily="34" charset="0"/>
                <a:ea typeface="Courier New" pitchFamily="34" charset="-122"/>
                <a:cs typeface="Courier New" pitchFamily="34" charset="-120"/>
              </a:rPr>
              <a:t>test_shell_argument_tolerant_commands</a:t>
            </a:r>
            <a:endParaRPr lang="en-US" sz="1000" dirty="0"/>
          </a:p>
          <a:p>
            <a:pPr indent="0" marL="0">
              <a:lnSpc>
                <a:spcPct val="175000"/>
              </a:lnSpc>
              <a:buNone/>
            </a:pPr>
            <a:r>
              <a:rPr lang="en-US" sz="1000" b="1" dirty="0">
                <a:solidFill>
                  <a:srgbClr val="E09B00"/>
                </a:solidFill>
                <a:latin typeface="Courier New" pitchFamily="34" charset="0"/>
                <a:ea typeface="Courier New" pitchFamily="34" charset="-122"/>
                <a:cs typeface="Courier New" pitchFamily="34" charset="-120"/>
              </a:rPr>
              <a:t>AT-15  </a:t>
            </a:r>
            <a:pPr indent="0" marL="0">
              <a:lnSpc>
                <a:spcPct val="175000"/>
              </a:lnSpc>
              <a:buNone/>
            </a:pPr>
            <a:r>
              <a:rPr lang="en-US" sz="1000" dirty="0">
                <a:solidFill>
                  <a:srgbClr val="37474F"/>
                </a:solidFill>
                <a:latin typeface="Courier New" pitchFamily="34" charset="0"/>
                <a:ea typeface="Courier New" pitchFamily="34" charset="-122"/>
                <a:cs typeface="Courier New" pitchFamily="34" charset="-120"/>
              </a:rPr>
              <a:t>test_shell_mirai_preamble_is_silent</a:t>
            </a:r>
            <a:endParaRPr lang="en-US" sz="1000" dirty="0"/>
          </a:p>
        </p:txBody>
      </p:sp>
      <p:sp>
        <p:nvSpPr>
          <p:cNvPr id="7" name="AT column 1"/>
          <p:cNvSpPr/>
          <p:nvPr/>
        </p:nvSpPr>
        <p:spPr>
          <a:xfrm>
            <a:off x="5708904" y="1783080"/>
            <a:ext cx="4840224" cy="6537960"/>
          </a:xfrm>
          <a:prstGeom prst="roundRect">
            <a:avLst>
              <a:gd name="adj" fmla="val 1511"/>
            </a:avLst>
          </a:prstGeom>
          <a:solidFill>
            <a:srgbClr val="FFFFFF"/>
          </a:solidFill>
          <a:ln w="9525">
            <a:solidFill>
              <a:srgbClr val="CFD8DC"/>
            </a:solidFill>
            <a:prstDash val="solid"/>
          </a:ln>
        </p:spPr>
      </p:sp>
      <p:sp>
        <p:nvSpPr>
          <p:cNvPr id="8" name="Text 5"/>
          <p:cNvSpPr txBox="1"/>
          <p:nvPr/>
        </p:nvSpPr>
        <p:spPr>
          <a:xfrm>
            <a:off x="5891784" y="2011680"/>
            <a:ext cx="4520184" cy="6217920"/>
          </a:xfrm>
          <a:prstGeom prst="rect">
            <a:avLst/>
          </a:prstGeom>
          <a:noFill/>
          <a:ln/>
        </p:spPr>
        <p:txBody>
          <a:bodyPr wrap="square" lIns="0" tIns="0" rIns="0" bIns="0" rtlCol="0" anchor="t"/>
          <a:lstStyle/>
          <a:p>
            <a:pPr indent="0" marL="0">
              <a:lnSpc>
                <a:spcPct val="175000"/>
              </a:lnSpc>
              <a:buNone/>
            </a:pPr>
            <a:r>
              <a:rPr lang="en-US" sz="1250" b="1" dirty="0">
                <a:solidFill>
                  <a:srgbClr val="263238"/>
                </a:solidFill>
              </a:rPr>
              <a:t>test_parsers.py</a:t>
            </a:r>
            <a:endParaRPr lang="en-US" sz="1000" dirty="0"/>
          </a:p>
          <a:p>
            <a:pPr indent="0" marL="0">
              <a:lnSpc>
                <a:spcPct val="175000"/>
              </a:lnSpc>
              <a:buNone/>
            </a:pPr>
            <a:r>
              <a:rPr lang="en-US" sz="1000" b="1" dirty="0">
                <a:solidFill>
                  <a:srgbClr val="E09B00"/>
                </a:solidFill>
                <a:latin typeface="Courier New" pitchFamily="34" charset="0"/>
                <a:ea typeface="Courier New" pitchFamily="34" charset="-122"/>
                <a:cs typeface="Courier New" pitchFamily="34" charset="-120"/>
              </a:rPr>
              <a:t>AT-16  </a:t>
            </a:r>
            <a:pPr indent="0" marL="0">
              <a:lnSpc>
                <a:spcPct val="175000"/>
              </a:lnSpc>
              <a:buNone/>
            </a:pPr>
            <a:r>
              <a:rPr lang="en-US" sz="1000" dirty="0">
                <a:solidFill>
                  <a:srgbClr val="37474F"/>
                </a:solidFill>
                <a:latin typeface="Courier New" pitchFamily="34" charset="0"/>
                <a:ea typeface="Courier New" pitchFamily="34" charset="-122"/>
                <a:cs typeface="Courier New" pitchFamily="34" charset="-120"/>
              </a:rPr>
              <a:t>test_shell_captures_url_without_fetching</a:t>
            </a:r>
            <a:endParaRPr lang="en-US" sz="1000" dirty="0"/>
          </a:p>
          <a:p>
            <a:pPr indent="0" marL="0">
              <a:lnSpc>
                <a:spcPct val="175000"/>
              </a:lnSpc>
              <a:buNone/>
            </a:pPr>
            <a:r>
              <a:rPr lang="en-US" sz="1000" b="1" dirty="0">
                <a:solidFill>
                  <a:srgbClr val="E09B00"/>
                </a:solidFill>
                <a:latin typeface="Courier New" pitchFamily="34" charset="0"/>
                <a:ea typeface="Courier New" pitchFamily="34" charset="-122"/>
                <a:cs typeface="Courier New" pitchFamily="34" charset="-120"/>
              </a:rPr>
              <a:t>AT-17  </a:t>
            </a:r>
            <a:pPr indent="0" marL="0">
              <a:lnSpc>
                <a:spcPct val="175000"/>
              </a:lnSpc>
              <a:buNone/>
            </a:pPr>
            <a:r>
              <a:rPr lang="en-US" sz="1000" dirty="0">
                <a:solidFill>
                  <a:srgbClr val="37474F"/>
                </a:solidFill>
                <a:latin typeface="Courier New" pitchFamily="34" charset="0"/>
                <a:ea typeface="Courier New" pitchFamily="34" charset="-122"/>
                <a:cs typeface="Courier New" pitchFamily="34" charset="-120"/>
              </a:rPr>
              <a:t>test_shell_command_chaining_and_pipes</a:t>
            </a:r>
            <a:endParaRPr lang="en-US" sz="1000" dirty="0"/>
          </a:p>
          <a:p>
            <a:pPr indent="0" marL="0">
              <a:lnSpc>
                <a:spcPct val="175000"/>
              </a:lnSpc>
              <a:buNone/>
            </a:pPr>
            <a:r>
              <a:rPr lang="en-US" sz="1000" b="1" dirty="0">
                <a:solidFill>
                  <a:srgbClr val="E09B00"/>
                </a:solidFill>
                <a:latin typeface="Courier New" pitchFamily="34" charset="0"/>
                <a:ea typeface="Courier New" pitchFamily="34" charset="-122"/>
                <a:cs typeface="Courier New" pitchFamily="34" charset="-120"/>
              </a:rPr>
              <a:t>AT-18  </a:t>
            </a:r>
            <a:pPr indent="0" marL="0">
              <a:lnSpc>
                <a:spcPct val="175000"/>
              </a:lnSpc>
              <a:buNone/>
            </a:pPr>
            <a:r>
              <a:rPr lang="en-US" sz="1000" dirty="0">
                <a:solidFill>
                  <a:srgbClr val="37474F"/>
                </a:solidFill>
                <a:latin typeface="Courier New" pitchFamily="34" charset="0"/>
                <a:ea typeface="Courier New" pitchFamily="34" charset="-122"/>
                <a:cs typeface="Courier New" pitchFamily="34" charset="-120"/>
              </a:rPr>
              <a:t>test_shell_exit</a:t>
            </a:r>
            <a:endParaRPr lang="en-US" sz="1000" dirty="0"/>
          </a:p>
          <a:p>
            <a:pPr indent="0" marL="0">
              <a:lnSpc>
                <a:spcPct val="175000"/>
              </a:lnSpc>
              <a:buNone/>
            </a:pPr>
            <a:r>
              <a:rPr lang="en-US" sz="1000" b="1" dirty="0">
                <a:solidFill>
                  <a:srgbClr val="E09B00"/>
                </a:solidFill>
                <a:latin typeface="Courier New" pitchFamily="34" charset="0"/>
                <a:ea typeface="Courier New" pitchFamily="34" charset="-122"/>
                <a:cs typeface="Courier New" pitchFamily="34" charset="-120"/>
              </a:rPr>
              <a:t>AT-19  </a:t>
            </a:r>
            <a:pPr indent="0" marL="0">
              <a:lnSpc>
                <a:spcPct val="175000"/>
              </a:lnSpc>
              <a:buNone/>
            </a:pPr>
            <a:r>
              <a:rPr lang="en-US" sz="1000" dirty="0">
                <a:solidFill>
                  <a:srgbClr val="37474F"/>
                </a:solidFill>
                <a:latin typeface="Courier New" pitchFamily="34" charset="0"/>
                <a:ea typeface="Courier New" pitchFamily="34" charset="-122"/>
                <a:cs typeface="Courier New" pitchFamily="34" charset="-120"/>
              </a:rPr>
              <a:t>test_shell_device_control_changes_state</a:t>
            </a:r>
            <a:endParaRPr lang="en-US" sz="1000" dirty="0"/>
          </a:p>
          <a:p>
            <a:pPr indent="0" marL="0">
              <a:lnSpc>
                <a:spcPct val="175000"/>
              </a:lnSpc>
              <a:buNone/>
            </a:pPr>
            <a:r>
              <a:rPr lang="en-US" sz="1000" b="1" dirty="0">
                <a:solidFill>
                  <a:srgbClr val="E09B00"/>
                </a:solidFill>
                <a:latin typeface="Courier New" pitchFamily="34" charset="0"/>
                <a:ea typeface="Courier New" pitchFamily="34" charset="-122"/>
                <a:cs typeface="Courier New" pitchFamily="34" charset="-120"/>
              </a:rPr>
              <a:t>AT-20  </a:t>
            </a:r>
            <a:pPr indent="0" marL="0">
              <a:lnSpc>
                <a:spcPct val="175000"/>
              </a:lnSpc>
              <a:buNone/>
            </a:pPr>
            <a:r>
              <a:rPr lang="en-US" sz="1000" dirty="0">
                <a:solidFill>
                  <a:srgbClr val="37474F"/>
                </a:solidFill>
                <a:latin typeface="Courier New" pitchFamily="34" charset="0"/>
                <a:ea typeface="Courier New" pitchFamily="34" charset="-122"/>
                <a:cs typeface="Courier New" pitchFamily="34" charset="-120"/>
              </a:rPr>
              <a:t>test_mitre_known_types_resolve</a:t>
            </a:r>
            <a:endParaRPr lang="en-US" sz="1000" dirty="0"/>
          </a:p>
          <a:p>
            <a:pPr indent="0" marL="0">
              <a:lnSpc>
                <a:spcPct val="175000"/>
              </a:lnSpc>
              <a:buNone/>
            </a:pPr>
            <a:r>
              <a:rPr lang="en-US" sz="1000" b="1" dirty="0">
                <a:solidFill>
                  <a:srgbClr val="E09B00"/>
                </a:solidFill>
                <a:latin typeface="Courier New" pitchFamily="34" charset="0"/>
                <a:ea typeface="Courier New" pitchFamily="34" charset="-122"/>
                <a:cs typeface="Courier New" pitchFamily="34" charset="-120"/>
              </a:rPr>
              <a:t>AT-21  </a:t>
            </a:r>
            <a:pPr indent="0" marL="0">
              <a:lnSpc>
                <a:spcPct val="175000"/>
              </a:lnSpc>
              <a:buNone/>
            </a:pPr>
            <a:r>
              <a:rPr lang="en-US" sz="1000" dirty="0">
                <a:solidFill>
                  <a:srgbClr val="37474F"/>
                </a:solidFill>
                <a:latin typeface="Courier New" pitchFamily="34" charset="0"/>
                <a:ea typeface="Courier New" pitchFamily="34" charset="-122"/>
                <a:cs typeface="Courier New" pitchFamily="34" charset="-120"/>
              </a:rPr>
              <a:t>test_mitre_command_tagging</a:t>
            </a:r>
            <a:endParaRPr lang="en-US" sz="1000" dirty="0"/>
          </a:p>
          <a:p>
            <a:pPr indent="0" marL="0">
              <a:lnSpc>
                <a:spcPct val="175000"/>
              </a:lnSpc>
              <a:buNone/>
            </a:pPr>
            <a:r>
              <a:rPr lang="en-US" sz="1000" b="1" dirty="0">
                <a:solidFill>
                  <a:srgbClr val="E09B00"/>
                </a:solidFill>
                <a:latin typeface="Courier New" pitchFamily="34" charset="0"/>
                <a:ea typeface="Courier New" pitchFamily="34" charset="-122"/>
                <a:cs typeface="Courier New" pitchFamily="34" charset="-120"/>
              </a:rPr>
              <a:t>AT-22  </a:t>
            </a:r>
            <a:pPr indent="0" marL="0">
              <a:lnSpc>
                <a:spcPct val="175000"/>
              </a:lnSpc>
              <a:buNone/>
            </a:pPr>
            <a:r>
              <a:rPr lang="en-US" sz="1000" dirty="0">
                <a:solidFill>
                  <a:srgbClr val="37474F"/>
                </a:solidFill>
                <a:latin typeface="Courier New" pitchFamily="34" charset="0"/>
                <a:ea typeface="Courier New" pitchFamily="34" charset="-122"/>
                <a:cs typeface="Courier New" pitchFamily="34" charset="-120"/>
              </a:rPr>
              <a:t>test_weak_credentials_per_device</a:t>
            </a:r>
            <a:endParaRPr lang="en-US" sz="1000" dirty="0"/>
          </a:p>
          <a:p>
            <a:pPr indent="0" marL="0">
              <a:lnSpc>
                <a:spcPct val="175000"/>
              </a:lnSpc>
              <a:buNone/>
            </a:pPr>
            <a:r>
              <a:rPr lang="en-US" sz="1250" b="1" dirty="0">
                <a:solidFill>
                  <a:srgbClr val="263238"/>
                </a:solidFill>
              </a:rPr>
              <a:t>test_v07.py</a:t>
            </a:r>
            <a:endParaRPr lang="en-US" sz="1000" dirty="0"/>
          </a:p>
          <a:p>
            <a:pPr indent="0" marL="0">
              <a:lnSpc>
                <a:spcPct val="175000"/>
              </a:lnSpc>
              <a:buNone/>
            </a:pPr>
            <a:r>
              <a:rPr lang="en-US" sz="1000" b="1" dirty="0">
                <a:solidFill>
                  <a:srgbClr val="E09B00"/>
                </a:solidFill>
                <a:latin typeface="Courier New" pitchFamily="34" charset="0"/>
                <a:ea typeface="Courier New" pitchFamily="34" charset="-122"/>
                <a:cs typeface="Courier New" pitchFamily="34" charset="-120"/>
              </a:rPr>
              <a:t>AT-23  </a:t>
            </a:r>
            <a:pPr indent="0" marL="0">
              <a:lnSpc>
                <a:spcPct val="175000"/>
              </a:lnSpc>
              <a:buNone/>
            </a:pPr>
            <a:r>
              <a:rPr lang="en-US" sz="1000" dirty="0">
                <a:solidFill>
                  <a:srgbClr val="37474F"/>
                </a:solidFill>
                <a:latin typeface="Courier New" pitchFamily="34" charset="0"/>
                <a:ea typeface="Courier New" pitchFamily="34" charset="-122"/>
                <a:cs typeface="Courier New" pitchFamily="34" charset="-120"/>
              </a:rPr>
              <a:t>test_sanitize_nul_everywhere</a:t>
            </a:r>
            <a:endParaRPr lang="en-US" sz="1000" dirty="0"/>
          </a:p>
          <a:p>
            <a:pPr indent="0" marL="0">
              <a:lnSpc>
                <a:spcPct val="175000"/>
              </a:lnSpc>
              <a:buNone/>
            </a:pPr>
            <a:r>
              <a:rPr lang="en-US" sz="1000" b="1" dirty="0">
                <a:solidFill>
                  <a:srgbClr val="E09B00"/>
                </a:solidFill>
                <a:latin typeface="Courier New" pitchFamily="34" charset="0"/>
                <a:ea typeface="Courier New" pitchFamily="34" charset="-122"/>
                <a:cs typeface="Courier New" pitchFamily="34" charset="-120"/>
              </a:rPr>
              <a:t>AT-24  </a:t>
            </a:r>
            <a:pPr indent="0" marL="0">
              <a:lnSpc>
                <a:spcPct val="175000"/>
              </a:lnSpc>
              <a:buNone/>
            </a:pPr>
            <a:r>
              <a:rPr lang="en-US" sz="1000" dirty="0">
                <a:solidFill>
                  <a:srgbClr val="37474F"/>
                </a:solidFill>
                <a:latin typeface="Courier New" pitchFamily="34" charset="0"/>
                <a:ea typeface="Courier New" pitchFamily="34" charset="-122"/>
                <a:cs typeface="Courier New" pitchFamily="34" charset="-120"/>
              </a:rPr>
              <a:t>test_downloads_logged  (4)</a:t>
            </a:r>
            <a:endParaRPr lang="en-US" sz="1000" dirty="0"/>
          </a:p>
          <a:p>
            <a:pPr indent="0" marL="0">
              <a:lnSpc>
                <a:spcPct val="175000"/>
              </a:lnSpc>
              <a:buNone/>
            </a:pPr>
            <a:r>
              <a:rPr lang="en-US" sz="1000" b="1" dirty="0">
                <a:solidFill>
                  <a:srgbClr val="E09B00"/>
                </a:solidFill>
                <a:latin typeface="Courier New" pitchFamily="34" charset="0"/>
                <a:ea typeface="Courier New" pitchFamily="34" charset="-122"/>
                <a:cs typeface="Courier New" pitchFamily="34" charset="-120"/>
              </a:rPr>
              <a:t>AT-25  </a:t>
            </a:r>
            <a:pPr indent="0" marL="0">
              <a:lnSpc>
                <a:spcPct val="175000"/>
              </a:lnSpc>
              <a:buNone/>
            </a:pPr>
            <a:r>
              <a:rPr lang="en-US" sz="1000" dirty="0">
                <a:solidFill>
                  <a:srgbClr val="37474F"/>
                </a:solidFill>
                <a:latin typeface="Courier New" pitchFamily="34" charset="0"/>
                <a:ea typeface="Courier New" pitchFamily="34" charset="-122"/>
                <a:cs typeface="Courier New" pitchFamily="34" charset="-120"/>
              </a:rPr>
              <a:t>test_sniff_elf_architectures</a:t>
            </a:r>
            <a:endParaRPr lang="en-US" sz="1000" dirty="0"/>
          </a:p>
          <a:p>
            <a:pPr indent="0" marL="0">
              <a:lnSpc>
                <a:spcPct val="175000"/>
              </a:lnSpc>
              <a:buNone/>
            </a:pPr>
            <a:r>
              <a:rPr lang="en-US" sz="1000" b="1" dirty="0">
                <a:solidFill>
                  <a:srgbClr val="E09B00"/>
                </a:solidFill>
                <a:latin typeface="Courier New" pitchFamily="34" charset="0"/>
                <a:ea typeface="Courier New" pitchFamily="34" charset="-122"/>
                <a:cs typeface="Courier New" pitchFamily="34" charset="-120"/>
              </a:rPr>
              <a:t>AT-26  </a:t>
            </a:r>
            <a:pPr indent="0" marL="0">
              <a:lnSpc>
                <a:spcPct val="175000"/>
              </a:lnSpc>
              <a:buNone/>
            </a:pPr>
            <a:r>
              <a:rPr lang="en-US" sz="1000" dirty="0">
                <a:solidFill>
                  <a:srgbClr val="37474F"/>
                </a:solidFill>
                <a:latin typeface="Courier New" pitchFamily="34" charset="0"/>
                <a:ea typeface="Courier New" pitchFamily="34" charset="-122"/>
                <a:cs typeface="Courier New" pitchFamily="34" charset="-120"/>
              </a:rPr>
              <a:t>test_shell_drop_is_captured_and_quarantined</a:t>
            </a:r>
            <a:endParaRPr lang="en-US" sz="1000" dirty="0"/>
          </a:p>
          <a:p>
            <a:pPr indent="0" marL="0">
              <a:lnSpc>
                <a:spcPct val="175000"/>
              </a:lnSpc>
              <a:buNone/>
            </a:pPr>
            <a:r>
              <a:rPr lang="en-US" sz="1000" b="1" dirty="0">
                <a:solidFill>
                  <a:srgbClr val="E09B00"/>
                </a:solidFill>
                <a:latin typeface="Courier New" pitchFamily="34" charset="0"/>
                <a:ea typeface="Courier New" pitchFamily="34" charset="-122"/>
                <a:cs typeface="Courier New" pitchFamily="34" charset="-120"/>
              </a:rPr>
              <a:t>AT-27  </a:t>
            </a:r>
            <a:pPr indent="0" marL="0">
              <a:lnSpc>
                <a:spcPct val="175000"/>
              </a:lnSpc>
              <a:buNone/>
            </a:pPr>
            <a:r>
              <a:rPr lang="en-US" sz="1000" dirty="0">
                <a:solidFill>
                  <a:srgbClr val="37474F"/>
                </a:solidFill>
                <a:latin typeface="Courier New" pitchFamily="34" charset="0"/>
                <a:ea typeface="Courier New" pitchFamily="34" charset="-122"/>
                <a:cs typeface="Courier New" pitchFamily="34" charset="-120"/>
              </a:rPr>
              <a:t>test_trivial_writes_not_captured</a:t>
            </a:r>
            <a:endParaRPr lang="en-US" sz="1000" dirty="0"/>
          </a:p>
          <a:p>
            <a:pPr indent="0" marL="0">
              <a:lnSpc>
                <a:spcPct val="175000"/>
              </a:lnSpc>
              <a:buNone/>
            </a:pPr>
            <a:r>
              <a:rPr lang="en-US" sz="1000" b="1" dirty="0">
                <a:solidFill>
                  <a:srgbClr val="E09B00"/>
                </a:solidFill>
                <a:latin typeface="Courier New" pitchFamily="34" charset="0"/>
                <a:ea typeface="Courier New" pitchFamily="34" charset="-122"/>
                <a:cs typeface="Courier New" pitchFamily="34" charset="-120"/>
              </a:rPr>
              <a:t>AT-28  </a:t>
            </a:r>
            <a:pPr indent="0" marL="0">
              <a:lnSpc>
                <a:spcPct val="175000"/>
              </a:lnSpc>
              <a:buNone/>
            </a:pPr>
            <a:r>
              <a:rPr lang="en-US" sz="1000" dirty="0">
                <a:solidFill>
                  <a:srgbClr val="37474F"/>
                </a:solidFill>
                <a:latin typeface="Courier New" pitchFamily="34" charset="0"/>
                <a:ea typeface="Courier New" pitchFamily="34" charset="-122"/>
                <a:cs typeface="Courier New" pitchFamily="34" charset="-120"/>
              </a:rPr>
              <a:t>test_yara_identifies_families</a:t>
            </a:r>
            <a:endParaRPr lang="en-US" sz="1000" dirty="0"/>
          </a:p>
          <a:p>
            <a:pPr indent="0" marL="0">
              <a:lnSpc>
                <a:spcPct val="175000"/>
              </a:lnSpc>
              <a:buNone/>
            </a:pPr>
            <a:r>
              <a:rPr lang="en-US" sz="1000" b="1" dirty="0">
                <a:solidFill>
                  <a:srgbClr val="E09B00"/>
                </a:solidFill>
                <a:latin typeface="Courier New" pitchFamily="34" charset="0"/>
                <a:ea typeface="Courier New" pitchFamily="34" charset="-122"/>
                <a:cs typeface="Courier New" pitchFamily="34" charset="-120"/>
              </a:rPr>
              <a:t>AT-29  </a:t>
            </a:r>
            <a:pPr indent="0" marL="0">
              <a:lnSpc>
                <a:spcPct val="175000"/>
              </a:lnSpc>
              <a:buNone/>
            </a:pPr>
            <a:r>
              <a:rPr lang="en-US" sz="1000" dirty="0">
                <a:solidFill>
                  <a:srgbClr val="37474F"/>
                </a:solidFill>
                <a:latin typeface="Courier New" pitchFamily="34" charset="0"/>
                <a:ea typeface="Courier New" pitchFamily="34" charset="-122"/>
                <a:cs typeface="Courier New" pitchFamily="34" charset="-120"/>
              </a:rPr>
              <a:t>test_sensor_config_rejects_unknown_and_actor_key</a:t>
            </a:r>
            <a:endParaRPr lang="en-US" sz="1000" dirty="0"/>
          </a:p>
          <a:p>
            <a:pPr indent="0" marL="0">
              <a:lnSpc>
                <a:spcPct val="175000"/>
              </a:lnSpc>
              <a:buNone/>
            </a:pPr>
            <a:r>
              <a:rPr lang="en-US" sz="1000" b="1" dirty="0">
                <a:solidFill>
                  <a:srgbClr val="E09B00"/>
                </a:solidFill>
                <a:latin typeface="Courier New" pitchFamily="34" charset="0"/>
                <a:ea typeface="Courier New" pitchFamily="34" charset="-122"/>
                <a:cs typeface="Courier New" pitchFamily="34" charset="-120"/>
              </a:rPr>
              <a:t>AT-30  </a:t>
            </a:r>
            <a:pPr indent="0" marL="0">
              <a:lnSpc>
                <a:spcPct val="175000"/>
              </a:lnSpc>
              <a:buNone/>
            </a:pPr>
            <a:r>
              <a:rPr lang="en-US" sz="1000" dirty="0">
                <a:solidFill>
                  <a:srgbClr val="37474F"/>
                </a:solidFill>
                <a:latin typeface="Courier New" pitchFamily="34" charset="0"/>
                <a:ea typeface="Courier New" pitchFamily="34" charset="-122"/>
                <a:cs typeface="Courier New" pitchFamily="34" charset="-120"/>
              </a:rPr>
              <a:t>test_sensor_history_recorded</a:t>
            </a:r>
            <a:endParaRPr lang="en-US" sz="1000" dirty="0"/>
          </a:p>
        </p:txBody>
      </p:sp>
      <p:sp>
        <p:nvSpPr>
          <p:cNvPr id="9" name="AT column 2"/>
          <p:cNvSpPr/>
          <p:nvPr/>
        </p:nvSpPr>
        <p:spPr>
          <a:xfrm>
            <a:off x="10732008" y="1783080"/>
            <a:ext cx="4840224" cy="6537960"/>
          </a:xfrm>
          <a:prstGeom prst="roundRect">
            <a:avLst>
              <a:gd name="adj" fmla="val 1511"/>
            </a:avLst>
          </a:prstGeom>
          <a:solidFill>
            <a:srgbClr val="FFFFFF"/>
          </a:solidFill>
          <a:ln w="9525">
            <a:solidFill>
              <a:srgbClr val="CFD8DC"/>
            </a:solidFill>
            <a:prstDash val="solid"/>
          </a:ln>
        </p:spPr>
      </p:sp>
      <p:sp>
        <p:nvSpPr>
          <p:cNvPr id="10" name="Text 7"/>
          <p:cNvSpPr txBox="1"/>
          <p:nvPr/>
        </p:nvSpPr>
        <p:spPr>
          <a:xfrm>
            <a:off x="10914888" y="2011680"/>
            <a:ext cx="4520184" cy="6217920"/>
          </a:xfrm>
          <a:prstGeom prst="rect">
            <a:avLst/>
          </a:prstGeom>
          <a:noFill/>
          <a:ln/>
        </p:spPr>
        <p:txBody>
          <a:bodyPr wrap="square" lIns="0" tIns="0" rIns="0" bIns="0" rtlCol="0" anchor="t"/>
          <a:lstStyle/>
          <a:p>
            <a:pPr indent="0" marL="0">
              <a:lnSpc>
                <a:spcPct val="175000"/>
              </a:lnSpc>
              <a:buNone/>
            </a:pPr>
            <a:r>
              <a:rPr lang="en-US" sz="1250" b="1" dirty="0">
                <a:solidFill>
                  <a:srgbClr val="263238"/>
                </a:solidFill>
              </a:rPr>
              <a:t>test_v07.py</a:t>
            </a:r>
            <a:endParaRPr lang="en-US" sz="1000" dirty="0"/>
          </a:p>
          <a:p>
            <a:pPr indent="0" marL="0">
              <a:lnSpc>
                <a:spcPct val="175000"/>
              </a:lnSpc>
              <a:buNone/>
            </a:pPr>
            <a:r>
              <a:rPr lang="en-US" sz="1000" b="1" dirty="0">
                <a:solidFill>
                  <a:srgbClr val="E09B00"/>
                </a:solidFill>
                <a:latin typeface="Courier New" pitchFamily="34" charset="0"/>
                <a:ea typeface="Courier New" pitchFamily="34" charset="-122"/>
                <a:cs typeface="Courier New" pitchFamily="34" charset="-120"/>
              </a:rPr>
              <a:t>AT-31  </a:t>
            </a:r>
            <a:pPr indent="0" marL="0">
              <a:lnSpc>
                <a:spcPct val="175000"/>
              </a:lnSpc>
              <a:buNone/>
            </a:pPr>
            <a:r>
              <a:rPr lang="en-US" sz="1000" dirty="0">
                <a:solidFill>
                  <a:srgbClr val="37474F"/>
                </a:solidFill>
                <a:latin typeface="Courier New" pitchFamily="34" charset="0"/>
                <a:ea typeface="Courier New" pitchFamily="34" charset="-122"/>
                <a:cs typeface="Courier New" pitchFamily="34" charset="-120"/>
              </a:rPr>
              <a:t>test_telnet_iac_split_across_reads</a:t>
            </a:r>
            <a:endParaRPr lang="en-US" sz="1000" dirty="0"/>
          </a:p>
          <a:p>
            <a:pPr indent="0" marL="0">
              <a:lnSpc>
                <a:spcPct val="175000"/>
              </a:lnSpc>
              <a:buNone/>
            </a:pPr>
            <a:r>
              <a:rPr lang="en-US" sz="1000" b="1" dirty="0">
                <a:solidFill>
                  <a:srgbClr val="E09B00"/>
                </a:solidFill>
                <a:latin typeface="Courier New" pitchFamily="34" charset="0"/>
                <a:ea typeface="Courier New" pitchFamily="34" charset="-122"/>
                <a:cs typeface="Courier New" pitchFamily="34" charset="-120"/>
              </a:rPr>
              <a:t>AT-32  </a:t>
            </a:r>
            <a:pPr indent="0" marL="0">
              <a:lnSpc>
                <a:spcPct val="175000"/>
              </a:lnSpc>
              <a:buNone/>
            </a:pPr>
            <a:r>
              <a:rPr lang="en-US" sz="1000" dirty="0">
                <a:solidFill>
                  <a:srgbClr val="37474F"/>
                </a:solidFill>
                <a:latin typeface="Courier New" pitchFamily="34" charset="0"/>
                <a:ea typeface="Courier New" pitchFamily="34" charset="-122"/>
                <a:cs typeface="Courier New" pitchFamily="34" charset="-120"/>
              </a:rPr>
              <a:t>test_pdf_renders_from_report_dict</a:t>
            </a:r>
            <a:endParaRPr lang="en-US" sz="1000" dirty="0"/>
          </a:p>
          <a:p>
            <a:pPr indent="0" marL="0">
              <a:lnSpc>
                <a:spcPct val="175000"/>
              </a:lnSpc>
              <a:buNone/>
            </a:pPr>
            <a:r>
              <a:rPr lang="en-US" sz="1000" b="1" dirty="0">
                <a:solidFill>
                  <a:srgbClr val="E09B00"/>
                </a:solidFill>
                <a:latin typeface="Courier New" pitchFamily="34" charset="0"/>
                <a:ea typeface="Courier New" pitchFamily="34" charset="-122"/>
                <a:cs typeface="Courier New" pitchFamily="34" charset="-120"/>
              </a:rPr>
              <a:t>AT-33  </a:t>
            </a:r>
            <a:pPr indent="0" marL="0">
              <a:lnSpc>
                <a:spcPct val="175000"/>
              </a:lnSpc>
              <a:buNone/>
            </a:pPr>
            <a:r>
              <a:rPr lang="en-US" sz="1000" dirty="0">
                <a:solidFill>
                  <a:srgbClr val="37474F"/>
                </a:solidFill>
                <a:latin typeface="Courier New" pitchFamily="34" charset="0"/>
                <a:ea typeface="Courier New" pitchFamily="34" charset="-122"/>
                <a:cs typeface="Courier New" pitchFamily="34" charset="-120"/>
              </a:rPr>
              <a:t>test_weak_label_priority</a:t>
            </a:r>
            <a:endParaRPr lang="en-US" sz="1000" dirty="0"/>
          </a:p>
          <a:p>
            <a:pPr indent="0" marL="0">
              <a:lnSpc>
                <a:spcPct val="175000"/>
              </a:lnSpc>
              <a:buNone/>
            </a:pPr>
            <a:r>
              <a:rPr lang="en-US" sz="1000" b="1" dirty="0">
                <a:solidFill>
                  <a:srgbClr val="E09B00"/>
                </a:solidFill>
                <a:latin typeface="Courier New" pitchFamily="34" charset="0"/>
                <a:ea typeface="Courier New" pitchFamily="34" charset="-122"/>
                <a:cs typeface="Courier New" pitchFamily="34" charset="-120"/>
              </a:rPr>
              <a:t>AT-34  </a:t>
            </a:r>
            <a:pPr indent="0" marL="0">
              <a:lnSpc>
                <a:spcPct val="175000"/>
              </a:lnSpc>
              <a:buNone/>
            </a:pPr>
            <a:r>
              <a:rPr lang="en-US" sz="1000" dirty="0">
                <a:solidFill>
                  <a:srgbClr val="37474F"/>
                </a:solidFill>
                <a:latin typeface="Courier New" pitchFamily="34" charset="0"/>
                <a:ea typeface="Courier New" pitchFamily="34" charset="-122"/>
                <a:cs typeface="Courier New" pitchFamily="34" charset="-120"/>
              </a:rPr>
              <a:t>test_nul_rows_are_stored</a:t>
            </a:r>
            <a:endParaRPr lang="en-US" sz="1000" dirty="0"/>
          </a:p>
          <a:p>
            <a:pPr indent="0" marL="0">
              <a:lnSpc>
                <a:spcPct val="175000"/>
              </a:lnSpc>
              <a:buNone/>
            </a:pPr>
            <a:r>
              <a:rPr lang="en-US" sz="1000" b="1" dirty="0">
                <a:solidFill>
                  <a:srgbClr val="E09B00"/>
                </a:solidFill>
                <a:latin typeface="Courier New" pitchFamily="34" charset="0"/>
                <a:ea typeface="Courier New" pitchFamily="34" charset="-122"/>
                <a:cs typeface="Courier New" pitchFamily="34" charset="-120"/>
              </a:rPr>
              <a:t>AT-35  </a:t>
            </a:r>
            <a:pPr indent="0" marL="0">
              <a:lnSpc>
                <a:spcPct val="175000"/>
              </a:lnSpc>
              <a:buNone/>
            </a:pPr>
            <a:r>
              <a:rPr lang="en-US" sz="1000" dirty="0">
                <a:solidFill>
                  <a:srgbClr val="37474F"/>
                </a:solidFill>
                <a:latin typeface="Courier New" pitchFamily="34" charset="0"/>
                <a:ea typeface="Courier New" pitchFamily="34" charset="-122"/>
                <a:cs typeface="Courier New" pitchFamily="34" charset="-120"/>
              </a:rPr>
              <a:t>test_capture_indexed_and_yara_scanned</a:t>
            </a:r>
            <a:endParaRPr lang="en-US" sz="1000" dirty="0"/>
          </a:p>
          <a:p>
            <a:pPr indent="0" marL="0">
              <a:lnSpc>
                <a:spcPct val="175000"/>
              </a:lnSpc>
              <a:buNone/>
            </a:pPr>
            <a:r>
              <a:rPr lang="en-US" sz="1000" b="1" dirty="0">
                <a:solidFill>
                  <a:srgbClr val="E09B00"/>
                </a:solidFill>
                <a:latin typeface="Courier New" pitchFamily="34" charset="0"/>
                <a:ea typeface="Courier New" pitchFamily="34" charset="-122"/>
                <a:cs typeface="Courier New" pitchFamily="34" charset="-120"/>
              </a:rPr>
              <a:t>AT-36  </a:t>
            </a:r>
            <a:pPr indent="0" marL="0">
              <a:lnSpc>
                <a:spcPct val="175000"/>
              </a:lnSpc>
              <a:buNone/>
            </a:pPr>
            <a:r>
              <a:rPr lang="en-US" sz="1000" dirty="0">
                <a:solidFill>
                  <a:srgbClr val="37474F"/>
                </a:solidFill>
                <a:latin typeface="Courier New" pitchFamily="34" charset="0"/>
                <a:ea typeface="Courier New" pitchFamily="34" charset="-122"/>
                <a:cs typeface="Courier New" pitchFamily="34" charset="-120"/>
              </a:rPr>
              <a:t>test_detections_include_malware_family</a:t>
            </a:r>
            <a:endParaRPr lang="en-US" sz="1000" dirty="0"/>
          </a:p>
          <a:p>
            <a:pPr indent="0" marL="0">
              <a:lnSpc>
                <a:spcPct val="175000"/>
              </a:lnSpc>
              <a:buNone/>
            </a:pPr>
            <a:r>
              <a:rPr lang="en-US" sz="1000" b="1" dirty="0">
                <a:solidFill>
                  <a:srgbClr val="E09B00"/>
                </a:solidFill>
                <a:latin typeface="Courier New" pitchFamily="34" charset="0"/>
                <a:ea typeface="Courier New" pitchFamily="34" charset="-122"/>
                <a:cs typeface="Courier New" pitchFamily="34" charset="-120"/>
              </a:rPr>
              <a:t>AT-37  </a:t>
            </a:r>
            <a:pPr indent="0" marL="0">
              <a:lnSpc>
                <a:spcPct val="175000"/>
              </a:lnSpc>
              <a:buNone/>
            </a:pPr>
            <a:r>
              <a:rPr lang="en-US" sz="1000" dirty="0">
                <a:solidFill>
                  <a:srgbClr val="37474F"/>
                </a:solidFill>
                <a:latin typeface="Courier New" pitchFamily="34" charset="0"/>
                <a:ea typeface="Courier New" pitchFamily="34" charset="-122"/>
                <a:cs typeface="Courier New" pitchFamily="34" charset="-120"/>
              </a:rPr>
              <a:t>test_ioc_hits_are_idempotent</a:t>
            </a:r>
            <a:endParaRPr lang="en-US" sz="1000" dirty="0"/>
          </a:p>
          <a:p>
            <a:pPr indent="0" marL="0">
              <a:lnSpc>
                <a:spcPct val="175000"/>
              </a:lnSpc>
              <a:buNone/>
            </a:pPr>
            <a:r>
              <a:rPr lang="en-US" sz="1000" b="1" dirty="0">
                <a:solidFill>
                  <a:srgbClr val="E09B00"/>
                </a:solidFill>
                <a:latin typeface="Courier New" pitchFamily="34" charset="0"/>
                <a:ea typeface="Courier New" pitchFamily="34" charset="-122"/>
                <a:cs typeface="Courier New" pitchFamily="34" charset="-120"/>
              </a:rPr>
              <a:t>AT-38  </a:t>
            </a:r>
            <a:pPr indent="0" marL="0">
              <a:lnSpc>
                <a:spcPct val="175000"/>
              </a:lnSpc>
              <a:buNone/>
            </a:pPr>
            <a:r>
              <a:rPr lang="en-US" sz="1000" dirty="0">
                <a:solidFill>
                  <a:srgbClr val="37474F"/>
                </a:solidFill>
                <a:latin typeface="Courier New" pitchFamily="34" charset="0"/>
                <a:ea typeface="Courier New" pitchFamily="34" charset="-122"/>
                <a:cs typeface="Courier New" pitchFamily="34" charset="-120"/>
              </a:rPr>
              <a:t>test_stix_bundle_is_valid_stix21</a:t>
            </a:r>
            <a:endParaRPr lang="en-US" sz="1000" dirty="0"/>
          </a:p>
          <a:p>
            <a:pPr indent="0" marL="0">
              <a:lnSpc>
                <a:spcPct val="175000"/>
              </a:lnSpc>
              <a:buNone/>
            </a:pPr>
            <a:r>
              <a:rPr lang="en-US" sz="1000" b="1" dirty="0">
                <a:solidFill>
                  <a:srgbClr val="E09B00"/>
                </a:solidFill>
                <a:latin typeface="Courier New" pitchFamily="34" charset="0"/>
                <a:ea typeface="Courier New" pitchFamily="34" charset="-122"/>
                <a:cs typeface="Courier New" pitchFamily="34" charset="-120"/>
              </a:rPr>
              <a:t>AT-39  </a:t>
            </a:r>
            <a:pPr indent="0" marL="0">
              <a:lnSpc>
                <a:spcPct val="175000"/>
              </a:lnSpc>
              <a:buNone/>
            </a:pPr>
            <a:r>
              <a:rPr lang="en-US" sz="1000" dirty="0">
                <a:solidFill>
                  <a:srgbClr val="37474F"/>
                </a:solidFill>
                <a:latin typeface="Courier New" pitchFamily="34" charset="0"/>
                <a:ea typeface="Courier New" pitchFamily="34" charset="-122"/>
                <a:cs typeface="Courier New" pitchFamily="34" charset="-120"/>
              </a:rPr>
              <a:t>test_ml_dataset_labels</a:t>
            </a:r>
            <a:endParaRPr lang="en-US" sz="1000" dirty="0"/>
          </a:p>
          <a:p>
            <a:pPr indent="0" marL="0">
              <a:lnSpc>
                <a:spcPct val="175000"/>
              </a:lnSpc>
              <a:buNone/>
            </a:pPr>
            <a:r>
              <a:rPr lang="en-US" sz="1000" b="1" dirty="0">
                <a:solidFill>
                  <a:srgbClr val="E09B00"/>
                </a:solidFill>
                <a:latin typeface="Courier New" pitchFamily="34" charset="0"/>
                <a:ea typeface="Courier New" pitchFamily="34" charset="-122"/>
                <a:cs typeface="Courier New" pitchFamily="34" charset="-120"/>
              </a:rPr>
              <a:t>AT-40  </a:t>
            </a:r>
            <a:pPr indent="0" marL="0">
              <a:lnSpc>
                <a:spcPct val="175000"/>
              </a:lnSpc>
              <a:buNone/>
            </a:pPr>
            <a:r>
              <a:rPr lang="en-US" sz="1000" dirty="0">
                <a:solidFill>
                  <a:srgbClr val="37474F"/>
                </a:solidFill>
                <a:latin typeface="Courier New" pitchFamily="34" charset="0"/>
                <a:ea typeface="Courier New" pitchFamily="34" charset="-122"/>
                <a:cs typeface="Courier New" pitchFamily="34" charset="-120"/>
              </a:rPr>
              <a:t>test_v07_endpoints  (10)</a:t>
            </a:r>
            <a:endParaRPr lang="en-US" sz="1000" dirty="0"/>
          </a:p>
          <a:p>
            <a:pPr indent="0" marL="0">
              <a:lnSpc>
                <a:spcPct val="175000"/>
              </a:lnSpc>
              <a:buNone/>
            </a:pPr>
            <a:r>
              <a:rPr lang="en-US" sz="1000" b="1" dirty="0">
                <a:solidFill>
                  <a:srgbClr val="E09B00"/>
                </a:solidFill>
                <a:latin typeface="Courier New" pitchFamily="34" charset="0"/>
                <a:ea typeface="Courier New" pitchFamily="34" charset="-122"/>
                <a:cs typeface="Courier New" pitchFamily="34" charset="-120"/>
              </a:rPr>
              <a:t>AT-41  </a:t>
            </a:r>
            <a:pPr indent="0" marL="0">
              <a:lnSpc>
                <a:spcPct val="175000"/>
              </a:lnSpc>
              <a:buNone/>
            </a:pPr>
            <a:r>
              <a:rPr lang="en-US" sz="1000" dirty="0">
                <a:solidFill>
                  <a:srgbClr val="37474F"/>
                </a:solidFill>
                <a:latin typeface="Courier New" pitchFamily="34" charset="0"/>
                <a:ea typeface="Courier New" pitchFamily="34" charset="-122"/>
                <a:cs typeface="Courier New" pitchFamily="34" charset="-120"/>
              </a:rPr>
              <a:t>test_attacker_and_session_detail</a:t>
            </a:r>
            <a:endParaRPr lang="en-US" sz="1000" dirty="0"/>
          </a:p>
          <a:p>
            <a:pPr indent="0" marL="0">
              <a:lnSpc>
                <a:spcPct val="175000"/>
              </a:lnSpc>
              <a:buNone/>
            </a:pPr>
            <a:r>
              <a:rPr lang="en-US" sz="1000" b="1" dirty="0">
                <a:solidFill>
                  <a:srgbClr val="E09B00"/>
                </a:solidFill>
                <a:latin typeface="Courier New" pitchFamily="34" charset="0"/>
                <a:ea typeface="Courier New" pitchFamily="34" charset="-122"/>
                <a:cs typeface="Courier New" pitchFamily="34" charset="-120"/>
              </a:rPr>
              <a:t>AT-42  </a:t>
            </a:r>
            <a:pPr indent="0" marL="0">
              <a:lnSpc>
                <a:spcPct val="175000"/>
              </a:lnSpc>
              <a:buNone/>
            </a:pPr>
            <a:r>
              <a:rPr lang="en-US" sz="1000" dirty="0">
                <a:solidFill>
                  <a:srgbClr val="37474F"/>
                </a:solidFill>
                <a:latin typeface="Courier New" pitchFamily="34" charset="0"/>
                <a:ea typeface="Courier New" pitchFamily="34" charset="-122"/>
                <a:cs typeface="Courier New" pitchFamily="34" charset="-120"/>
              </a:rPr>
              <a:t>test_exports</a:t>
            </a:r>
            <a:endParaRPr lang="en-US" sz="1000" dirty="0"/>
          </a:p>
          <a:p>
            <a:pPr indent="0" marL="0">
              <a:lnSpc>
                <a:spcPct val="175000"/>
              </a:lnSpc>
              <a:buNone/>
            </a:pPr>
            <a:r>
              <a:rPr lang="en-US" sz="1000" b="1" dirty="0">
                <a:solidFill>
                  <a:srgbClr val="E09B00"/>
                </a:solidFill>
                <a:latin typeface="Courier New" pitchFamily="34" charset="0"/>
                <a:ea typeface="Courier New" pitchFamily="34" charset="-122"/>
                <a:cs typeface="Courier New" pitchFamily="34" charset="-120"/>
              </a:rPr>
              <a:t>AT-43  </a:t>
            </a:r>
            <a:pPr indent="0" marL="0">
              <a:lnSpc>
                <a:spcPct val="175000"/>
              </a:lnSpc>
              <a:buNone/>
            </a:pPr>
            <a:r>
              <a:rPr lang="en-US" sz="1000" dirty="0">
                <a:solidFill>
                  <a:srgbClr val="37474F"/>
                </a:solidFill>
                <a:latin typeface="Courier New" pitchFamily="34" charset="0"/>
                <a:ea typeface="Courier New" pitchFamily="34" charset="-122"/>
                <a:cs typeface="Courier New" pitchFamily="34" charset="-120"/>
              </a:rPr>
              <a:t>test_devices_hide_api_token</a:t>
            </a:r>
            <a:endParaRPr lang="en-US" sz="1000" dirty="0"/>
          </a:p>
          <a:p>
            <a:pPr indent="0" marL="0">
              <a:lnSpc>
                <a:spcPct val="175000"/>
              </a:lnSpc>
              <a:buNone/>
            </a:pPr>
            <a:r>
              <a:rPr lang="en-US" sz="1000" b="1" dirty="0">
                <a:solidFill>
                  <a:srgbClr val="E09B00"/>
                </a:solidFill>
                <a:latin typeface="Courier New" pitchFamily="34" charset="0"/>
                <a:ea typeface="Courier New" pitchFamily="34" charset="-122"/>
                <a:cs typeface="Courier New" pitchFamily="34" charset="-120"/>
              </a:rPr>
              <a:t>AT-44  </a:t>
            </a:r>
            <a:pPr indent="0" marL="0">
              <a:lnSpc>
                <a:spcPct val="175000"/>
              </a:lnSpc>
              <a:buNone/>
            </a:pPr>
            <a:r>
              <a:rPr lang="en-US" sz="1000" dirty="0">
                <a:solidFill>
                  <a:srgbClr val="37474F"/>
                </a:solidFill>
                <a:latin typeface="Courier New" pitchFamily="34" charset="0"/>
                <a:ea typeface="Courier New" pitchFamily="34" charset="-122"/>
                <a:cs typeface="Courier New" pitchFamily="34" charset="-120"/>
              </a:rPr>
              <a:t>test_websocket_relays_live_events</a:t>
            </a:r>
            <a:endParaRPr lang="en-US" sz="1000" dirty="0"/>
          </a:p>
          <a:p>
            <a:pPr indent="0" marL="0">
              <a:lnSpc>
                <a:spcPct val="175000"/>
              </a:lnSpc>
              <a:buNone/>
            </a:pPr>
            <a:r>
              <a:rPr lang="en-US" sz="1000" b="1" dirty="0">
                <a:solidFill>
                  <a:srgbClr val="E09B00"/>
                </a:solidFill>
                <a:latin typeface="Courier New" pitchFamily="34" charset="0"/>
                <a:ea typeface="Courier New" pitchFamily="34" charset="-122"/>
                <a:cs typeface="Courier New" pitchFamily="34" charset="-120"/>
              </a:rPr>
              <a:t>AT-45  </a:t>
            </a:r>
            <a:pPr indent="0" marL="0">
              <a:lnSpc>
                <a:spcPct val="175000"/>
              </a:lnSpc>
              <a:buNone/>
            </a:pPr>
            <a:r>
              <a:rPr lang="en-US" sz="1000" dirty="0">
                <a:solidFill>
                  <a:srgbClr val="37474F"/>
                </a:solidFill>
                <a:latin typeface="Courier New" pitchFamily="34" charset="0"/>
                <a:ea typeface="Courier New" pitchFamily="34" charset="-122"/>
                <a:cs typeface="Courier New" pitchFamily="34" charset="-120"/>
              </a:rPr>
              <a:t>test_report_max_severity_is_ranked_not_alphabetical</a:t>
            </a:r>
            <a:endParaRPr lang="en-US" sz="1000" dirty="0"/>
          </a:p>
        </p:txBody>
      </p:sp>
      <p:sp>
        <p:nvSpPr>
          <p:cNvPr id="11" name="Text 8"/>
          <p:cNvSpPr txBox="1"/>
          <p:nvPr/>
        </p:nvSpPr>
        <p:spPr>
          <a:xfrm>
            <a:off x="685800" y="8366760"/>
            <a:ext cx="9144000" cy="274320"/>
          </a:xfrm>
          <a:prstGeom prst="rect">
            <a:avLst/>
          </a:prstGeom>
          <a:noFill/>
          <a:ln/>
        </p:spPr>
        <p:txBody>
          <a:bodyPr wrap="square" lIns="0" tIns="0" rIns="0" bIns="0" rtlCol="0" anchor="t"/>
          <a:lstStyle/>
          <a:p>
            <a:pPr indent="0" marL="0">
              <a:buNone/>
            </a:pPr>
            <a:r>
              <a:rPr lang="en-US" sz="1200" i="1" dirty="0">
                <a:solidFill>
                  <a:srgbClr val="78909C"/>
                </a:solidFill>
              </a:rPr>
              <a:t>(n) = parametrised cases. 45 test functions = 78 executed test cases.</a:t>
            </a:r>
            <a:endParaRPr lang="en-US" sz="1200" dirty="0"/>
          </a:p>
        </p:txBody>
      </p:sp>
      <p:sp>
        <p:nvSpPr>
          <p:cNvPr id="25" name="Slide Number Placeholder 0"/>
          <p:cNvSpPr>
            <a:spLocks noGrp="1"/>
          </p:cNvSpPr>
          <p:nvPr>
            <p:ph type="sldNum" sz="quarter" idx="4294967295"/>
          </p:nvPr>
        </p:nvSpPr>
        <p:spPr>
          <a:xfrm>
            <a:off x="14794992" y="8549640"/>
            <a:ext cx="91440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3"/>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body" hasCustomPrompt="1"/>
          </p:nvPr>
        </p:nvSpPr>
        <p:spPr>
          <a:xfrm>
            <a:off x="685800" y="2743200"/>
            <a:ext cx="5486400" cy="1371600"/>
          </a:xfrm>
          <a:prstGeom prst="rect">
            <a:avLst/>
          </a:prstGeom>
          <a:noFill/>
          <a:ln/>
        </p:spPr>
        <p:txBody>
          <a:bodyPr wrap="square" lIns="0" tIns="0" rIns="0" bIns="0" rtlCol="0"/>
          <a:lstStyle/>
          <a:p>
            <a:pPr indent="0" marL="0">
              <a:buNone/>
            </a:pPr>
            <a:r>
              <a:rPr lang="en-US" sz="8000" b="1" dirty="0">
                <a:solidFill>
                  <a:schemeClr val="accent2"/>
                </a:solidFill>
              </a:rPr>
              <a:t>06</a:t>
            </a:r>
            <a:endParaRPr lang="en-US" sz="8000" dirty="0"/>
          </a:p>
        </p:txBody>
      </p:sp>
      <p:sp>
        <p:nvSpPr>
          <p:cNvPr id="3" name="Text 0"/>
          <p:cNvSpPr/>
          <p:nvPr>
            <p:ph idx="101" type="title" hasCustomPrompt="1"/>
          </p:nvPr>
        </p:nvSpPr>
        <p:spPr>
          <a:xfrm>
            <a:off x="685800" y="4206240"/>
            <a:ext cx="12801600" cy="1097280"/>
          </a:xfrm>
          <a:prstGeom prst="rect">
            <a:avLst/>
          </a:prstGeom>
          <a:noFill/>
          <a:ln/>
        </p:spPr>
        <p:txBody>
          <a:bodyPr wrap="square" lIns="0" tIns="0" rIns="0" bIns="0" rtlCol="0"/>
          <a:lstStyle/>
          <a:p>
            <a:pPr algn="l" indent="0" marL="0">
              <a:buNone/>
            </a:pPr>
            <a:r>
              <a:rPr lang="en-US" sz="4800" b="1" dirty="0">
                <a:solidFill>
                  <a:schemeClr val="bg1"/>
                </a:solidFill>
              </a:rPr>
              <a:t>AI/ML Techniques</a:t>
            </a:r>
            <a:endParaRPr lang="en-US" sz="4800" dirty="0"/>
          </a:p>
        </p:txBody>
      </p:sp>
      <p:sp>
        <p:nvSpPr>
          <p:cNvPr id="4" name="Text 0"/>
          <p:cNvSpPr/>
          <p:nvPr>
            <p:ph idx="102" type="body" hasCustomPrompt="1"/>
          </p:nvPr>
        </p:nvSpPr>
        <p:spPr>
          <a:xfrm>
            <a:off x="685800" y="5349240"/>
            <a:ext cx="12801600" cy="731520"/>
          </a:xfrm>
          <a:prstGeom prst="rect">
            <a:avLst/>
          </a:prstGeom>
          <a:noFill/>
          <a:ln/>
        </p:spPr>
        <p:txBody>
          <a:bodyPr wrap="square" lIns="0" tIns="0" rIns="0" bIns="0" rtlCol="0"/>
          <a:lstStyle/>
          <a:p>
            <a:pPr indent="0" marL="0">
              <a:buNone/>
            </a:pPr>
            <a:r>
              <a:rPr lang="en-US" sz="2000" dirty="0">
                <a:solidFill>
                  <a:schemeClr val="accent6"/>
                </a:solidFill>
              </a:rPr>
              <a:t>What is implemented for Module 8 so far, and why</a:t>
            </a:r>
            <a:endParaRPr lang="en-US" sz="2000" dirty="0"/>
          </a:p>
        </p:txBody>
      </p:sp>
      <p:sp>
        <p:nvSpPr>
          <p:cNvPr id="25" name="Slide Number Placeholder 0"/>
          <p:cNvSpPr>
            <a:spLocks noGrp="1"/>
          </p:cNvSpPr>
          <p:nvPr>
            <p:ph type="sldNum" sz="quarter" idx="4294967295"/>
          </p:nvPr>
        </p:nvSpPr>
        <p:spPr>
          <a:xfrm>
            <a:off x="14794992" y="8549640"/>
            <a:ext cx="91440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3"/>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body" hasCustomPrompt="1"/>
          </p:nvPr>
        </p:nvSpPr>
        <p:spPr>
          <a:xfrm>
            <a:off x="685800" y="365760"/>
            <a:ext cx="10972800" cy="365760"/>
          </a:xfrm>
          <a:prstGeom prst="rect">
            <a:avLst/>
          </a:prstGeom>
          <a:noFill/>
          <a:ln/>
        </p:spPr>
        <p:txBody>
          <a:bodyPr wrap="square" lIns="0" tIns="0" rIns="0" bIns="0" rtlCol="0"/>
          <a:lstStyle/>
          <a:p>
            <a:pPr indent="0" marL="0">
              <a:buNone/>
            </a:pPr>
            <a:r>
              <a:rPr lang="en-US" sz="1200" b="1" spc="200" kern="0" dirty="0">
                <a:solidFill>
                  <a:schemeClr val="accent3"/>
                </a:solidFill>
              </a:rPr>
              <a:t>06 — AI/ML TECHNIQUES</a:t>
            </a:r>
            <a:endParaRPr lang="en-US" sz="1200" dirty="0"/>
          </a:p>
        </p:txBody>
      </p:sp>
      <p:sp>
        <p:nvSpPr>
          <p:cNvPr id="3" name="Text 0"/>
          <p:cNvSpPr/>
          <p:nvPr>
            <p:ph idx="101" type="title" hasCustomPrompt="1"/>
          </p:nvPr>
        </p:nvSpPr>
        <p:spPr>
          <a:xfrm>
            <a:off x="685800" y="731520"/>
            <a:ext cx="14886432" cy="822960"/>
          </a:xfrm>
          <a:prstGeom prst="rect">
            <a:avLst/>
          </a:prstGeom>
          <a:noFill/>
          <a:ln/>
        </p:spPr>
        <p:txBody>
          <a:bodyPr wrap="square" lIns="0" tIns="0" rIns="0" bIns="0" rtlCol="0" anchor="t"/>
          <a:lstStyle/>
          <a:p>
            <a:pPr algn="l" indent="0" marL="0">
              <a:buNone/>
            </a:pPr>
            <a:r>
              <a:rPr lang="en-US" sz="3600" b="1" dirty="0">
                <a:solidFill>
                  <a:schemeClr val="tx1"/>
                </a:solidFill>
              </a:rPr>
              <a:t>Module 8 — Data Preparation (Implemented)</a:t>
            </a:r>
            <a:endParaRPr lang="en-US" sz="3600" dirty="0"/>
          </a:p>
        </p:txBody>
      </p:sp>
      <p:pic>
        <p:nvPicPr>
          <p:cNvPr id="5" name="ML dataset activity diagram" descr="/tmp/claude-0/-home-claude/20c42fea-0b24-5b6e-95a5-e2a8cb74a1e4/scratchpad/puml/ad/ad9_ml_dataset.png">    </p:cNvPr>
          <p:cNvPicPr>
            <a:picLocks noChangeAspect="1"/>
          </p:cNvPicPr>
          <p:nvPr/>
        </p:nvPicPr>
        <p:blipFill>
          <a:blip r:embed="rId1"/>
          <a:stretch>
            <a:fillRect/>
          </a:stretch>
        </p:blipFill>
        <p:spPr>
          <a:xfrm>
            <a:off x="685800" y="2015760"/>
            <a:ext cx="3931920" cy="6118319"/>
          </a:xfrm>
          <a:prstGeom prst="rect">
            <a:avLst/>
          </a:prstGeom>
        </p:spPr>
      </p:pic>
      <p:sp>
        <p:nvSpPr>
          <p:cNvPr id="6" name="ML dataset activity diagram frame"/>
          <p:cNvSpPr/>
          <p:nvPr/>
        </p:nvSpPr>
        <p:spPr>
          <a:xfrm>
            <a:off x="685800" y="2015760"/>
            <a:ext cx="3931920" cy="6118319"/>
          </a:xfrm>
          <a:prstGeom prst="rect">
            <a:avLst/>
          </a:prstGeom>
          <a:ln w="9525">
            <a:solidFill>
              <a:srgbClr val="CFD8DC"/>
            </a:solidFill>
            <a:prstDash val="solid"/>
          </a:ln>
        </p:spPr>
      </p:sp>
      <p:sp>
        <p:nvSpPr>
          <p:cNvPr id="7" name="dataset card"/>
          <p:cNvSpPr/>
          <p:nvPr/>
        </p:nvSpPr>
        <p:spPr>
          <a:xfrm>
            <a:off x="4983480" y="1783080"/>
            <a:ext cx="5120640" cy="6537960"/>
          </a:xfrm>
          <a:prstGeom prst="roundRect">
            <a:avLst>
              <a:gd name="adj" fmla="val 1429"/>
            </a:avLst>
          </a:prstGeom>
          <a:solidFill>
            <a:srgbClr val="FFFFFF"/>
          </a:solidFill>
          <a:ln w="9525">
            <a:solidFill>
              <a:srgbClr val="CFD8DC"/>
            </a:solidFill>
            <a:prstDash val="solid"/>
          </a:ln>
        </p:spPr>
      </p:sp>
      <p:sp>
        <p:nvSpPr>
          <p:cNvPr id="8" name="Text 4"/>
          <p:cNvSpPr txBox="1"/>
          <p:nvPr/>
        </p:nvSpPr>
        <p:spPr>
          <a:xfrm>
            <a:off x="5257800" y="2011680"/>
            <a:ext cx="4572000" cy="457200"/>
          </a:xfrm>
          <a:prstGeom prst="rect">
            <a:avLst/>
          </a:prstGeom>
          <a:noFill/>
          <a:ln/>
        </p:spPr>
        <p:txBody>
          <a:bodyPr wrap="square" lIns="0" tIns="0" rIns="0" bIns="0" rtlCol="0" anchor="t"/>
          <a:lstStyle/>
          <a:p>
            <a:pPr indent="0" marL="0">
              <a:buNone/>
            </a:pPr>
            <a:r>
              <a:rPr lang="en-US" sz="2100" b="1" dirty="0">
                <a:solidFill>
                  <a:srgbClr val="263238"/>
                </a:solidFill>
              </a:rPr>
              <a:t>Dataset</a:t>
            </a:r>
            <a:endParaRPr lang="en-US" sz="2100" dirty="0"/>
          </a:p>
        </p:txBody>
      </p:sp>
      <p:sp>
        <p:nvSpPr>
          <p:cNvPr id="9" name="Text 5"/>
          <p:cNvSpPr txBox="1"/>
          <p:nvPr/>
        </p:nvSpPr>
        <p:spPr>
          <a:xfrm>
            <a:off x="5257800" y="2606040"/>
            <a:ext cx="4617720" cy="5486400"/>
          </a:xfrm>
          <a:prstGeom prst="rect">
            <a:avLst/>
          </a:prstGeom>
          <a:noFill/>
          <a:ln/>
        </p:spPr>
        <p:txBody>
          <a:bodyPr wrap="square" lIns="0" tIns="0" rIns="0" bIns="0" rtlCol="0" anchor="t"/>
          <a:lstStyle/>
          <a:p>
            <a:pPr marL="228600" indent="-228600">
              <a:spcAft>
                <a:spcPts val="1400"/>
              </a:spcAft>
              <a:buSzPct val="100000"/>
              <a:buChar char="•"/>
            </a:pPr>
            <a:r>
              <a:rPr lang="en-US" sz="1650" b="1" dirty="0">
                <a:solidFill>
                  <a:srgbClr val="37474F"/>
                </a:solidFill>
              </a:rPr>
              <a:t>One row per session</a:t>
            </a:r>
            <a:pPr indent="0" marL="0">
              <a:spcAft>
                <a:spcPts val="1400"/>
              </a:spcAft>
              <a:buNone/>
            </a:pPr>
            <a:r>
              <a:rPr lang="en-US" sz="1650" dirty="0">
                <a:solidFill>
                  <a:srgbClr val="37474F"/>
                </a:solidFill>
              </a:rPr>
              <a:t> from the unified events table</a:t>
            </a:r>
            <a:endParaRPr lang="en-US" sz="1650" dirty="0"/>
          </a:p>
          <a:p>
            <a:pPr marL="228600" indent="-228600">
              <a:spcAft>
                <a:spcPts val="1400"/>
              </a:spcAft>
              <a:buSzPct val="100000"/>
              <a:buChar char="•"/>
            </a:pPr>
            <a:r>
              <a:rPr lang="en-US" sz="1650" b="1" dirty="0">
                <a:solidFill>
                  <a:srgbClr val="37474F"/>
                </a:solidFill>
              </a:rPr>
              <a:t>29 features: </a:t>
            </a:r>
            <a:pPr indent="0" marL="0">
              <a:spcAft>
                <a:spcPts val="1400"/>
              </a:spcAft>
              <a:buNone/>
            </a:pPr>
            <a:r>
              <a:rPr lang="en-US" sz="1650" dirty="0">
                <a:solidFill>
                  <a:srgbClr val="37474F"/>
                </a:solidFill>
              </a:rPr>
              <a:t>duration, auth counts and success, distinct users/passwords, commands, downloads, files, HTTP 404s, MQTT control and wildcards, RTSP probes, malformed packets, keyword flags, timing mean/std, protocol mix of the IP</a:t>
            </a:r>
            <a:endParaRPr lang="en-US" sz="1650" dirty="0"/>
          </a:p>
          <a:p>
            <a:pPr marL="228600" indent="-228600">
              <a:spcAft>
                <a:spcPts val="1400"/>
              </a:spcAft>
              <a:buSzPct val="100000"/>
              <a:buChar char="•"/>
            </a:pPr>
            <a:r>
              <a:rPr lang="en-US" sz="1650" b="1" dirty="0">
                <a:solidFill>
                  <a:srgbClr val="37474F"/>
                </a:solidFill>
              </a:rPr>
              <a:t>Weak label</a:t>
            </a:r>
            <a:pPr indent="0" marL="0">
              <a:spcAft>
                <a:spcPts val="1400"/>
              </a:spcAft>
              <a:buNone/>
            </a:pPr>
            <a:r>
              <a:rPr lang="en-US" sz="1650" dirty="0">
                <a:solidFill>
                  <a:srgbClr val="37474F"/>
                </a:solidFill>
              </a:rPr>
              <a:t> from rule detections, highest priority wins</a:t>
            </a:r>
            <a:endParaRPr lang="en-US" sz="1650" dirty="0"/>
          </a:p>
          <a:p>
            <a:pPr marL="228600" indent="-228600">
              <a:spcAft>
                <a:spcPts val="1400"/>
              </a:spcAft>
              <a:buSzPct val="100000"/>
              <a:buChar char="•"/>
            </a:pPr>
            <a:r>
              <a:rPr lang="en-US" sz="1650" b="1" dirty="0">
                <a:solidFill>
                  <a:srgbClr val="37474F"/>
                </a:solidFill>
              </a:rPr>
              <a:t>Export:</a:t>
            </a:r>
            <a:pPr indent="0" marL="0">
              <a:spcAft>
                <a:spcPts val="1400"/>
              </a:spcAft>
              <a:buNone/>
            </a:pPr>
            <a:r>
              <a:rPr lang="en-US" sz="1650" dirty="0">
                <a:solidFill>
                  <a:srgbClr val="37474F"/>
                </a:solidFill>
              </a:rPr>
              <a:t> /api/ml/dataset.csv and the Reports page</a:t>
            </a:r>
            <a:endParaRPr lang="en-US" sz="165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10378440" y="1783080"/>
          <a:ext cx="5193792" cy="914400"/>
        </p:xfrm>
        <a:graphic>
          <a:graphicData uri="http://schemas.openxmlformats.org/drawingml/2006/table">
            <a:tbl>
              <a:tblPr/>
              <a:tblGrid>
                <a:gridCol w="1920240"/>
                <a:gridCol w="3273552"/>
              </a:tblGrid>
              <a:tr h="566928">
                <a:tc>
                  <a:txBody>
                    <a:bodyPr/>
                    <a:lstStyle/>
                    <a:p>
                      <a:pPr indent="0" marL="0">
                        <a:buNone/>
                      </a:pPr>
                      <a:r>
                        <a:rPr lang="en-US" sz="1400" b="1" dirty="0">
                          <a:solidFill>
                            <a:srgbClr val="FFFFFF"/>
                          </a:solidFill>
                        </a:rPr>
                        <a:t>Class (scope)</a:t>
                      </a:r>
                      <a:endParaRPr lang="en-US" sz="14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37474F"/>
                    </a:solidFill>
                  </a:tcPr>
                </a:tc>
                <a:tc>
                  <a:txBody>
                    <a:bodyPr/>
                    <a:lstStyle/>
                    <a:p>
                      <a:pPr indent="0" marL="0">
                        <a:buNone/>
                      </a:pPr>
                      <a:r>
                        <a:rPr lang="en-US" sz="1400" b="1" dirty="0">
                          <a:solidFill>
                            <a:srgbClr val="FFFFFF"/>
                          </a:solidFill>
                        </a:rPr>
                        <a:t>Produced by rules</a:t>
                      </a:r>
                      <a:endParaRPr lang="en-US" sz="14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37474F"/>
                    </a:solidFill>
                  </a:tcPr>
                </a:tc>
              </a:tr>
              <a:tr h="566928">
                <a:tc>
                  <a:txBody>
                    <a:bodyPr/>
                    <a:lstStyle/>
                    <a:p>
                      <a:pPr indent="0" marL="0">
                        <a:buNone/>
                      </a:pPr>
                      <a:r>
                        <a:rPr lang="en-US" sz="1350" dirty="0">
                          <a:solidFill>
                            <a:srgbClr val="37474F"/>
                          </a:solidFill>
                        </a:rPr>
                        <a:t>malware_delivery</a:t>
                      </a:r>
                      <a:endParaRPr lang="en-US" sz="135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FFFFF"/>
                    </a:solidFill>
                  </a:tcPr>
                </a:tc>
                <a:tc>
                  <a:txBody>
                    <a:bodyPr/>
                    <a:lstStyle/>
                    <a:p>
                      <a:pPr indent="0" marL="0">
                        <a:buNone/>
                      </a:pPr>
                      <a:r>
                        <a:rPr lang="en-US" sz="1350" dirty="0">
                          <a:solidFill>
                            <a:srgbClr val="37474F"/>
                          </a:solidFill>
                        </a:rPr>
                        <a:t>MALWARE_DELIVERY, MALWARE_FAMILY, MIRAI</a:t>
                      </a:r>
                      <a:endParaRPr lang="en-US" sz="135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FFFFF"/>
                    </a:solidFill>
                  </a:tcPr>
                </a:tc>
              </a:tr>
              <a:tr h="566928">
                <a:tc>
                  <a:txBody>
                    <a:bodyPr/>
                    <a:lstStyle/>
                    <a:p>
                      <a:pPr indent="0" marL="0">
                        <a:buNone/>
                      </a:pPr>
                      <a:r>
                        <a:rPr lang="en-US" sz="1350" dirty="0">
                          <a:solidFill>
                            <a:srgbClr val="37474F"/>
                          </a:solidFill>
                        </a:rPr>
                        <a:t>botnet_c2</a:t>
                      </a:r>
                      <a:endParaRPr lang="en-US" sz="135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AFBFB"/>
                    </a:solidFill>
                  </a:tcPr>
                </a:tc>
                <a:tc>
                  <a:txBody>
                    <a:bodyPr/>
                    <a:lstStyle/>
                    <a:p>
                      <a:pPr indent="0" marL="0">
                        <a:buNone/>
                      </a:pPr>
                      <a:r>
                        <a:rPr lang="en-US" sz="1350" dirty="0">
                          <a:solidFill>
                            <a:srgbClr val="37474F"/>
                          </a:solidFill>
                        </a:rPr>
                        <a:t>BOTNET_C2, ICS command, DENIAL_OF_VIEW</a:t>
                      </a:r>
                      <a:endParaRPr lang="en-US" sz="135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AFBFB"/>
                    </a:solidFill>
                  </a:tcPr>
                </a:tc>
              </a:tr>
              <a:tr h="566928">
                <a:tc>
                  <a:txBody>
                    <a:bodyPr/>
                    <a:lstStyle/>
                    <a:p>
                      <a:pPr indent="0" marL="0">
                        <a:buNone/>
                      </a:pPr>
                      <a:r>
                        <a:rPr lang="en-US" sz="1350" dirty="0">
                          <a:solidFill>
                            <a:srgbClr val="37474F"/>
                          </a:solidFill>
                        </a:rPr>
                        <a:t>protocol_exploit</a:t>
                      </a:r>
                      <a:endParaRPr lang="en-US" sz="135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FFFFF"/>
                    </a:solidFill>
                  </a:tcPr>
                </a:tc>
                <a:tc>
                  <a:txBody>
                    <a:bodyPr/>
                    <a:lstStyle/>
                    <a:p>
                      <a:pPr indent="0" marL="0">
                        <a:buNone/>
                      </a:pPr>
                      <a:r>
                        <a:rPr lang="en-US" sz="1350" dirty="0">
                          <a:solidFill>
                            <a:srgbClr val="37474F"/>
                          </a:solidFill>
                        </a:rPr>
                        <a:t>PROTOCOL_EXPLOIT</a:t>
                      </a:r>
                      <a:endParaRPr lang="en-US" sz="135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FFFFF"/>
                    </a:solidFill>
                  </a:tcPr>
                </a:tc>
              </a:tr>
              <a:tr h="566928">
                <a:tc>
                  <a:txBody>
                    <a:bodyPr/>
                    <a:lstStyle/>
                    <a:p>
                      <a:pPr indent="0" marL="0">
                        <a:buNone/>
                      </a:pPr>
                      <a:r>
                        <a:rPr lang="en-US" sz="1350" dirty="0">
                          <a:solidFill>
                            <a:srgbClr val="37474F"/>
                          </a:solidFill>
                        </a:rPr>
                        <a:t>brute_force</a:t>
                      </a:r>
                      <a:endParaRPr lang="en-US" sz="135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AFBFB"/>
                    </a:solidFill>
                  </a:tcPr>
                </a:tc>
                <a:tc>
                  <a:txBody>
                    <a:bodyPr/>
                    <a:lstStyle/>
                    <a:p>
                      <a:pPr indent="0" marL="0">
                        <a:buNone/>
                      </a:pPr>
                      <a:r>
                        <a:rPr lang="en-US" sz="1350" dirty="0">
                          <a:solidFill>
                            <a:srgbClr val="37474F"/>
                          </a:solidFill>
                        </a:rPr>
                        <a:t>BRUTE_FORCE, STUFFING, COMPROMISE</a:t>
                      </a:r>
                      <a:endParaRPr lang="en-US" sz="135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AFBFB"/>
                    </a:solidFill>
                  </a:tcPr>
                </a:tc>
              </a:tr>
              <a:tr h="566928">
                <a:tc>
                  <a:txBody>
                    <a:bodyPr/>
                    <a:lstStyle/>
                    <a:p>
                      <a:pPr indent="0" marL="0">
                        <a:buNone/>
                      </a:pPr>
                      <a:r>
                        <a:rPr lang="en-US" sz="1350" dirty="0">
                          <a:solidFill>
                            <a:srgbClr val="37474F"/>
                          </a:solidFill>
                        </a:rPr>
                        <a:t>port_scan</a:t>
                      </a:r>
                      <a:endParaRPr lang="en-US" sz="135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FFFFF"/>
                    </a:solidFill>
                  </a:tcPr>
                </a:tc>
                <a:tc>
                  <a:txBody>
                    <a:bodyPr/>
                    <a:lstStyle/>
                    <a:p>
                      <a:pPr indent="0" marL="0">
                        <a:buNone/>
                      </a:pPr>
                      <a:r>
                        <a:rPr lang="en-US" sz="1350" dirty="0">
                          <a:solidFill>
                            <a:srgbClr val="37474F"/>
                          </a:solidFill>
                        </a:rPr>
                        <a:t>RECON, WEB_SCAN, RTSP_ROUTE_ENUM</a:t>
                      </a:r>
                      <a:endParaRPr lang="en-US" sz="135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FFFFF"/>
                    </a:solidFill>
                  </a:tcPr>
                </a:tc>
              </a:tr>
              <a:tr h="566928">
                <a:tc>
                  <a:txBody>
                    <a:bodyPr/>
                    <a:lstStyle/>
                    <a:p>
                      <a:pPr indent="0" marL="0">
                        <a:buNone/>
                      </a:pPr>
                      <a:r>
                        <a:rPr lang="en-US" sz="1350" dirty="0">
                          <a:solidFill>
                            <a:srgbClr val="37474F"/>
                          </a:solidFill>
                        </a:rPr>
                        <a:t>normal</a:t>
                      </a:r>
                      <a:endParaRPr lang="en-US" sz="135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AFBFB"/>
                    </a:solidFill>
                  </a:tcPr>
                </a:tc>
                <a:tc>
                  <a:txBody>
                    <a:bodyPr/>
                    <a:lstStyle/>
                    <a:p>
                      <a:pPr indent="0" marL="0">
                        <a:buNone/>
                      </a:pPr>
                      <a:r>
                        <a:rPr lang="en-US" sz="1350" dirty="0">
                          <a:solidFill>
                            <a:srgbClr val="37474F"/>
                          </a:solidFill>
                        </a:rPr>
                        <a:t>no detection</a:t>
                      </a:r>
                      <a:endParaRPr lang="en-US" sz="135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AFBFB"/>
                    </a:solidFill>
                  </a:tcPr>
                </a:tc>
              </a:tr>
            </a:tbl>
          </a:graphicData>
        </a:graphic>
      </p:graphicFrame>
      <p:sp>
        <p:nvSpPr>
          <p:cNvPr id="11" name="why card"/>
          <p:cNvSpPr/>
          <p:nvPr/>
        </p:nvSpPr>
        <p:spPr>
          <a:xfrm>
            <a:off x="10378440" y="6035040"/>
            <a:ext cx="5193792" cy="2286000"/>
          </a:xfrm>
          <a:prstGeom prst="roundRect">
            <a:avLst>
              <a:gd name="adj" fmla="val 3200"/>
            </a:avLst>
          </a:prstGeom>
          <a:solidFill>
            <a:srgbClr val="263238"/>
          </a:solidFill>
          <a:ln w="9525">
            <a:solidFill>
              <a:srgbClr val="CFD8DC"/>
            </a:solidFill>
            <a:prstDash val="solid"/>
          </a:ln>
        </p:spPr>
      </p:sp>
      <p:sp>
        <p:nvSpPr>
          <p:cNvPr id="12" name="Text 7"/>
          <p:cNvSpPr txBox="1"/>
          <p:nvPr/>
        </p:nvSpPr>
        <p:spPr>
          <a:xfrm>
            <a:off x="10607040" y="6217920"/>
            <a:ext cx="4754880" cy="2011680"/>
          </a:xfrm>
          <a:prstGeom prst="rect">
            <a:avLst/>
          </a:prstGeom>
          <a:noFill/>
          <a:ln/>
        </p:spPr>
        <p:txBody>
          <a:bodyPr wrap="square" lIns="0" tIns="0" rIns="0" bIns="0" rtlCol="0" anchor="t"/>
          <a:lstStyle/>
          <a:p>
            <a:pPr indent="0" marL="0">
              <a:spcAft>
                <a:spcPts val="400"/>
              </a:spcAft>
              <a:buNone/>
            </a:pPr>
            <a:r>
              <a:rPr lang="en-US" sz="1600" b="1" dirty="0">
                <a:solidFill>
                  <a:srgbClr val="E09B00"/>
                </a:solidFill>
              </a:rPr>
              <a:t>Why these techniques</a:t>
            </a:r>
            <a:endParaRPr lang="en-US" sz="1600" dirty="0"/>
          </a:p>
          <a:p>
            <a:pPr indent="0" marL="0">
              <a:spcAft>
                <a:spcPts val="400"/>
              </a:spcAft>
              <a:buNone/>
            </a:pPr>
            <a:r>
              <a:rPr lang="en-US" sz="1400" dirty="0">
                <a:solidFill>
                  <a:srgbClr val="FFFFFF"/>
                </a:solidFill>
              </a:rPr>
              <a:t>XGBoost suits small tabular data and explains itself through feature importance. Isolation Forest needs no labels, so it can flag new (zero-day) behaviour.</a:t>
            </a:r>
            <a:endParaRPr lang="en-US" sz="1600" dirty="0"/>
          </a:p>
        </p:txBody>
      </p:sp>
      <p:sp>
        <p:nvSpPr>
          <p:cNvPr id="25" name="Slide Number Placeholder 0"/>
          <p:cNvSpPr>
            <a:spLocks noGrp="1"/>
          </p:cNvSpPr>
          <p:nvPr>
            <p:ph type="sldNum" sz="quarter" idx="4294967295"/>
          </p:nvPr>
        </p:nvSpPr>
        <p:spPr>
          <a:xfrm>
            <a:off x="14794992" y="8549640"/>
            <a:ext cx="91440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3"/>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body" hasCustomPrompt="1"/>
          </p:nvPr>
        </p:nvSpPr>
        <p:spPr>
          <a:xfrm>
            <a:off x="685800" y="365760"/>
            <a:ext cx="10972800" cy="365760"/>
          </a:xfrm>
          <a:prstGeom prst="rect">
            <a:avLst/>
          </a:prstGeom>
          <a:noFill/>
          <a:ln/>
        </p:spPr>
        <p:txBody>
          <a:bodyPr wrap="square" lIns="0" tIns="0" rIns="0" bIns="0" rtlCol="0"/>
          <a:lstStyle/>
          <a:p>
            <a:pPr indent="0" marL="0">
              <a:buNone/>
            </a:pPr>
            <a:r>
              <a:rPr lang="en-US" sz="1200" b="1" spc="200" kern="0" dirty="0">
                <a:solidFill>
                  <a:schemeClr val="accent3"/>
                </a:solidFill>
              </a:rPr>
              <a:t>06 — AI/ML TECHNIQUES</a:t>
            </a:r>
            <a:endParaRPr lang="en-US" sz="1200" dirty="0"/>
          </a:p>
        </p:txBody>
      </p:sp>
      <p:sp>
        <p:nvSpPr>
          <p:cNvPr id="3" name="Text 0"/>
          <p:cNvSpPr/>
          <p:nvPr>
            <p:ph idx="101" type="title" hasCustomPrompt="1"/>
          </p:nvPr>
        </p:nvSpPr>
        <p:spPr>
          <a:xfrm>
            <a:off x="685800" y="731520"/>
            <a:ext cx="14886432" cy="822960"/>
          </a:xfrm>
          <a:prstGeom prst="rect">
            <a:avLst/>
          </a:prstGeom>
          <a:noFill/>
          <a:ln/>
        </p:spPr>
        <p:txBody>
          <a:bodyPr wrap="square" lIns="0" tIns="0" rIns="0" bIns="0" rtlCol="0" anchor="t"/>
          <a:lstStyle/>
          <a:p>
            <a:pPr algn="l" indent="0" marL="0">
              <a:buNone/>
            </a:pPr>
            <a:r>
              <a:rPr lang="en-US" sz="3600" b="1" dirty="0">
                <a:solidFill>
                  <a:schemeClr val="tx1"/>
                </a:solidFill>
              </a:rPr>
              <a:t>Current Effectiveness and Evaluation Plan</a:t>
            </a:r>
            <a:endParaRPr lang="en-US" sz="3600" dirty="0"/>
          </a:p>
        </p:txBody>
      </p:sp>
      <p:sp>
        <p:nvSpPr>
          <p:cNvPr id="5" name="Working today"/>
          <p:cNvSpPr/>
          <p:nvPr/>
        </p:nvSpPr>
        <p:spPr>
          <a:xfrm>
            <a:off x="685800" y="1828800"/>
            <a:ext cx="4779264" cy="6492240"/>
          </a:xfrm>
          <a:prstGeom prst="roundRect">
            <a:avLst>
              <a:gd name="adj" fmla="val 1531"/>
            </a:avLst>
          </a:prstGeom>
          <a:solidFill>
            <a:srgbClr val="FFFFFF"/>
          </a:solidFill>
          <a:ln w="9525">
            <a:solidFill>
              <a:srgbClr val="CFD8DC"/>
            </a:solidFill>
            <a:prstDash val="solid"/>
          </a:ln>
        </p:spPr>
      </p:sp>
      <p:sp>
        <p:nvSpPr>
          <p:cNvPr id="6" name="Working today circle"/>
          <p:cNvSpPr/>
          <p:nvPr/>
        </p:nvSpPr>
        <p:spPr>
          <a:xfrm>
            <a:off x="1005840" y="2148840"/>
            <a:ext cx="731520" cy="731520"/>
          </a:xfrm>
          <a:prstGeom prst="ellipse">
            <a:avLst/>
          </a:prstGeom>
          <a:solidFill>
            <a:srgbClr val="2E7D32"/>
          </a:solidFill>
          <a:ln w="12700">
            <a:solidFill>
              <a:srgbClr val="2E7D32"/>
            </a:solidFill>
            <a:prstDash val="solid"/>
          </a:ln>
        </p:spPr>
      </p:sp>
      <p:pic>
        <p:nvPicPr>
          <p:cNvPr id="7" name="Working today icon" descr="preencoded.png">    </p:cNvPr>
          <p:cNvPicPr>
            <a:picLocks noChangeAspect="1"/>
          </p:cNvPicPr>
          <p:nvPr/>
        </p:nvPicPr>
        <p:blipFill>
          <a:blip r:embed="rId1"/>
          <a:stretch>
            <a:fillRect/>
          </a:stretch>
        </p:blipFill>
        <p:spPr>
          <a:xfrm>
            <a:off x="1203350" y="2346350"/>
            <a:ext cx="336499" cy="336499"/>
          </a:xfrm>
          <a:prstGeom prst="rect">
            <a:avLst/>
          </a:prstGeom>
        </p:spPr>
      </p:pic>
      <p:sp>
        <p:nvSpPr>
          <p:cNvPr id="8" name="Text 4"/>
          <p:cNvSpPr txBox="1"/>
          <p:nvPr/>
        </p:nvSpPr>
        <p:spPr>
          <a:xfrm>
            <a:off x="1920240" y="2286000"/>
            <a:ext cx="3316224" cy="502920"/>
          </a:xfrm>
          <a:prstGeom prst="rect">
            <a:avLst/>
          </a:prstGeom>
          <a:noFill/>
          <a:ln/>
        </p:spPr>
        <p:txBody>
          <a:bodyPr wrap="square" lIns="0" tIns="0" rIns="0" bIns="0" rtlCol="0" anchor="t"/>
          <a:lstStyle/>
          <a:p>
            <a:pPr indent="0" marL="0">
              <a:buNone/>
            </a:pPr>
            <a:r>
              <a:rPr lang="en-US" sz="2100" b="1" dirty="0">
                <a:solidFill>
                  <a:srgbClr val="263238"/>
                </a:solidFill>
              </a:rPr>
              <a:t>Working today</a:t>
            </a:r>
            <a:endParaRPr lang="en-US" sz="2100" dirty="0"/>
          </a:p>
        </p:txBody>
      </p:sp>
      <p:sp>
        <p:nvSpPr>
          <p:cNvPr id="9" name="Text 5"/>
          <p:cNvSpPr txBox="1"/>
          <p:nvPr/>
        </p:nvSpPr>
        <p:spPr>
          <a:xfrm>
            <a:off x="1005840" y="3291840"/>
            <a:ext cx="4139184" cy="4846320"/>
          </a:xfrm>
          <a:prstGeom prst="rect">
            <a:avLst/>
          </a:prstGeom>
          <a:noFill/>
          <a:ln/>
        </p:spPr>
        <p:txBody>
          <a:bodyPr wrap="square" lIns="0" tIns="0" rIns="0" bIns="0" rtlCol="0" anchor="t"/>
          <a:lstStyle/>
          <a:p>
            <a:pPr marL="228600" indent="-228600">
              <a:spcAft>
                <a:spcPts val="1600"/>
              </a:spcAft>
              <a:buSzPct val="100000"/>
              <a:buChar char="•"/>
            </a:pPr>
            <a:r>
              <a:rPr lang="en-US" sz="1800" dirty="0">
                <a:solidFill>
                  <a:srgbClr val="37474F"/>
                </a:solidFill>
              </a:rPr>
              <a:t>Rule engine detected all 15 behaviour classes in the simulator run; the 16th (MALWARE_FAMILY) is covered by an automated test</a:t>
            </a:r>
            <a:endParaRPr lang="en-US" sz="1800" dirty="0"/>
          </a:p>
          <a:p>
            <a:pPr marL="228600" indent="-228600">
              <a:spcAft>
                <a:spcPts val="1600"/>
              </a:spcAft>
              <a:buSzPct val="100000"/>
              <a:buChar char="•"/>
            </a:pPr>
            <a:r>
              <a:rPr lang="en-US" sz="1800" dirty="0">
                <a:solidFill>
                  <a:srgbClr val="37474F"/>
                </a:solidFill>
              </a:rPr>
              <a:t>YARA identifies IoT malware families (Mirai, Gafgyt, Mozi, Tsunami …) on quarantined samples</a:t>
            </a:r>
            <a:endParaRPr lang="en-US" sz="1800" dirty="0"/>
          </a:p>
          <a:p>
            <a:pPr marL="228600" indent="-228600">
              <a:spcAft>
                <a:spcPts val="1600"/>
              </a:spcAft>
              <a:buSzPct val="100000"/>
              <a:buChar char="•"/>
            </a:pPr>
            <a:r>
              <a:rPr lang="en-US" sz="1800" dirty="0">
                <a:solidFill>
                  <a:srgbClr val="37474F"/>
                </a:solidFill>
              </a:rPr>
              <a:t>Labelled dataset produced live; label logic verified by AT-33 and AT-39</a:t>
            </a:r>
            <a:endParaRPr lang="en-US" sz="1800" dirty="0"/>
          </a:p>
        </p:txBody>
      </p:sp>
      <p:sp>
        <p:nvSpPr>
          <p:cNvPr id="10" name="Next — models (100%)"/>
          <p:cNvSpPr/>
          <p:nvPr/>
        </p:nvSpPr>
        <p:spPr>
          <a:xfrm>
            <a:off x="5739384" y="1828800"/>
            <a:ext cx="4779264" cy="6492240"/>
          </a:xfrm>
          <a:prstGeom prst="roundRect">
            <a:avLst>
              <a:gd name="adj" fmla="val 1531"/>
            </a:avLst>
          </a:prstGeom>
          <a:solidFill>
            <a:srgbClr val="FFFFFF"/>
          </a:solidFill>
          <a:ln w="9525">
            <a:solidFill>
              <a:srgbClr val="CFD8DC"/>
            </a:solidFill>
            <a:prstDash val="solid"/>
          </a:ln>
        </p:spPr>
      </p:sp>
      <p:sp>
        <p:nvSpPr>
          <p:cNvPr id="11" name="Next — models (100%) circle"/>
          <p:cNvSpPr/>
          <p:nvPr/>
        </p:nvSpPr>
        <p:spPr>
          <a:xfrm>
            <a:off x="6059424" y="2148840"/>
            <a:ext cx="731520" cy="731520"/>
          </a:xfrm>
          <a:prstGeom prst="ellipse">
            <a:avLst/>
          </a:prstGeom>
          <a:solidFill>
            <a:srgbClr val="E09B00"/>
          </a:solidFill>
          <a:ln w="12700">
            <a:solidFill>
              <a:srgbClr val="E09B00"/>
            </a:solidFill>
            <a:prstDash val="solid"/>
          </a:ln>
        </p:spPr>
      </p:sp>
      <p:pic>
        <p:nvPicPr>
          <p:cNvPr id="12" name="Next — models (100%) icon" descr="preencoded.png">    </p:cNvPr>
          <p:cNvPicPr>
            <a:picLocks noChangeAspect="1"/>
          </p:cNvPicPr>
          <p:nvPr/>
        </p:nvPicPr>
        <p:blipFill>
          <a:blip r:embed="rId2"/>
          <a:stretch>
            <a:fillRect/>
          </a:stretch>
        </p:blipFill>
        <p:spPr>
          <a:xfrm>
            <a:off x="6256934" y="2346350"/>
            <a:ext cx="336499" cy="336499"/>
          </a:xfrm>
          <a:prstGeom prst="rect">
            <a:avLst/>
          </a:prstGeom>
        </p:spPr>
      </p:pic>
      <p:sp>
        <p:nvSpPr>
          <p:cNvPr id="13" name="Text 8"/>
          <p:cNvSpPr txBox="1"/>
          <p:nvPr/>
        </p:nvSpPr>
        <p:spPr>
          <a:xfrm>
            <a:off x="6973824" y="2286000"/>
            <a:ext cx="3316224" cy="502920"/>
          </a:xfrm>
          <a:prstGeom prst="rect">
            <a:avLst/>
          </a:prstGeom>
          <a:noFill/>
          <a:ln/>
        </p:spPr>
        <p:txBody>
          <a:bodyPr wrap="square" lIns="0" tIns="0" rIns="0" bIns="0" rtlCol="0" anchor="t"/>
          <a:lstStyle/>
          <a:p>
            <a:pPr indent="0" marL="0">
              <a:buNone/>
            </a:pPr>
            <a:r>
              <a:rPr lang="en-US" sz="2100" b="1" dirty="0">
                <a:solidFill>
                  <a:srgbClr val="263238"/>
                </a:solidFill>
              </a:rPr>
              <a:t>Next — models (100%)</a:t>
            </a:r>
            <a:endParaRPr lang="en-US" sz="2100" dirty="0"/>
          </a:p>
        </p:txBody>
      </p:sp>
      <p:sp>
        <p:nvSpPr>
          <p:cNvPr id="14" name="Text 9"/>
          <p:cNvSpPr txBox="1"/>
          <p:nvPr/>
        </p:nvSpPr>
        <p:spPr>
          <a:xfrm>
            <a:off x="6059424" y="3291840"/>
            <a:ext cx="4139184" cy="4846320"/>
          </a:xfrm>
          <a:prstGeom prst="rect">
            <a:avLst/>
          </a:prstGeom>
          <a:noFill/>
          <a:ln/>
        </p:spPr>
        <p:txBody>
          <a:bodyPr wrap="square" lIns="0" tIns="0" rIns="0" bIns="0" rtlCol="0" anchor="t"/>
          <a:lstStyle/>
          <a:p>
            <a:pPr marL="228600" indent="-228600">
              <a:spcAft>
                <a:spcPts val="1600"/>
              </a:spcAft>
              <a:buSzPct val="100000"/>
              <a:buChar char="•"/>
            </a:pPr>
            <a:r>
              <a:rPr lang="en-US" sz="1800" dirty="0">
                <a:solidFill>
                  <a:srgbClr val="37474F"/>
                </a:solidFill>
              </a:rPr>
              <a:t>XGBoost classifier for the six classes, 5-fold cross-validation</a:t>
            </a:r>
            <a:endParaRPr lang="en-US" sz="1800" dirty="0"/>
          </a:p>
          <a:p>
            <a:pPr marL="228600" indent="-228600">
              <a:spcAft>
                <a:spcPts val="1600"/>
              </a:spcAft>
              <a:buSzPct val="100000"/>
              <a:buChar char="•"/>
            </a:pPr>
            <a:r>
              <a:rPr lang="en-US" sz="1800" dirty="0">
                <a:solidFill>
                  <a:srgbClr val="37474F"/>
                </a:solidFill>
              </a:rPr>
              <a:t>Isolation Forest anomaly score for unseen behaviour</a:t>
            </a:r>
            <a:endParaRPr lang="en-US" sz="1800" dirty="0"/>
          </a:p>
          <a:p>
            <a:pPr marL="228600" indent="-228600">
              <a:spcAft>
                <a:spcPts val="1600"/>
              </a:spcAft>
              <a:buSzPct val="100000"/>
              <a:buChar char="•"/>
            </a:pPr>
            <a:r>
              <a:rPr lang="en-US" sz="1800" dirty="0">
                <a:solidFill>
                  <a:srgbClr val="37474F"/>
                </a:solidFill>
              </a:rPr>
              <a:t>Risk score and LLM threat narrative (M8-FE-3, M8-FE-4)</a:t>
            </a:r>
            <a:endParaRPr lang="en-US" sz="1800" dirty="0"/>
          </a:p>
          <a:p>
            <a:pPr marL="228600" indent="-228600">
              <a:spcAft>
                <a:spcPts val="1600"/>
              </a:spcAft>
              <a:buSzPct val="100000"/>
              <a:buChar char="•"/>
            </a:pPr>
            <a:r>
              <a:rPr lang="en-US" sz="1800" dirty="0">
                <a:solidFill>
                  <a:srgbClr val="37474F"/>
                </a:solidFill>
              </a:rPr>
              <a:t>Served from a separate ml_api container</a:t>
            </a:r>
            <a:endParaRPr lang="en-US" sz="1800" dirty="0"/>
          </a:p>
        </p:txBody>
      </p:sp>
      <p:sp>
        <p:nvSpPr>
          <p:cNvPr id="15" name="How we will measure it"/>
          <p:cNvSpPr/>
          <p:nvPr/>
        </p:nvSpPr>
        <p:spPr>
          <a:xfrm>
            <a:off x="10792968" y="1828800"/>
            <a:ext cx="4779264" cy="6492240"/>
          </a:xfrm>
          <a:prstGeom prst="roundRect">
            <a:avLst>
              <a:gd name="adj" fmla="val 1531"/>
            </a:avLst>
          </a:prstGeom>
          <a:solidFill>
            <a:srgbClr val="FFFFFF"/>
          </a:solidFill>
          <a:ln w="9525">
            <a:solidFill>
              <a:srgbClr val="CFD8DC"/>
            </a:solidFill>
            <a:prstDash val="solid"/>
          </a:ln>
        </p:spPr>
      </p:sp>
      <p:sp>
        <p:nvSpPr>
          <p:cNvPr id="16" name="How we will measure it circle"/>
          <p:cNvSpPr/>
          <p:nvPr/>
        </p:nvSpPr>
        <p:spPr>
          <a:xfrm>
            <a:off x="11113008" y="2148840"/>
            <a:ext cx="731520" cy="731520"/>
          </a:xfrm>
          <a:prstGeom prst="ellipse">
            <a:avLst/>
          </a:prstGeom>
          <a:solidFill>
            <a:srgbClr val="455A64"/>
          </a:solidFill>
          <a:ln w="12700">
            <a:solidFill>
              <a:srgbClr val="455A64"/>
            </a:solidFill>
            <a:prstDash val="solid"/>
          </a:ln>
        </p:spPr>
      </p:sp>
      <p:pic>
        <p:nvPicPr>
          <p:cNvPr id="17" name="How we will measure it icon" descr="preencoded.png">    </p:cNvPr>
          <p:cNvPicPr>
            <a:picLocks noChangeAspect="1"/>
          </p:cNvPicPr>
          <p:nvPr/>
        </p:nvPicPr>
        <p:blipFill>
          <a:blip r:embed="rId3"/>
          <a:stretch>
            <a:fillRect/>
          </a:stretch>
        </p:blipFill>
        <p:spPr>
          <a:xfrm>
            <a:off x="11310518" y="2346350"/>
            <a:ext cx="336499" cy="336499"/>
          </a:xfrm>
          <a:prstGeom prst="rect">
            <a:avLst/>
          </a:prstGeom>
        </p:spPr>
      </p:pic>
      <p:sp>
        <p:nvSpPr>
          <p:cNvPr id="18" name="Text 12"/>
          <p:cNvSpPr txBox="1"/>
          <p:nvPr/>
        </p:nvSpPr>
        <p:spPr>
          <a:xfrm>
            <a:off x="12027408" y="2286000"/>
            <a:ext cx="3316224" cy="502920"/>
          </a:xfrm>
          <a:prstGeom prst="rect">
            <a:avLst/>
          </a:prstGeom>
          <a:noFill/>
          <a:ln/>
        </p:spPr>
        <p:txBody>
          <a:bodyPr wrap="square" lIns="0" tIns="0" rIns="0" bIns="0" rtlCol="0" anchor="t"/>
          <a:lstStyle/>
          <a:p>
            <a:pPr indent="0" marL="0">
              <a:buNone/>
            </a:pPr>
            <a:r>
              <a:rPr lang="en-US" sz="2100" b="1" dirty="0">
                <a:solidFill>
                  <a:srgbClr val="263238"/>
                </a:solidFill>
              </a:rPr>
              <a:t>How we will measure it</a:t>
            </a:r>
            <a:endParaRPr lang="en-US" sz="2100" dirty="0"/>
          </a:p>
        </p:txBody>
      </p:sp>
      <p:sp>
        <p:nvSpPr>
          <p:cNvPr id="19" name="Text 13"/>
          <p:cNvSpPr txBox="1"/>
          <p:nvPr/>
        </p:nvSpPr>
        <p:spPr>
          <a:xfrm>
            <a:off x="11113008" y="3291840"/>
            <a:ext cx="4139184" cy="4846320"/>
          </a:xfrm>
          <a:prstGeom prst="rect">
            <a:avLst/>
          </a:prstGeom>
          <a:noFill/>
          <a:ln/>
        </p:spPr>
        <p:txBody>
          <a:bodyPr wrap="square" lIns="0" tIns="0" rIns="0" bIns="0" rtlCol="0" anchor="t"/>
          <a:lstStyle/>
          <a:p>
            <a:pPr marL="228600" indent="-228600">
              <a:spcAft>
                <a:spcPts val="1600"/>
              </a:spcAft>
              <a:buSzPct val="100000"/>
              <a:buChar char="•"/>
            </a:pPr>
            <a:r>
              <a:rPr lang="en-US" sz="1800" dirty="0">
                <a:solidFill>
                  <a:srgbClr val="37474F"/>
                </a:solidFill>
              </a:rPr>
              <a:t>Accuracy, macro-F1 and a confusion matrix per class</a:t>
            </a:r>
            <a:endParaRPr lang="en-US" sz="1800" dirty="0"/>
          </a:p>
          <a:p>
            <a:pPr marL="228600" indent="-228600">
              <a:spcAft>
                <a:spcPts val="1600"/>
              </a:spcAft>
              <a:buSzPct val="100000"/>
              <a:buChar char="•"/>
            </a:pPr>
            <a:r>
              <a:rPr lang="en-US" sz="1800" dirty="0">
                <a:solidFill>
                  <a:srgbClr val="37474F"/>
                </a:solidFill>
              </a:rPr>
              <a:t>Compared with the rule baseline on the same sessions</a:t>
            </a:r>
            <a:endParaRPr lang="en-US" sz="1800" dirty="0"/>
          </a:p>
          <a:p>
            <a:pPr marL="228600" indent="-228600">
              <a:spcAft>
                <a:spcPts val="1600"/>
              </a:spcAft>
              <a:buSzPct val="100000"/>
              <a:buChar char="•"/>
            </a:pPr>
            <a:r>
              <a:rPr lang="en-US" sz="1800" dirty="0">
                <a:solidFill>
                  <a:srgbClr val="37474F"/>
                </a:solidFill>
              </a:rPr>
              <a:t>Features the rules do not use (timing, ratios, protocol mix) to avoid label leakage</a:t>
            </a:r>
            <a:endParaRPr lang="en-US" sz="1800" dirty="0"/>
          </a:p>
        </p:txBody>
      </p:sp>
      <p:sp>
        <p:nvSpPr>
          <p:cNvPr id="25" name="Slide Number Placeholder 0"/>
          <p:cNvSpPr>
            <a:spLocks noGrp="1"/>
          </p:cNvSpPr>
          <p:nvPr>
            <p:ph type="sldNum" sz="quarter" idx="4294967295"/>
          </p:nvPr>
        </p:nvSpPr>
        <p:spPr>
          <a:xfrm>
            <a:off x="14794992" y="8549640"/>
            <a:ext cx="91440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3"/>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body" hasCustomPrompt="1"/>
          </p:nvPr>
        </p:nvSpPr>
        <p:spPr>
          <a:xfrm>
            <a:off x="685800" y="2743200"/>
            <a:ext cx="5486400" cy="1371600"/>
          </a:xfrm>
          <a:prstGeom prst="rect">
            <a:avLst/>
          </a:prstGeom>
          <a:noFill/>
          <a:ln/>
        </p:spPr>
        <p:txBody>
          <a:bodyPr wrap="square" lIns="0" tIns="0" rIns="0" bIns="0" rtlCol="0"/>
          <a:lstStyle/>
          <a:p>
            <a:pPr indent="0" marL="0">
              <a:buNone/>
            </a:pPr>
            <a:r>
              <a:rPr lang="en-US" sz="8000" b="1" dirty="0">
                <a:solidFill>
                  <a:schemeClr val="accent2"/>
                </a:solidFill>
              </a:rPr>
              <a:t>07</a:t>
            </a:r>
            <a:endParaRPr lang="en-US" sz="8000" dirty="0"/>
          </a:p>
        </p:txBody>
      </p:sp>
      <p:sp>
        <p:nvSpPr>
          <p:cNvPr id="3" name="Text 0"/>
          <p:cNvSpPr/>
          <p:nvPr>
            <p:ph idx="101" type="title" hasCustomPrompt="1"/>
          </p:nvPr>
        </p:nvSpPr>
        <p:spPr>
          <a:xfrm>
            <a:off x="685800" y="4206240"/>
            <a:ext cx="12801600" cy="1097280"/>
          </a:xfrm>
          <a:prstGeom prst="rect">
            <a:avLst/>
          </a:prstGeom>
          <a:noFill/>
          <a:ln/>
        </p:spPr>
        <p:txBody>
          <a:bodyPr wrap="square" lIns="0" tIns="0" rIns="0" bIns="0" rtlCol="0"/>
          <a:lstStyle/>
          <a:p>
            <a:pPr algn="l" indent="0" marL="0">
              <a:buNone/>
            </a:pPr>
            <a:r>
              <a:rPr lang="en-US" sz="4800" b="1" dirty="0">
                <a:solidFill>
                  <a:schemeClr val="bg1"/>
                </a:solidFill>
              </a:rPr>
              <a:t>Next Steps &amp; Remaining Work</a:t>
            </a:r>
            <a:endParaRPr lang="en-US" sz="4800" dirty="0"/>
          </a:p>
        </p:txBody>
      </p:sp>
      <p:sp>
        <p:nvSpPr>
          <p:cNvPr id="4" name="Text 0"/>
          <p:cNvSpPr/>
          <p:nvPr>
            <p:ph idx="102" type="body" hasCustomPrompt="1"/>
          </p:nvPr>
        </p:nvSpPr>
        <p:spPr>
          <a:xfrm>
            <a:off x="685800" y="5349240"/>
            <a:ext cx="12801600" cy="731520"/>
          </a:xfrm>
          <a:prstGeom prst="rect">
            <a:avLst/>
          </a:prstGeom>
          <a:noFill/>
          <a:ln/>
        </p:spPr>
        <p:txBody>
          <a:bodyPr wrap="square" lIns="0" tIns="0" rIns="0" bIns="0" rtlCol="0"/>
          <a:lstStyle/>
          <a:p>
            <a:pPr indent="0" marL="0">
              <a:buNone/>
            </a:pPr>
            <a:r>
              <a:rPr lang="en-US" sz="2000" dirty="0">
                <a:solidFill>
                  <a:schemeClr val="accent6"/>
                </a:solidFill>
              </a:rPr>
              <a:t>What is left for 100% and how we will handle the risks</a:t>
            </a:r>
            <a:endParaRPr lang="en-US" sz="2000" dirty="0"/>
          </a:p>
        </p:txBody>
      </p:sp>
      <p:sp>
        <p:nvSpPr>
          <p:cNvPr id="25" name="Slide Number Placeholder 0"/>
          <p:cNvSpPr>
            <a:spLocks noGrp="1"/>
          </p:cNvSpPr>
          <p:nvPr>
            <p:ph type="sldNum" sz="quarter" idx="4294967295"/>
          </p:nvPr>
        </p:nvSpPr>
        <p:spPr>
          <a:xfrm>
            <a:off x="14794992" y="8549640"/>
            <a:ext cx="91440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3"/>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body" hasCustomPrompt="1"/>
          </p:nvPr>
        </p:nvSpPr>
        <p:spPr>
          <a:xfrm>
            <a:off x="685800" y="365760"/>
            <a:ext cx="10972800" cy="365760"/>
          </a:xfrm>
          <a:prstGeom prst="rect">
            <a:avLst/>
          </a:prstGeom>
          <a:noFill/>
          <a:ln/>
        </p:spPr>
        <p:txBody>
          <a:bodyPr wrap="square" lIns="0" tIns="0" rIns="0" bIns="0" rtlCol="0"/>
          <a:lstStyle/>
          <a:p>
            <a:pPr indent="0" marL="0">
              <a:buNone/>
            </a:pPr>
            <a:r>
              <a:rPr lang="en-US" sz="1200" b="1" spc="200" kern="0" dirty="0">
                <a:solidFill>
                  <a:schemeClr val="accent3"/>
                </a:solidFill>
              </a:rPr>
              <a:t>07 — NEXT STEPS</a:t>
            </a:r>
            <a:endParaRPr lang="en-US" sz="1200" dirty="0"/>
          </a:p>
        </p:txBody>
      </p:sp>
      <p:sp>
        <p:nvSpPr>
          <p:cNvPr id="3" name="Text 0"/>
          <p:cNvSpPr/>
          <p:nvPr>
            <p:ph idx="101" type="title" hasCustomPrompt="1"/>
          </p:nvPr>
        </p:nvSpPr>
        <p:spPr>
          <a:xfrm>
            <a:off x="685800" y="731520"/>
            <a:ext cx="14886432" cy="822960"/>
          </a:xfrm>
          <a:prstGeom prst="rect">
            <a:avLst/>
          </a:prstGeom>
          <a:noFill/>
          <a:ln/>
        </p:spPr>
        <p:txBody>
          <a:bodyPr wrap="square" lIns="0" tIns="0" rIns="0" bIns="0" rtlCol="0" anchor="t"/>
          <a:lstStyle/>
          <a:p>
            <a:pPr algn="l" indent="0" marL="0">
              <a:buNone/>
            </a:pPr>
            <a:r>
              <a:rPr lang="en-US" sz="3600" b="1" dirty="0">
                <a:solidFill>
                  <a:schemeClr val="tx1"/>
                </a:solidFill>
              </a:rPr>
              <a:t>Remaining Work and Challenges</a:t>
            </a:r>
            <a:endParaRPr lang="en-US" sz="3600" dirty="0"/>
          </a:p>
        </p:txBody>
      </p:sp>
      <p:sp>
        <p:nvSpPr>
          <p:cNvPr id="5" name="remaining card"/>
          <p:cNvSpPr/>
          <p:nvPr/>
        </p:nvSpPr>
        <p:spPr>
          <a:xfrm>
            <a:off x="685800" y="1828800"/>
            <a:ext cx="6766560" cy="6492240"/>
          </a:xfrm>
          <a:prstGeom prst="roundRect">
            <a:avLst>
              <a:gd name="adj" fmla="val 1127"/>
            </a:avLst>
          </a:prstGeom>
          <a:solidFill>
            <a:srgbClr val="FFFFFF"/>
          </a:solidFill>
          <a:ln w="9525">
            <a:solidFill>
              <a:srgbClr val="CFD8DC"/>
            </a:solidFill>
            <a:prstDash val="solid"/>
          </a:ln>
        </p:spPr>
      </p:sp>
      <p:sp>
        <p:nvSpPr>
          <p:cNvPr id="6" name="Text 3"/>
          <p:cNvSpPr txBox="1"/>
          <p:nvPr/>
        </p:nvSpPr>
        <p:spPr>
          <a:xfrm>
            <a:off x="1005840" y="2057400"/>
            <a:ext cx="5486400" cy="457200"/>
          </a:xfrm>
          <a:prstGeom prst="rect">
            <a:avLst/>
          </a:prstGeom>
          <a:noFill/>
          <a:ln/>
        </p:spPr>
        <p:txBody>
          <a:bodyPr wrap="square" lIns="0" tIns="0" rIns="0" bIns="0" rtlCol="0" anchor="t"/>
          <a:lstStyle/>
          <a:p>
            <a:pPr indent="0" marL="0">
              <a:buNone/>
            </a:pPr>
            <a:r>
              <a:rPr lang="en-US" sz="2100" b="1" dirty="0">
                <a:solidFill>
                  <a:srgbClr val="263238"/>
                </a:solidFill>
              </a:rPr>
              <a:t>Remaining work</a:t>
            </a:r>
            <a:endParaRPr lang="en-US" sz="2100" dirty="0"/>
          </a:p>
        </p:txBody>
      </p:sp>
      <p:sp>
        <p:nvSpPr>
          <p:cNvPr id="7" name="next 1"/>
          <p:cNvSpPr/>
          <p:nvPr/>
        </p:nvSpPr>
        <p:spPr>
          <a:xfrm>
            <a:off x="1005840" y="2697480"/>
            <a:ext cx="457200" cy="457200"/>
          </a:xfrm>
          <a:prstGeom prst="ellipse">
            <a:avLst/>
          </a:prstGeom>
          <a:solidFill>
            <a:srgbClr val="455A64"/>
          </a:solidFill>
          <a:ln w="12700">
            <a:solidFill>
              <a:srgbClr val="455A64"/>
            </a:solidFill>
            <a:prstDash val="solid"/>
          </a:ln>
        </p:spPr>
      </p:sp>
      <p:sp>
        <p:nvSpPr>
          <p:cNvPr id="8" name="Text 5"/>
          <p:cNvSpPr txBox="1"/>
          <p:nvPr/>
        </p:nvSpPr>
        <p:spPr>
          <a:xfrm>
            <a:off x="1005840" y="26974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9" name="Text 6"/>
          <p:cNvSpPr txBox="1"/>
          <p:nvPr/>
        </p:nvSpPr>
        <p:spPr>
          <a:xfrm>
            <a:off x="1645920" y="2660904"/>
            <a:ext cx="5486400" cy="365760"/>
          </a:xfrm>
          <a:prstGeom prst="rect">
            <a:avLst/>
          </a:prstGeom>
          <a:noFill/>
          <a:ln/>
        </p:spPr>
        <p:txBody>
          <a:bodyPr wrap="square" lIns="0" tIns="0" rIns="0" bIns="0" rtlCol="0" anchor="t"/>
          <a:lstStyle/>
          <a:p>
            <a:pPr indent="0" marL="0">
              <a:buNone/>
            </a:pPr>
            <a:r>
              <a:rPr lang="en-US" sz="1700" b="1" dirty="0">
                <a:solidFill>
                  <a:srgbClr val="263238"/>
                </a:solidFill>
              </a:rPr>
              <a:t>Module 8 models</a:t>
            </a:r>
            <a:endParaRPr lang="en-US" sz="1700" dirty="0"/>
          </a:p>
        </p:txBody>
      </p:sp>
      <p:sp>
        <p:nvSpPr>
          <p:cNvPr id="10" name="Text 7"/>
          <p:cNvSpPr txBox="1"/>
          <p:nvPr/>
        </p:nvSpPr>
        <p:spPr>
          <a:xfrm>
            <a:off x="1645920" y="3035808"/>
            <a:ext cx="5486400" cy="365760"/>
          </a:xfrm>
          <a:prstGeom prst="rect">
            <a:avLst/>
          </a:prstGeom>
          <a:noFill/>
          <a:ln/>
        </p:spPr>
        <p:txBody>
          <a:bodyPr wrap="square" lIns="0" tIns="0" rIns="0" bIns="0" rtlCol="0" anchor="t"/>
          <a:lstStyle/>
          <a:p>
            <a:pPr indent="0" marL="0">
              <a:buNone/>
            </a:pPr>
            <a:r>
              <a:rPr lang="en-US" sz="1400" dirty="0">
                <a:solidFill>
                  <a:srgbClr val="78909C"/>
                </a:solidFill>
              </a:rPr>
              <a:t>XGBoost, Isolation Forest, risk score, ml_api</a:t>
            </a:r>
            <a:endParaRPr lang="en-US" sz="1400" dirty="0"/>
          </a:p>
        </p:txBody>
      </p:sp>
      <p:sp>
        <p:nvSpPr>
          <p:cNvPr id="11" name="next 2"/>
          <p:cNvSpPr/>
          <p:nvPr/>
        </p:nvSpPr>
        <p:spPr>
          <a:xfrm>
            <a:off x="1005840" y="3611880"/>
            <a:ext cx="457200" cy="457200"/>
          </a:xfrm>
          <a:prstGeom prst="ellipse">
            <a:avLst/>
          </a:prstGeom>
          <a:solidFill>
            <a:srgbClr val="455A64"/>
          </a:solidFill>
          <a:ln w="12700">
            <a:solidFill>
              <a:srgbClr val="455A64"/>
            </a:solidFill>
            <a:prstDash val="solid"/>
          </a:ln>
        </p:spPr>
      </p:sp>
      <p:sp>
        <p:nvSpPr>
          <p:cNvPr id="12" name="Text 9"/>
          <p:cNvSpPr txBox="1"/>
          <p:nvPr/>
        </p:nvSpPr>
        <p:spPr>
          <a:xfrm>
            <a:off x="1005840" y="36118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13" name="Text 10"/>
          <p:cNvSpPr txBox="1"/>
          <p:nvPr/>
        </p:nvSpPr>
        <p:spPr>
          <a:xfrm>
            <a:off x="1645920" y="3575304"/>
            <a:ext cx="5486400" cy="365760"/>
          </a:xfrm>
          <a:prstGeom prst="rect">
            <a:avLst/>
          </a:prstGeom>
          <a:noFill/>
          <a:ln/>
        </p:spPr>
        <p:txBody>
          <a:bodyPr wrap="square" lIns="0" tIns="0" rIns="0" bIns="0" rtlCol="0" anchor="t"/>
          <a:lstStyle/>
          <a:p>
            <a:pPr indent="0" marL="0">
              <a:buNone/>
            </a:pPr>
            <a:r>
              <a:rPr lang="en-US" sz="1700" b="1" dirty="0">
                <a:solidFill>
                  <a:srgbClr val="263238"/>
                </a:solidFill>
              </a:rPr>
              <a:t>LLM threat narrative + AI panel</a:t>
            </a:r>
            <a:endParaRPr lang="en-US" sz="1700" dirty="0"/>
          </a:p>
        </p:txBody>
      </p:sp>
      <p:sp>
        <p:nvSpPr>
          <p:cNvPr id="14" name="Text 11"/>
          <p:cNvSpPr txBox="1"/>
          <p:nvPr/>
        </p:nvSpPr>
        <p:spPr>
          <a:xfrm>
            <a:off x="1645920" y="3950208"/>
            <a:ext cx="5486400" cy="365760"/>
          </a:xfrm>
          <a:prstGeom prst="rect">
            <a:avLst/>
          </a:prstGeom>
          <a:noFill/>
          <a:ln/>
        </p:spPr>
        <p:txBody>
          <a:bodyPr wrap="square" lIns="0" tIns="0" rIns="0" bIns="0" rtlCol="0" anchor="t"/>
          <a:lstStyle/>
          <a:p>
            <a:pPr indent="0" marL="0">
              <a:buNone/>
            </a:pPr>
            <a:r>
              <a:rPr lang="en-US" sz="1400" dirty="0">
                <a:solidFill>
                  <a:srgbClr val="78909C"/>
                </a:solidFill>
              </a:rPr>
              <a:t>Summary panel on the dashboard (M5)</a:t>
            </a:r>
            <a:endParaRPr lang="en-US" sz="1400" dirty="0"/>
          </a:p>
        </p:txBody>
      </p:sp>
      <p:sp>
        <p:nvSpPr>
          <p:cNvPr id="15" name="next 3"/>
          <p:cNvSpPr/>
          <p:nvPr/>
        </p:nvSpPr>
        <p:spPr>
          <a:xfrm>
            <a:off x="1005840" y="4526280"/>
            <a:ext cx="457200" cy="457200"/>
          </a:xfrm>
          <a:prstGeom prst="ellipse">
            <a:avLst/>
          </a:prstGeom>
          <a:solidFill>
            <a:srgbClr val="455A64"/>
          </a:solidFill>
          <a:ln w="12700">
            <a:solidFill>
              <a:srgbClr val="455A64"/>
            </a:solidFill>
            <a:prstDash val="solid"/>
          </a:ln>
        </p:spPr>
      </p:sp>
      <p:sp>
        <p:nvSpPr>
          <p:cNvPr id="16" name="Text 13"/>
          <p:cNvSpPr txBox="1"/>
          <p:nvPr/>
        </p:nvSpPr>
        <p:spPr>
          <a:xfrm>
            <a:off x="1005840" y="45262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17" name="Text 14"/>
          <p:cNvSpPr txBox="1"/>
          <p:nvPr/>
        </p:nvSpPr>
        <p:spPr>
          <a:xfrm>
            <a:off x="1645920" y="4489704"/>
            <a:ext cx="5486400" cy="365760"/>
          </a:xfrm>
          <a:prstGeom prst="rect">
            <a:avLst/>
          </a:prstGeom>
          <a:noFill/>
          <a:ln/>
        </p:spPr>
        <p:txBody>
          <a:bodyPr wrap="square" lIns="0" tIns="0" rIns="0" bIns="0" rtlCol="0" anchor="t"/>
          <a:lstStyle/>
          <a:p>
            <a:pPr indent="0" marL="0">
              <a:buNone/>
            </a:pPr>
            <a:r>
              <a:rPr lang="en-US" sz="1700" b="1" dirty="0">
                <a:solidFill>
                  <a:srgbClr val="263238"/>
                </a:solidFill>
              </a:rPr>
              <a:t>PCAP + reputation feeds</a:t>
            </a:r>
            <a:endParaRPr lang="en-US" sz="1700" dirty="0"/>
          </a:p>
        </p:txBody>
      </p:sp>
      <p:sp>
        <p:nvSpPr>
          <p:cNvPr id="18" name="Text 15"/>
          <p:cNvSpPr txBox="1"/>
          <p:nvPr/>
        </p:nvSpPr>
        <p:spPr>
          <a:xfrm>
            <a:off x="1645920" y="4864608"/>
            <a:ext cx="5486400" cy="365760"/>
          </a:xfrm>
          <a:prstGeom prst="rect">
            <a:avLst/>
          </a:prstGeom>
          <a:noFill/>
          <a:ln/>
        </p:spPr>
        <p:txBody>
          <a:bodyPr wrap="square" lIns="0" tIns="0" rIns="0" bIns="0" rtlCol="0" anchor="t"/>
          <a:lstStyle/>
          <a:p>
            <a:pPr indent="0" marL="0">
              <a:buNone/>
            </a:pPr>
            <a:r>
              <a:rPr lang="en-US" sz="1400" dirty="0">
                <a:solidFill>
                  <a:srgbClr val="78909C"/>
                </a:solidFill>
              </a:rPr>
              <a:t>Per-session capture; GreyNoise / VirusTotal / OTX</a:t>
            </a:r>
            <a:endParaRPr lang="en-US" sz="1400" dirty="0"/>
          </a:p>
        </p:txBody>
      </p:sp>
      <p:sp>
        <p:nvSpPr>
          <p:cNvPr id="19" name="next 4"/>
          <p:cNvSpPr/>
          <p:nvPr/>
        </p:nvSpPr>
        <p:spPr>
          <a:xfrm>
            <a:off x="1005840" y="5440680"/>
            <a:ext cx="457200" cy="457200"/>
          </a:xfrm>
          <a:prstGeom prst="ellipse">
            <a:avLst/>
          </a:prstGeom>
          <a:solidFill>
            <a:srgbClr val="455A64"/>
          </a:solidFill>
          <a:ln w="12700">
            <a:solidFill>
              <a:srgbClr val="455A64"/>
            </a:solidFill>
            <a:prstDash val="solid"/>
          </a:ln>
        </p:spPr>
      </p:sp>
      <p:sp>
        <p:nvSpPr>
          <p:cNvPr id="20" name="Text 17"/>
          <p:cNvSpPr txBox="1"/>
          <p:nvPr/>
        </p:nvSpPr>
        <p:spPr>
          <a:xfrm>
            <a:off x="1005840" y="54406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4</a:t>
            </a:r>
            <a:endParaRPr lang="en-US" sz="1600" dirty="0"/>
          </a:p>
        </p:txBody>
      </p:sp>
      <p:sp>
        <p:nvSpPr>
          <p:cNvPr id="21" name="Text 18"/>
          <p:cNvSpPr txBox="1"/>
          <p:nvPr/>
        </p:nvSpPr>
        <p:spPr>
          <a:xfrm>
            <a:off x="1645920" y="5404104"/>
            <a:ext cx="5486400" cy="365760"/>
          </a:xfrm>
          <a:prstGeom prst="rect">
            <a:avLst/>
          </a:prstGeom>
          <a:noFill/>
          <a:ln/>
        </p:spPr>
        <p:txBody>
          <a:bodyPr wrap="square" lIns="0" tIns="0" rIns="0" bIns="0" rtlCol="0" anchor="t"/>
          <a:lstStyle/>
          <a:p>
            <a:pPr indent="0" marL="0">
              <a:buNone/>
            </a:pPr>
            <a:r>
              <a:rPr lang="en-US" sz="1700" b="1" dirty="0">
                <a:solidFill>
                  <a:srgbClr val="263238"/>
                </a:solidFill>
              </a:rPr>
              <a:t>Public VPS deployment</a:t>
            </a:r>
            <a:endParaRPr lang="en-US" sz="1700" dirty="0"/>
          </a:p>
        </p:txBody>
      </p:sp>
      <p:sp>
        <p:nvSpPr>
          <p:cNvPr id="22" name="Text 19"/>
          <p:cNvSpPr txBox="1"/>
          <p:nvPr/>
        </p:nvSpPr>
        <p:spPr>
          <a:xfrm>
            <a:off x="1645920" y="5779008"/>
            <a:ext cx="5486400" cy="365760"/>
          </a:xfrm>
          <a:prstGeom prst="rect">
            <a:avLst/>
          </a:prstGeom>
          <a:noFill/>
          <a:ln/>
        </p:spPr>
        <p:txBody>
          <a:bodyPr wrap="square" lIns="0" tIns="0" rIns="0" bIns="0" rtlCol="0" anchor="t"/>
          <a:lstStyle/>
          <a:p>
            <a:pPr indent="0" marL="0">
              <a:buNone/>
            </a:pPr>
            <a:r>
              <a:rPr lang="en-US" sz="1400" dirty="0">
                <a:solidFill>
                  <a:srgbClr val="78909C"/>
                </a:solidFill>
              </a:rPr>
              <a:t>Real-internet data, after supervisor approval</a:t>
            </a:r>
            <a:endParaRPr lang="en-US" sz="1400" dirty="0"/>
          </a:p>
        </p:txBody>
      </p:sp>
      <p:sp>
        <p:nvSpPr>
          <p:cNvPr id="23" name="next 5"/>
          <p:cNvSpPr/>
          <p:nvPr/>
        </p:nvSpPr>
        <p:spPr>
          <a:xfrm>
            <a:off x="1005840" y="6355080"/>
            <a:ext cx="457200" cy="457200"/>
          </a:xfrm>
          <a:prstGeom prst="ellipse">
            <a:avLst/>
          </a:prstGeom>
          <a:solidFill>
            <a:srgbClr val="455A64"/>
          </a:solidFill>
          <a:ln w="12700">
            <a:solidFill>
              <a:srgbClr val="455A64"/>
            </a:solidFill>
            <a:prstDash val="solid"/>
          </a:ln>
        </p:spPr>
      </p:sp>
      <p:sp>
        <p:nvSpPr>
          <p:cNvPr id="24" name="Text 21"/>
          <p:cNvSpPr txBox="1"/>
          <p:nvPr/>
        </p:nvSpPr>
        <p:spPr>
          <a:xfrm>
            <a:off x="1005840" y="63550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5</a:t>
            </a:r>
            <a:endParaRPr lang="en-US" sz="1600" dirty="0"/>
          </a:p>
        </p:txBody>
      </p:sp>
      <p:sp>
        <p:nvSpPr>
          <p:cNvPr id="25" name="Text 22"/>
          <p:cNvSpPr txBox="1"/>
          <p:nvPr/>
        </p:nvSpPr>
        <p:spPr>
          <a:xfrm>
            <a:off x="1645920" y="6318504"/>
            <a:ext cx="5486400" cy="365760"/>
          </a:xfrm>
          <a:prstGeom prst="rect">
            <a:avLst/>
          </a:prstGeom>
          <a:noFill/>
          <a:ln/>
        </p:spPr>
        <p:txBody>
          <a:bodyPr wrap="square" lIns="0" tIns="0" rIns="0" bIns="0" rtlCol="0" anchor="t"/>
          <a:lstStyle/>
          <a:p>
            <a:pPr indent="0" marL="0">
              <a:buNone/>
            </a:pPr>
            <a:r>
              <a:rPr lang="en-US" sz="1700" b="1" dirty="0">
                <a:solidFill>
                  <a:srgbClr val="263238"/>
                </a:solidFill>
              </a:rPr>
              <a:t>Load and delivery tests</a:t>
            </a:r>
            <a:endParaRPr lang="en-US" sz="1700" dirty="0"/>
          </a:p>
        </p:txBody>
      </p:sp>
      <p:sp>
        <p:nvSpPr>
          <p:cNvPr id="26" name="Text 23"/>
          <p:cNvSpPr txBox="1"/>
          <p:nvPr/>
        </p:nvSpPr>
        <p:spPr>
          <a:xfrm>
            <a:off x="1645920" y="6693408"/>
            <a:ext cx="5486400" cy="365760"/>
          </a:xfrm>
          <a:prstGeom prst="rect">
            <a:avLst/>
          </a:prstGeom>
          <a:noFill/>
          <a:ln/>
        </p:spPr>
        <p:txBody>
          <a:bodyPr wrap="square" lIns="0" tIns="0" rIns="0" bIns="0" rtlCol="0" anchor="t"/>
          <a:lstStyle/>
          <a:p>
            <a:pPr indent="0" marL="0">
              <a:buNone/>
            </a:pPr>
            <a:r>
              <a:rPr lang="en-US" sz="1400" dirty="0">
                <a:solidFill>
                  <a:srgbClr val="78909C"/>
                </a:solidFill>
              </a:rPr>
              <a:t>Events per second; live Telegram/SMTP</a:t>
            </a:r>
            <a:endParaRPr lang="en-US" sz="1400" dirty="0"/>
          </a:p>
        </p:txBody>
      </p:sp>
      <p:sp>
        <p:nvSpPr>
          <p:cNvPr id="27" name="next 6"/>
          <p:cNvSpPr/>
          <p:nvPr/>
        </p:nvSpPr>
        <p:spPr>
          <a:xfrm>
            <a:off x="1005840" y="7269480"/>
            <a:ext cx="457200" cy="457200"/>
          </a:xfrm>
          <a:prstGeom prst="ellipse">
            <a:avLst/>
          </a:prstGeom>
          <a:solidFill>
            <a:srgbClr val="455A64"/>
          </a:solidFill>
          <a:ln w="12700">
            <a:solidFill>
              <a:srgbClr val="455A64"/>
            </a:solidFill>
            <a:prstDash val="solid"/>
          </a:ln>
        </p:spPr>
      </p:sp>
      <p:sp>
        <p:nvSpPr>
          <p:cNvPr id="28" name="Text 25"/>
          <p:cNvSpPr txBox="1"/>
          <p:nvPr/>
        </p:nvSpPr>
        <p:spPr>
          <a:xfrm>
            <a:off x="1005840" y="72694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6</a:t>
            </a:r>
            <a:endParaRPr lang="en-US" sz="1600" dirty="0"/>
          </a:p>
        </p:txBody>
      </p:sp>
      <p:sp>
        <p:nvSpPr>
          <p:cNvPr id="29" name="Text 26"/>
          <p:cNvSpPr txBox="1"/>
          <p:nvPr/>
        </p:nvSpPr>
        <p:spPr>
          <a:xfrm>
            <a:off x="1645920" y="7232904"/>
            <a:ext cx="5486400" cy="365760"/>
          </a:xfrm>
          <a:prstGeom prst="rect">
            <a:avLst/>
          </a:prstGeom>
          <a:noFill/>
          <a:ln/>
        </p:spPr>
        <p:txBody>
          <a:bodyPr wrap="square" lIns="0" tIns="0" rIns="0" bIns="0" rtlCol="0" anchor="t"/>
          <a:lstStyle/>
          <a:p>
            <a:pPr indent="0" marL="0">
              <a:buNone/>
            </a:pPr>
            <a:r>
              <a:rPr lang="en-US" sz="1700" b="1" dirty="0">
                <a:solidFill>
                  <a:srgbClr val="263238"/>
                </a:solidFill>
              </a:rPr>
              <a:t>Final report and closure</a:t>
            </a:r>
            <a:endParaRPr lang="en-US" sz="1700" dirty="0"/>
          </a:p>
        </p:txBody>
      </p:sp>
      <p:sp>
        <p:nvSpPr>
          <p:cNvPr id="30" name="Text 27"/>
          <p:cNvSpPr txBox="1"/>
          <p:nvPr/>
        </p:nvSpPr>
        <p:spPr>
          <a:xfrm>
            <a:off x="1645920" y="7607808"/>
            <a:ext cx="5486400" cy="365760"/>
          </a:xfrm>
          <a:prstGeom prst="rect">
            <a:avLst/>
          </a:prstGeom>
          <a:noFill/>
          <a:ln/>
        </p:spPr>
        <p:txBody>
          <a:bodyPr wrap="square" lIns="0" tIns="0" rIns="0" bIns="0" rtlCol="0" anchor="t"/>
          <a:lstStyle/>
          <a:p>
            <a:pPr indent="0" marL="0">
              <a:buNone/>
            </a:pPr>
            <a:r>
              <a:rPr lang="en-US" sz="1400" dirty="0">
                <a:solidFill>
                  <a:srgbClr val="78909C"/>
                </a:solidFill>
              </a:rPr>
              <a:t>User manual, final SDS, presentation</a:t>
            </a:r>
            <a:endParaRPr lang="en-US" sz="14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7726680" y="1828800"/>
          <a:ext cx="7845552" cy="914400"/>
        </p:xfrm>
        <a:graphic>
          <a:graphicData uri="http://schemas.openxmlformats.org/drawingml/2006/table">
            <a:tbl>
              <a:tblPr/>
              <a:tblGrid>
                <a:gridCol w="3566160"/>
                <a:gridCol w="4279392"/>
              </a:tblGrid>
              <a:tr h="548640">
                <a:tc>
                  <a:txBody>
                    <a:bodyPr/>
                    <a:lstStyle/>
                    <a:p>
                      <a:pPr indent="0" marL="0">
                        <a:buNone/>
                      </a:pPr>
                      <a:r>
                        <a:rPr lang="en-US" sz="1400" b="1" dirty="0">
                          <a:solidFill>
                            <a:srgbClr val="FFFFFF"/>
                          </a:solidFill>
                        </a:rPr>
                        <a:t>Expected challenge</a:t>
                      </a:r>
                      <a:endParaRPr lang="en-US" sz="14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37474F"/>
                    </a:solidFill>
                  </a:tcPr>
                </a:tc>
                <a:tc>
                  <a:txBody>
                    <a:bodyPr/>
                    <a:lstStyle/>
                    <a:p>
                      <a:pPr indent="0" marL="0">
                        <a:buNone/>
                      </a:pPr>
                      <a:r>
                        <a:rPr lang="en-US" sz="1400" b="1" dirty="0">
                          <a:solidFill>
                            <a:srgbClr val="FFFFFF"/>
                          </a:solidFill>
                        </a:rPr>
                        <a:t>How we will address it</a:t>
                      </a:r>
                      <a:endParaRPr lang="en-US" sz="14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37474F"/>
                    </a:solidFill>
                  </a:tcPr>
                </a:tc>
              </a:tr>
              <a:tr h="1188720">
                <a:tc>
                  <a:txBody>
                    <a:bodyPr/>
                    <a:lstStyle/>
                    <a:p>
                      <a:pPr indent="0" marL="0">
                        <a:buNone/>
                      </a:pPr>
                      <a:r>
                        <a:rPr lang="en-US" sz="1700" dirty="0">
                          <a:solidFill>
                            <a:srgbClr val="37474F"/>
                          </a:solidFill>
                        </a:rPr>
                        <a:t>Too little real attack data to train on</a:t>
                      </a:r>
                      <a:endParaRPr lang="en-US" sz="17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FFFFF"/>
                    </a:solidFill>
                  </a:tcPr>
                </a:tc>
                <a:tc>
                  <a:txBody>
                    <a:bodyPr/>
                    <a:lstStyle/>
                    <a:p>
                      <a:pPr indent="0" marL="0">
                        <a:buNone/>
                      </a:pPr>
                      <a:r>
                        <a:rPr lang="en-US" sz="1700" dirty="0">
                          <a:solidFill>
                            <a:srgbClr val="37474F"/>
                          </a:solidFill>
                        </a:rPr>
                        <a:t>Expose on a VPS for several weeks; add simulator runs for rare classes</a:t>
                      </a:r>
                      <a:endParaRPr lang="en-US" sz="17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FFFFF"/>
                    </a:solidFill>
                  </a:tcPr>
                </a:tc>
              </a:tr>
              <a:tr h="1188720">
                <a:tc>
                  <a:txBody>
                    <a:bodyPr/>
                    <a:lstStyle/>
                    <a:p>
                      <a:pPr indent="0" marL="0">
                        <a:buNone/>
                      </a:pPr>
                      <a:r>
                        <a:rPr lang="en-US" sz="1700" dirty="0">
                          <a:solidFill>
                            <a:srgbClr val="37474F"/>
                          </a:solidFill>
                        </a:rPr>
                        <a:t>Model only learns the rules (label leakage)</a:t>
                      </a:r>
                      <a:endParaRPr lang="en-US" sz="17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AFBFB"/>
                    </a:solidFill>
                  </a:tcPr>
                </a:tc>
                <a:tc>
                  <a:txBody>
                    <a:bodyPr/>
                    <a:lstStyle/>
                    <a:p>
                      <a:pPr indent="0" marL="0">
                        <a:buNone/>
                      </a:pPr>
                      <a:r>
                        <a:rPr lang="en-US" sz="1700" dirty="0">
                          <a:solidFill>
                            <a:srgbClr val="37474F"/>
                          </a:solidFill>
                        </a:rPr>
                        <a:t>Use features the rules ignore; compare with the rule baseline</a:t>
                      </a:r>
                      <a:endParaRPr lang="en-US" sz="17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AFBFB"/>
                    </a:solidFill>
                  </a:tcPr>
                </a:tc>
              </a:tr>
              <a:tr h="1188720">
                <a:tc>
                  <a:txBody>
                    <a:bodyPr/>
                    <a:lstStyle/>
                    <a:p>
                      <a:pPr indent="0" marL="0">
                        <a:buNone/>
                      </a:pPr>
                      <a:r>
                        <a:rPr lang="en-US" sz="1700" dirty="0">
                          <a:solidFill>
                            <a:srgbClr val="37474F"/>
                          </a:solidFill>
                        </a:rPr>
                        <a:t>Risk of the honeypot being used to attack others</a:t>
                      </a:r>
                      <a:endParaRPr lang="en-US" sz="17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FFFFF"/>
                    </a:solidFill>
                  </a:tcPr>
                </a:tc>
                <a:tc>
                  <a:txBody>
                    <a:bodyPr/>
                    <a:lstStyle/>
                    <a:p>
                      <a:pPr indent="0" marL="0">
                        <a:buNone/>
                      </a:pPr>
                      <a:r>
                        <a:rPr lang="en-US" sz="1700" dirty="0">
                          <a:solidFill>
                            <a:srgbClr val="37474F"/>
                          </a:solidFill>
                        </a:rPr>
                        <a:t>Firewall service, passive capture, supervisor approval, PECA 2016</a:t>
                      </a:r>
                      <a:endParaRPr lang="en-US" sz="17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FFFFF"/>
                    </a:solidFill>
                  </a:tcPr>
                </a:tc>
              </a:tr>
              <a:tr h="1188720">
                <a:tc>
                  <a:txBody>
                    <a:bodyPr/>
                    <a:lstStyle/>
                    <a:p>
                      <a:pPr indent="0" marL="0">
                        <a:buNone/>
                      </a:pPr>
                      <a:r>
                        <a:rPr lang="en-US" sz="1700" dirty="0">
                          <a:solidFill>
                            <a:srgbClr val="37474F"/>
                          </a:solidFill>
                        </a:rPr>
                        <a:t>Limited resources on one host</a:t>
                      </a:r>
                      <a:endParaRPr lang="en-US" sz="17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AFBFB"/>
                    </a:solidFill>
                  </a:tcPr>
                </a:tc>
                <a:tc>
                  <a:txBody>
                    <a:bodyPr/>
                    <a:lstStyle/>
                    <a:p>
                      <a:pPr indent="0" marL="0">
                        <a:buNone/>
                      </a:pPr>
                      <a:r>
                        <a:rPr lang="en-US" sz="1700" dirty="0">
                          <a:solidFill>
                            <a:srgbClr val="37474F"/>
                          </a:solidFill>
                        </a:rPr>
                        <a:t>Light models (scikit-learn, XGBoost) in a separate container</a:t>
                      </a:r>
                      <a:endParaRPr lang="en-US" sz="17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AFBFB"/>
                    </a:solidFill>
                  </a:tcPr>
                </a:tc>
              </a:tr>
              <a:tr h="1188720">
                <a:tc>
                  <a:txBody>
                    <a:bodyPr/>
                    <a:lstStyle/>
                    <a:p>
                      <a:pPr indent="0" marL="0">
                        <a:buNone/>
                      </a:pPr>
                      <a:r>
                        <a:rPr lang="en-US" sz="1700" dirty="0">
                          <a:solidFill>
                            <a:srgbClr val="37474F"/>
                          </a:solidFill>
                        </a:rPr>
                        <a:t>Alert fatigue on the internet</a:t>
                      </a:r>
                      <a:endParaRPr lang="en-US" sz="17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FFFFF"/>
                    </a:solidFill>
                  </a:tcPr>
                </a:tc>
                <a:tc>
                  <a:txBody>
                    <a:bodyPr/>
                    <a:lstStyle/>
                    <a:p>
                      <a:pPr indent="0" marL="0">
                        <a:buNone/>
                      </a:pPr>
                      <a:r>
                        <a:rPr lang="en-US" sz="1700" dirty="0">
                          <a:solidFill>
                            <a:srgbClr val="37474F"/>
                          </a:solidFill>
                        </a:rPr>
                        <a:t>Per-type thresholds, de-duplication and escalation already in place</a:t>
                      </a:r>
                      <a:endParaRPr lang="en-US" sz="1700" dirty="0"/>
                    </a:p>
                  </a:txBody>
                  <a:tcPr marL="101600" marR="101600" marT="50800" marB="50800" anchor="ctr">
                    <a:lnL w="9525" cap="flat" cmpd="sng" algn="ctr">
                      <a:solidFill>
                        <a:srgbClr val="CFD8DC"/>
                      </a:solidFill>
                      <a:prstDash val="solid"/>
                      <a:round/>
                      <a:headEnd type="none" w="med" len="med"/>
                      <a:tailEnd type="none" w="med" len="med"/>
                    </a:lnL>
                    <a:lnR w="9525" cap="flat" cmpd="sng" algn="ctr">
                      <a:solidFill>
                        <a:srgbClr val="CFD8DC"/>
                      </a:solidFill>
                      <a:prstDash val="solid"/>
                      <a:round/>
                      <a:headEnd type="none" w="med" len="med"/>
                      <a:tailEnd type="none" w="med" len="med"/>
                    </a:lnR>
                    <a:lnT w="9525" cap="flat" cmpd="sng" algn="ctr">
                      <a:solidFill>
                        <a:srgbClr val="CFD8DC"/>
                      </a:solidFill>
                      <a:prstDash val="solid"/>
                      <a:round/>
                      <a:headEnd type="none" w="med" len="med"/>
                      <a:tailEnd type="none" w="med" len="med"/>
                    </a:lnT>
                    <a:lnB w="9525" cap="flat" cmpd="sng" algn="ctr">
                      <a:solidFill>
                        <a:srgbClr val="CFD8DC"/>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4794992" y="8549640"/>
            <a:ext cx="91440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3"/>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txBox="1"/>
          <p:nvPr/>
        </p:nvSpPr>
        <p:spPr>
          <a:xfrm>
            <a:off x="685800" y="2743200"/>
            <a:ext cx="14886432" cy="1280160"/>
          </a:xfrm>
          <a:prstGeom prst="rect">
            <a:avLst/>
          </a:prstGeom>
          <a:noFill/>
          <a:ln/>
        </p:spPr>
        <p:txBody>
          <a:bodyPr wrap="square" lIns="0" tIns="0" rIns="0" bIns="0" rtlCol="0" anchor="t"/>
          <a:lstStyle/>
          <a:p>
            <a:pPr algn="ctr" indent="0" marL="0">
              <a:buNone/>
            </a:pPr>
            <a:r>
              <a:rPr lang="en-US" sz="7200" b="1" dirty="0">
                <a:solidFill>
                  <a:srgbClr val="FFFFFF"/>
                </a:solidFill>
              </a:rPr>
              <a:t>Thank You</a:t>
            </a:r>
            <a:endParaRPr lang="en-US" sz="7200" dirty="0"/>
          </a:p>
        </p:txBody>
      </p:sp>
      <p:sp>
        <p:nvSpPr>
          <p:cNvPr id="3" name="Text 1"/>
          <p:cNvSpPr txBox="1"/>
          <p:nvPr/>
        </p:nvSpPr>
        <p:spPr>
          <a:xfrm>
            <a:off x="685800" y="4069080"/>
            <a:ext cx="14886432" cy="548640"/>
          </a:xfrm>
          <a:prstGeom prst="rect">
            <a:avLst/>
          </a:prstGeom>
          <a:noFill/>
          <a:ln/>
        </p:spPr>
        <p:txBody>
          <a:bodyPr wrap="square" lIns="0" tIns="0" rIns="0" bIns="0" rtlCol="0" anchor="t"/>
          <a:lstStyle/>
          <a:p>
            <a:pPr algn="ctr" indent="0" marL="0">
              <a:buNone/>
            </a:pPr>
            <a:r>
              <a:rPr lang="en-US" sz="2600" dirty="0">
                <a:solidFill>
                  <a:srgbClr val="E09B00"/>
                </a:solidFill>
              </a:rPr>
              <a:t>Questions &amp; Answers</a:t>
            </a:r>
            <a:endParaRPr lang="en-US" sz="2600" dirty="0"/>
          </a:p>
        </p:txBody>
      </p:sp>
      <p:sp>
        <p:nvSpPr>
          <p:cNvPr id="4" name="Text 2"/>
          <p:cNvSpPr txBox="1"/>
          <p:nvPr/>
        </p:nvSpPr>
        <p:spPr>
          <a:xfrm>
            <a:off x="685800" y="5486400"/>
            <a:ext cx="14886432" cy="411480"/>
          </a:xfrm>
          <a:prstGeom prst="rect">
            <a:avLst/>
          </a:prstGeom>
          <a:noFill/>
          <a:ln/>
        </p:spPr>
        <p:txBody>
          <a:bodyPr wrap="square" lIns="0" tIns="0" rIns="0" bIns="0" rtlCol="0" anchor="t"/>
          <a:lstStyle/>
          <a:p>
            <a:pPr algn="ctr" indent="0" marL="0">
              <a:buNone/>
            </a:pPr>
            <a:r>
              <a:rPr lang="en-US" sz="1800" dirty="0">
                <a:solidFill>
                  <a:srgbClr val="CFD8DC"/>
                </a:solidFill>
              </a:rPr>
              <a:t>Abdul Wadood (SP23-BCT-001)  ·  Abdul Rahman (SP23-BCT-003)</a:t>
            </a:r>
            <a:endParaRPr lang="en-US" sz="1800" dirty="0"/>
          </a:p>
        </p:txBody>
      </p:sp>
      <p:sp>
        <p:nvSpPr>
          <p:cNvPr id="5" name="Text 3"/>
          <p:cNvSpPr txBox="1"/>
          <p:nvPr/>
        </p:nvSpPr>
        <p:spPr>
          <a:xfrm>
            <a:off x="685800" y="5943600"/>
            <a:ext cx="14886432" cy="411480"/>
          </a:xfrm>
          <a:prstGeom prst="rect">
            <a:avLst/>
          </a:prstGeom>
          <a:noFill/>
          <a:ln/>
        </p:spPr>
        <p:txBody>
          <a:bodyPr wrap="square" lIns="0" tIns="0" rIns="0" bIns="0" rtlCol="0" anchor="t"/>
          <a:lstStyle/>
          <a:p>
            <a:pPr algn="ctr" indent="0" marL="0">
              <a:buNone/>
            </a:pPr>
            <a:r>
              <a:rPr lang="en-US" sz="1600" dirty="0">
                <a:solidFill>
                  <a:srgbClr val="90A4AE"/>
                </a:solidFill>
              </a:rPr>
              <a:t>Supervisor: Mrs. Sara Ali  ·  Department of Cyber Security, COMSATS University Islamabad</a:t>
            </a:r>
            <a:endParaRPr lang="en-US" sz="1600" dirty="0"/>
          </a:p>
        </p:txBody>
      </p:sp>
    </p:spTree>
  </p:cSld>
  <p:clrMapOvr>
    <a:masterClrMapping/>
  </p:clrMapOvr>
</p:sld>
</file>

<file path=ppt/theme/theme1.xml><?xml version="1.0" encoding="utf-8"?>
<a:theme xmlns:a="http://schemas.openxmlformats.org/drawingml/2006/main" name="HoneyBot Slate">
  <a:themeElements>
    <a:clrScheme name="HoneyBot Slate">
      <a:dk1>
        <a:srgbClr val="263238"/>
      </a:dk1>
      <a:lt1>
        <a:srgbClr val="FFFFFF"/>
      </a:lt1>
      <a:dk2>
        <a:srgbClr val="37474F"/>
      </a:dk2>
      <a:lt2>
        <a:srgbClr val="F5F7F8"/>
      </a:lt2>
      <a:accent1>
        <a:srgbClr val="455A64"/>
      </a:accent1>
      <a:accent2>
        <a:srgbClr val="E09B00"/>
      </a:accent2>
      <a:accent3>
        <a:srgbClr val="78909C"/>
      </a:accent3>
      <a:accent4>
        <a:srgbClr val="2E7D32"/>
      </a:accent4>
      <a:accent5>
        <a:srgbClr val="C62828"/>
      </a:accent5>
      <a:accent6>
        <a:srgbClr val="90A4AE"/>
      </a:accent6>
      <a:hlink>
        <a:srgbClr val="455A64"/>
      </a:hlink>
      <a:folHlink>
        <a:srgbClr val="78909C"/>
      </a:folHlink>
    </a:clrScheme>
    <a:fontScheme name="HoneyBot Slat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HoneyBot-IoT — 60% Implementation Evaluation</dc:title>
  <dc:subject>PptxGenJS Presentation</dc:subject>
  <dc:creator>Abdul Wadood, Abdul Rahman</dc:creator>
  <cp:lastModifiedBy>Abdul Wadood, Abdul Rahman</cp:lastModifiedBy>
  <cp:revision>1</cp:revision>
  <dcterms:created xsi:type="dcterms:W3CDTF">2026-10-16T09:53:52Z</dcterms:created>
  <dcterms:modified xsi:type="dcterms:W3CDTF">2026-10-16T09:53:52Z</dcterms:modified>
</cp:coreProperties>
</file>